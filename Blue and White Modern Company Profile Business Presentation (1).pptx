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Anton" charset="1" panose="00000500000000000000"/>
      <p:regular r:id="rId23"/>
    </p:embeddedFont>
    <p:embeddedFont>
      <p:font typeface="Roboto Bold" charset="1" panose="02000000000000000000"/>
      <p:regular r:id="rId24"/>
    </p:embeddedFont>
    <p:embeddedFont>
      <p:font typeface="IBM Plex Sans Bold" charset="1" panose="020B0803050203000203"/>
      <p:regular r:id="rId25"/>
    </p:embeddedFont>
    <p:embeddedFont>
      <p:font typeface="Roboto" charset="1" panose="02000000000000000000"/>
      <p:regular r:id="rId26"/>
    </p:embeddedFont>
    <p:embeddedFont>
      <p:font typeface="Arial MT Pro" charset="1" panose="020B0502020202020204"/>
      <p:regular r:id="rId27"/>
    </p:embeddedFont>
    <p:embeddedFont>
      <p:font typeface="IBM Plex Sans" charset="1" panose="020B0503050203000203"/>
      <p:regular r:id="rId28"/>
    </p:embeddedFont>
    <p:embeddedFont>
      <p:font typeface="Helvetica World" charset="1" panose="020B0500040000020004"/>
      <p:regular r:id="rId29"/>
    </p:embeddedFont>
    <p:embeddedFont>
      <p:font typeface="Arab Times" charset="1" panose="02000400000000000000"/>
      <p:regular r:id="rId30"/>
    </p:embeddedFont>
    <p:embeddedFont>
      <p:font typeface="Arial MT Pro Bold" charset="1" panose="020B0802020202020204"/>
      <p:regular r:id="rId31"/>
    </p:embeddedFont>
    <p:embeddedFont>
      <p:font typeface="Helvetica World Bold" charset="1" panose="020B0800040000020004"/>
      <p:regular r:id="rId32"/>
    </p:embeddedFont>
    <p:embeddedFont>
      <p:font typeface="Times New Roman" charset="1" panose="02020603050405020304"/>
      <p:regular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6.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7.jpeg" Type="http://schemas.openxmlformats.org/officeDocument/2006/relationships/image"/><Relationship Id="rId6"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8.jpeg" Type="http://schemas.openxmlformats.org/officeDocument/2006/relationships/image"/><Relationship Id="rId4" Target="../media/image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jpeg" Type="http://schemas.openxmlformats.org/officeDocument/2006/relationships/image"/><Relationship Id="rId4" Target="../media/image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0.jpeg" Type="http://schemas.openxmlformats.org/officeDocument/2006/relationships/image"/><Relationship Id="rId5" Target="../media/image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2.png" Type="http://schemas.openxmlformats.org/officeDocument/2006/relationships/image"/><Relationship Id="rId5" Target="../media/image1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2.png" Type="http://schemas.openxmlformats.org/officeDocument/2006/relationships/image"/><Relationship Id="rId5" Target="../media/image12.jpeg" Type="http://schemas.openxmlformats.org/officeDocument/2006/relationships/image"/><Relationship Id="rId6" Target="../media/image13.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svg" Type="http://schemas.openxmlformats.org/officeDocument/2006/relationships/image"/><Relationship Id="rId11" Target="../media/image20.png" Type="http://schemas.openxmlformats.org/officeDocument/2006/relationships/image"/><Relationship Id="rId12" Target="../media/image21.svg" Type="http://schemas.openxmlformats.org/officeDocument/2006/relationships/image"/><Relationship Id="rId13" Target="../media/image22.png" Type="http://schemas.openxmlformats.org/officeDocument/2006/relationships/image"/><Relationship Id="rId14" Target="../media/image2.png" Type="http://schemas.openxmlformats.org/officeDocument/2006/relationships/image"/><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 Id="rId7" Target="../media/image16.png" Type="http://schemas.openxmlformats.org/officeDocument/2006/relationships/image"/><Relationship Id="rId8" Target="../media/image17.svg" Type="http://schemas.openxmlformats.org/officeDocument/2006/relationships/image"/><Relationship Id="rId9" Target="../media/image18.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3.jpeg" Type="http://schemas.openxmlformats.org/officeDocument/2006/relationships/image"/><Relationship Id="rId4" Target="../media/image24.png" Type="http://schemas.openxmlformats.org/officeDocument/2006/relationships/image"/><Relationship Id="rId5" Target="../media/image25.svg" Type="http://schemas.openxmlformats.org/officeDocument/2006/relationships/image"/><Relationship Id="rId6" Target="../media/image9.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 Id="rId3" Target="../media/image27.svg" Type="http://schemas.openxmlformats.org/officeDocument/2006/relationships/image"/><Relationship Id="rId4" Target="../media/image28.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3.svg" Type="http://schemas.openxmlformats.org/officeDocument/2006/relationships/image"/><Relationship Id="rId11" Target="../media/image34.png" Type="http://schemas.openxmlformats.org/officeDocument/2006/relationships/image"/><Relationship Id="rId12" Target="../media/image2.png" Type="http://schemas.openxmlformats.org/officeDocument/2006/relationships/image"/><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3.jpeg" Type="http://schemas.openxmlformats.org/officeDocument/2006/relationships/image"/><Relationship Id="rId6" Target="../media/image29.png" Type="http://schemas.openxmlformats.org/officeDocument/2006/relationships/image"/><Relationship Id="rId7" Target="../media/image30.svg" Type="http://schemas.openxmlformats.org/officeDocument/2006/relationships/image"/><Relationship Id="rId8" Target="../media/image31.png" Type="http://schemas.openxmlformats.org/officeDocument/2006/relationships/image"/><Relationship Id="rId9" Target="../media/image3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grpSp>
        <p:nvGrpSpPr>
          <p:cNvPr name="Group 3" id="3"/>
          <p:cNvGrpSpPr/>
          <p:nvPr/>
        </p:nvGrpSpPr>
        <p:grpSpPr>
          <a:xfrm rot="0">
            <a:off x="-474832" y="9258300"/>
            <a:ext cx="19237663" cy="1028700"/>
            <a:chOff x="0" y="0"/>
            <a:chExt cx="5066710" cy="270933"/>
          </a:xfrm>
        </p:grpSpPr>
        <p:sp>
          <p:nvSpPr>
            <p:cNvPr name="Freeform 4" id="4"/>
            <p:cNvSpPr/>
            <p:nvPr/>
          </p:nvSpPr>
          <p:spPr>
            <a:xfrm flipH="false" flipV="false" rot="0">
              <a:off x="0" y="0"/>
              <a:ext cx="5066710" cy="270933"/>
            </a:xfrm>
            <a:custGeom>
              <a:avLst/>
              <a:gdLst/>
              <a:ahLst/>
              <a:cxnLst/>
              <a:rect r="r" b="b" t="t" l="l"/>
              <a:pathLst>
                <a:path h="270933" w="5066710">
                  <a:moveTo>
                    <a:pt x="0" y="0"/>
                  </a:moveTo>
                  <a:lnTo>
                    <a:pt x="5066710" y="0"/>
                  </a:lnTo>
                  <a:lnTo>
                    <a:pt x="5066710" y="270933"/>
                  </a:lnTo>
                  <a:lnTo>
                    <a:pt x="0" y="270933"/>
                  </a:lnTo>
                  <a:close/>
                </a:path>
              </a:pathLst>
            </a:custGeom>
            <a:gradFill rotWithShape="true">
              <a:gsLst>
                <a:gs pos="0">
                  <a:srgbClr val="1B68C9">
                    <a:alpha val="100000"/>
                  </a:srgbClr>
                </a:gs>
                <a:gs pos="50000">
                  <a:srgbClr val="6797CC">
                    <a:alpha val="100000"/>
                  </a:srgbClr>
                </a:gs>
                <a:gs pos="100000">
                  <a:srgbClr val="FFFFFF">
                    <a:alpha val="100000"/>
                  </a:srgbClr>
                </a:gs>
              </a:gsLst>
              <a:lin ang="2700000"/>
            </a:gradFill>
          </p:spPr>
        </p:sp>
        <p:sp>
          <p:nvSpPr>
            <p:cNvPr name="TextBox 5" id="5"/>
            <p:cNvSpPr txBox="true"/>
            <p:nvPr/>
          </p:nvSpPr>
          <p:spPr>
            <a:xfrm>
              <a:off x="0" y="-38100"/>
              <a:ext cx="5066710" cy="309033"/>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5324889" y="7449554"/>
            <a:ext cx="3887460" cy="3887460"/>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B68C9">
                    <a:alpha val="100000"/>
                  </a:srgbClr>
                </a:gs>
                <a:gs pos="50000">
                  <a:srgbClr val="6797CC">
                    <a:alpha val="100000"/>
                  </a:srgbClr>
                </a:gs>
                <a:gs pos="100000">
                  <a:srgbClr val="FFFFFF">
                    <a:alpha val="100000"/>
                  </a:srgbClr>
                </a:gs>
              </a:gsLst>
              <a:lin ang="2700000"/>
            </a:gra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13982798" y="9121983"/>
            <a:ext cx="976487" cy="976487"/>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B68C9">
                    <a:alpha val="100000"/>
                  </a:srgbClr>
                </a:gs>
                <a:gs pos="50000">
                  <a:srgbClr val="6797CC">
                    <a:alpha val="100000"/>
                  </a:srgbClr>
                </a:gs>
                <a:gs pos="100000">
                  <a:srgbClr val="FFFFFF">
                    <a:alpha val="100000"/>
                  </a:srgbClr>
                </a:gs>
              </a:gsLst>
              <a:lin ang="2700000"/>
            </a:gra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2904817" y="5886660"/>
            <a:ext cx="4871824" cy="752045"/>
            <a:chOff x="0" y="0"/>
            <a:chExt cx="1859061" cy="286976"/>
          </a:xfrm>
        </p:grpSpPr>
        <p:sp>
          <p:nvSpPr>
            <p:cNvPr name="Freeform 13" id="13"/>
            <p:cNvSpPr/>
            <p:nvPr/>
          </p:nvSpPr>
          <p:spPr>
            <a:xfrm flipH="false" flipV="false" rot="0">
              <a:off x="0" y="0"/>
              <a:ext cx="1859061" cy="286976"/>
            </a:xfrm>
            <a:custGeom>
              <a:avLst/>
              <a:gdLst/>
              <a:ahLst/>
              <a:cxnLst/>
              <a:rect r="r" b="b" t="t" l="l"/>
              <a:pathLst>
                <a:path h="286976" w="1859061">
                  <a:moveTo>
                    <a:pt x="143488" y="0"/>
                  </a:moveTo>
                  <a:lnTo>
                    <a:pt x="1715573" y="0"/>
                  </a:lnTo>
                  <a:cubicBezTo>
                    <a:pt x="1794819" y="0"/>
                    <a:pt x="1859061" y="64242"/>
                    <a:pt x="1859061" y="143488"/>
                  </a:cubicBezTo>
                  <a:lnTo>
                    <a:pt x="1859061" y="143488"/>
                  </a:lnTo>
                  <a:cubicBezTo>
                    <a:pt x="1859061" y="181543"/>
                    <a:pt x="1843943" y="218040"/>
                    <a:pt x="1817034" y="244949"/>
                  </a:cubicBezTo>
                  <a:cubicBezTo>
                    <a:pt x="1790125" y="271859"/>
                    <a:pt x="1753628" y="286976"/>
                    <a:pt x="1715573" y="286976"/>
                  </a:cubicBezTo>
                  <a:lnTo>
                    <a:pt x="143488" y="286976"/>
                  </a:lnTo>
                  <a:cubicBezTo>
                    <a:pt x="105433" y="286976"/>
                    <a:pt x="68936" y="271859"/>
                    <a:pt x="42027" y="244949"/>
                  </a:cubicBezTo>
                  <a:cubicBezTo>
                    <a:pt x="15117" y="218040"/>
                    <a:pt x="0" y="181543"/>
                    <a:pt x="0" y="143488"/>
                  </a:cubicBezTo>
                  <a:lnTo>
                    <a:pt x="0" y="143488"/>
                  </a:lnTo>
                  <a:cubicBezTo>
                    <a:pt x="0" y="105433"/>
                    <a:pt x="15117" y="68936"/>
                    <a:pt x="42027" y="42027"/>
                  </a:cubicBezTo>
                  <a:cubicBezTo>
                    <a:pt x="68936" y="15117"/>
                    <a:pt x="105433" y="0"/>
                    <a:pt x="143488" y="0"/>
                  </a:cubicBezTo>
                  <a:close/>
                </a:path>
              </a:pathLst>
            </a:custGeom>
            <a:gradFill rotWithShape="true">
              <a:gsLst>
                <a:gs pos="0">
                  <a:srgbClr val="1B68C9">
                    <a:alpha val="100000"/>
                  </a:srgbClr>
                </a:gs>
                <a:gs pos="50000">
                  <a:srgbClr val="6696CC">
                    <a:alpha val="100000"/>
                  </a:srgbClr>
                </a:gs>
                <a:gs pos="100000">
                  <a:srgbClr val="1B68C9">
                    <a:alpha val="100000"/>
                  </a:srgbClr>
                </a:gs>
              </a:gsLst>
              <a:lin ang="2700000"/>
            </a:gradFill>
          </p:spPr>
        </p:sp>
        <p:sp>
          <p:nvSpPr>
            <p:cNvPr name="TextBox 14" id="14"/>
            <p:cNvSpPr txBox="true"/>
            <p:nvPr/>
          </p:nvSpPr>
          <p:spPr>
            <a:xfrm>
              <a:off x="0" y="-38100"/>
              <a:ext cx="1859061" cy="325076"/>
            </a:xfrm>
            <a:prstGeom prst="rect">
              <a:avLst/>
            </a:prstGeom>
          </p:spPr>
          <p:txBody>
            <a:bodyPr anchor="ctr" rtlCol="false" tIns="50800" lIns="50800" bIns="50800" rIns="50800"/>
            <a:lstStyle/>
            <a:p>
              <a:pPr algn="ctr">
                <a:lnSpc>
                  <a:spcPts val="2659"/>
                </a:lnSpc>
              </a:pPr>
            </a:p>
          </p:txBody>
        </p:sp>
      </p:grpSp>
      <p:sp>
        <p:nvSpPr>
          <p:cNvPr name="TextBox 15" id="15"/>
          <p:cNvSpPr txBox="true"/>
          <p:nvPr/>
        </p:nvSpPr>
        <p:spPr>
          <a:xfrm rot="0">
            <a:off x="2904817" y="2599741"/>
            <a:ext cx="8623798" cy="5153370"/>
          </a:xfrm>
          <a:prstGeom prst="rect">
            <a:avLst/>
          </a:prstGeom>
        </p:spPr>
        <p:txBody>
          <a:bodyPr anchor="t" rtlCol="false" tIns="0" lIns="0" bIns="0" rIns="0">
            <a:spAutoFit/>
          </a:bodyPr>
          <a:lstStyle/>
          <a:p>
            <a:pPr algn="l">
              <a:lnSpc>
                <a:spcPts val="13296"/>
              </a:lnSpc>
            </a:pPr>
            <a:r>
              <a:rPr lang="en-US" sz="13707" spc="13">
                <a:solidFill>
                  <a:srgbClr val="070A10"/>
                </a:solidFill>
                <a:latin typeface="Anton"/>
                <a:ea typeface="Anton"/>
                <a:cs typeface="Anton"/>
                <a:sym typeface="Anton"/>
              </a:rPr>
              <a:t>CRESCENT CARE</a:t>
            </a:r>
          </a:p>
          <a:p>
            <a:pPr algn="l">
              <a:lnSpc>
                <a:spcPts val="13296"/>
              </a:lnSpc>
            </a:pPr>
          </a:p>
        </p:txBody>
      </p:sp>
      <p:sp>
        <p:nvSpPr>
          <p:cNvPr name="TextBox 16" id="16"/>
          <p:cNvSpPr txBox="true"/>
          <p:nvPr/>
        </p:nvSpPr>
        <p:spPr>
          <a:xfrm rot="0">
            <a:off x="3586595" y="5990332"/>
            <a:ext cx="3315624" cy="809375"/>
          </a:xfrm>
          <a:prstGeom prst="rect">
            <a:avLst/>
          </a:prstGeom>
        </p:spPr>
        <p:txBody>
          <a:bodyPr anchor="t" rtlCol="false" tIns="0" lIns="0" bIns="0" rIns="0">
            <a:spAutoFit/>
          </a:bodyPr>
          <a:lstStyle/>
          <a:p>
            <a:pPr algn="ctr" marL="0" indent="0" lvl="0">
              <a:lnSpc>
                <a:spcPts val="2139"/>
              </a:lnSpc>
            </a:pPr>
            <a:r>
              <a:rPr lang="en-US" b="true" sz="1725" spc="1">
                <a:solidFill>
                  <a:srgbClr val="FFFFFF"/>
                </a:solidFill>
                <a:latin typeface="Roboto Bold"/>
                <a:ea typeface="Roboto Bold"/>
                <a:cs typeface="Roboto Bold"/>
                <a:sym typeface="Roboto Bold"/>
              </a:rPr>
              <a:t>CONSTRUCTION</a:t>
            </a:r>
            <a:r>
              <a:rPr lang="en-US" b="true" sz="1725" spc="1">
                <a:solidFill>
                  <a:srgbClr val="FFFFFF"/>
                </a:solidFill>
                <a:latin typeface="Roboto Bold"/>
                <a:ea typeface="Roboto Bold"/>
                <a:cs typeface="Roboto Bold"/>
                <a:sym typeface="Roboto Bold"/>
              </a:rPr>
              <a:t> COMPANY</a:t>
            </a:r>
          </a:p>
          <a:p>
            <a:pPr algn="ctr">
              <a:lnSpc>
                <a:spcPts val="2139"/>
              </a:lnSpc>
            </a:pPr>
            <a:r>
              <a:rPr lang="en-US" b="true" sz="1725" spc="3">
                <a:solidFill>
                  <a:srgbClr val="FFFFFF"/>
                </a:solidFill>
                <a:latin typeface="Roboto Bold"/>
                <a:ea typeface="Roboto Bold"/>
                <a:cs typeface="Roboto Bold"/>
                <a:sym typeface="Roboto Bold"/>
              </a:rPr>
              <a:t>www.crescentcare.in</a:t>
            </a:r>
          </a:p>
          <a:p>
            <a:pPr algn="ctr">
              <a:lnSpc>
                <a:spcPts val="2139"/>
              </a:lnSpc>
            </a:pPr>
          </a:p>
        </p:txBody>
      </p:sp>
      <p:sp>
        <p:nvSpPr>
          <p:cNvPr name="TextBox 17" id="17"/>
          <p:cNvSpPr txBox="true"/>
          <p:nvPr/>
        </p:nvSpPr>
        <p:spPr>
          <a:xfrm rot="0">
            <a:off x="1028700" y="9532112"/>
            <a:ext cx="5506238" cy="452501"/>
          </a:xfrm>
          <a:prstGeom prst="rect">
            <a:avLst/>
          </a:prstGeom>
        </p:spPr>
        <p:txBody>
          <a:bodyPr anchor="t" rtlCol="false" tIns="0" lIns="0" bIns="0" rIns="0">
            <a:spAutoFit/>
          </a:bodyPr>
          <a:lstStyle/>
          <a:p>
            <a:pPr algn="l">
              <a:lnSpc>
                <a:spcPts val="3471"/>
              </a:lnSpc>
            </a:pPr>
            <a:r>
              <a:rPr lang="en-US" sz="2799" b="true">
                <a:solidFill>
                  <a:srgbClr val="FFFFFF"/>
                </a:solidFill>
                <a:latin typeface="Roboto Bold"/>
                <a:ea typeface="Roboto Bold"/>
                <a:cs typeface="Roboto Bold"/>
                <a:sym typeface="Roboto Bold"/>
              </a:rPr>
              <a:t>www.cresentcare.in</a:t>
            </a:r>
          </a:p>
        </p:txBody>
      </p:sp>
      <p:sp>
        <p:nvSpPr>
          <p:cNvPr name="TextBox 18" id="18"/>
          <p:cNvSpPr txBox="true"/>
          <p:nvPr/>
        </p:nvSpPr>
        <p:spPr>
          <a:xfrm rot="0">
            <a:off x="340317" y="8509627"/>
            <a:ext cx="6194622" cy="603029"/>
          </a:xfrm>
          <a:prstGeom prst="rect">
            <a:avLst/>
          </a:prstGeom>
        </p:spPr>
        <p:txBody>
          <a:bodyPr anchor="t" rtlCol="false" tIns="0" lIns="0" bIns="0" rIns="0">
            <a:spAutoFit/>
          </a:bodyPr>
          <a:lstStyle/>
          <a:p>
            <a:pPr algn="l">
              <a:lnSpc>
                <a:spcPts val="2439"/>
              </a:lnSpc>
            </a:pPr>
            <a:r>
              <a:rPr lang="en-US" b="true" sz="1989" spc="-15">
                <a:solidFill>
                  <a:srgbClr val="070A10"/>
                </a:solidFill>
                <a:latin typeface="IBM Plex Sans Bold"/>
                <a:ea typeface="IBM Plex Sans Bold"/>
                <a:cs typeface="IBM Plex Sans Bold"/>
                <a:sym typeface="IBM Plex Sans Bold"/>
              </a:rPr>
              <a:t>316/274, Saidullajab, Western Marg, Gardenof Five Sense Road, New Delhi - 110030 </a:t>
            </a:r>
          </a:p>
        </p:txBody>
      </p:sp>
      <p:sp>
        <p:nvSpPr>
          <p:cNvPr name="Freeform 19" id="19"/>
          <p:cNvSpPr/>
          <p:nvPr/>
        </p:nvSpPr>
        <p:spPr>
          <a:xfrm flipH="false" flipV="false" rot="0">
            <a:off x="0" y="-12528"/>
            <a:ext cx="2929978" cy="2307469"/>
          </a:xfrm>
          <a:custGeom>
            <a:avLst/>
            <a:gdLst/>
            <a:ahLst/>
            <a:cxnLst/>
            <a:rect r="r" b="b" t="t" l="l"/>
            <a:pathLst>
              <a:path h="2307469" w="2929978">
                <a:moveTo>
                  <a:pt x="0" y="0"/>
                </a:moveTo>
                <a:lnTo>
                  <a:pt x="2929978" y="0"/>
                </a:lnTo>
                <a:lnTo>
                  <a:pt x="2929978" y="2307469"/>
                </a:lnTo>
                <a:lnTo>
                  <a:pt x="0" y="2307469"/>
                </a:lnTo>
                <a:lnTo>
                  <a:pt x="0" y="0"/>
                </a:lnTo>
                <a:close/>
              </a:path>
            </a:pathLst>
          </a:custGeom>
          <a:blipFill>
            <a:blip r:embed="rId3"/>
            <a:stretch>
              <a:fillRect l="-365933" t="-228812" r="0" b="-5607"/>
            </a:stretch>
          </a:blipFill>
        </p:spPr>
      </p:sp>
      <p:grpSp>
        <p:nvGrpSpPr>
          <p:cNvPr name="Group 20" id="20"/>
          <p:cNvGrpSpPr/>
          <p:nvPr/>
        </p:nvGrpSpPr>
        <p:grpSpPr>
          <a:xfrm rot="0">
            <a:off x="9829609" y="1600915"/>
            <a:ext cx="6842037" cy="6842037"/>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B68C9">
                    <a:alpha val="100000"/>
                  </a:srgbClr>
                </a:gs>
                <a:gs pos="50000">
                  <a:srgbClr val="6797CC">
                    <a:alpha val="100000"/>
                  </a:srgbClr>
                </a:gs>
                <a:gs pos="100000">
                  <a:srgbClr val="FFFFFF">
                    <a:alpha val="100000"/>
                  </a:srgbClr>
                </a:gs>
              </a:gsLst>
              <a:lin ang="2700000"/>
            </a:gradFill>
          </p:spPr>
        </p:sp>
        <p:sp>
          <p:nvSpPr>
            <p:cNvPr name="TextBox 22" id="22"/>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23" id="23"/>
          <p:cNvGrpSpPr/>
          <p:nvPr/>
        </p:nvGrpSpPr>
        <p:grpSpPr>
          <a:xfrm rot="0">
            <a:off x="10058853" y="1829342"/>
            <a:ext cx="6384367" cy="6384367"/>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25046" t="0" r="-25046" b="0"/>
              </a:stretch>
            </a:blipFill>
            <a:ln w="114300" cap="sq">
              <a:solidFill>
                <a:srgbClr val="FFFFFF"/>
              </a:solidFill>
              <a:prstDash val="solid"/>
              <a:miter/>
            </a:ln>
          </p:spPr>
        </p:sp>
      </p:grpSp>
      <p:grpSp>
        <p:nvGrpSpPr>
          <p:cNvPr name="Group 25" id="25"/>
          <p:cNvGrpSpPr/>
          <p:nvPr/>
        </p:nvGrpSpPr>
        <p:grpSpPr>
          <a:xfrm rot="0">
            <a:off x="16561212" y="0"/>
            <a:ext cx="3453575" cy="3453575"/>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B68C9">
                    <a:alpha val="100000"/>
                  </a:srgbClr>
                </a:gs>
                <a:gs pos="50000">
                  <a:srgbClr val="6797CC">
                    <a:alpha val="100000"/>
                  </a:srgbClr>
                </a:gs>
                <a:gs pos="100000">
                  <a:srgbClr val="FFFFFF">
                    <a:alpha val="100000"/>
                  </a:srgbClr>
                </a:gs>
              </a:gsLst>
              <a:lin ang="2700000"/>
            </a:gradFill>
          </p:spPr>
        </p:sp>
        <p:sp>
          <p:nvSpPr>
            <p:cNvPr name="TextBox 27" id="2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28" id="28"/>
          <p:cNvGrpSpPr/>
          <p:nvPr/>
        </p:nvGrpSpPr>
        <p:grpSpPr>
          <a:xfrm rot="0">
            <a:off x="15372514" y="450594"/>
            <a:ext cx="1086931" cy="1086931"/>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B68C9">
                    <a:alpha val="100000"/>
                  </a:srgbClr>
                </a:gs>
                <a:gs pos="50000">
                  <a:srgbClr val="6797CC">
                    <a:alpha val="100000"/>
                  </a:srgbClr>
                </a:gs>
                <a:gs pos="100000">
                  <a:srgbClr val="FFFFFF">
                    <a:alpha val="100000"/>
                  </a:srgbClr>
                </a:gs>
              </a:gsLst>
              <a:lin ang="2700000"/>
            </a:gradFill>
          </p:spPr>
        </p:sp>
        <p:sp>
          <p:nvSpPr>
            <p:cNvPr name="TextBox 30" id="3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31" id="31"/>
          <p:cNvGrpSpPr/>
          <p:nvPr/>
        </p:nvGrpSpPr>
        <p:grpSpPr>
          <a:xfrm rot="0">
            <a:off x="17515759" y="3725239"/>
            <a:ext cx="976487" cy="976487"/>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B68C9">
                    <a:alpha val="100000"/>
                  </a:srgbClr>
                </a:gs>
                <a:gs pos="50000">
                  <a:srgbClr val="6797CC">
                    <a:alpha val="100000"/>
                  </a:srgbClr>
                </a:gs>
                <a:gs pos="100000">
                  <a:srgbClr val="FFFFFF">
                    <a:alpha val="100000"/>
                  </a:srgbClr>
                </a:gs>
              </a:gsLst>
              <a:lin ang="2700000"/>
            </a:gradFill>
          </p:spPr>
        </p:sp>
        <p:sp>
          <p:nvSpPr>
            <p:cNvPr name="TextBox 33" id="3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grpSp>
        <p:nvGrpSpPr>
          <p:cNvPr name="Group 3" id="3"/>
          <p:cNvGrpSpPr/>
          <p:nvPr/>
        </p:nvGrpSpPr>
        <p:grpSpPr>
          <a:xfrm rot="0">
            <a:off x="16561212" y="0"/>
            <a:ext cx="3453575" cy="3453575"/>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B68C9">
                    <a:alpha val="100000"/>
                  </a:srgbClr>
                </a:gs>
                <a:gs pos="50000">
                  <a:srgbClr val="6797CC">
                    <a:alpha val="100000"/>
                  </a:srgbClr>
                </a:gs>
                <a:gs pos="100000">
                  <a:srgbClr val="FFFFFF">
                    <a:alpha val="100000"/>
                  </a:srgbClr>
                </a:gs>
              </a:gsLst>
              <a:lin ang="2700000"/>
            </a:gra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5372514" y="450594"/>
            <a:ext cx="1086931" cy="108693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B68C9">
                    <a:alpha val="100000"/>
                  </a:srgbClr>
                </a:gs>
                <a:gs pos="50000">
                  <a:srgbClr val="6797CC">
                    <a:alpha val="100000"/>
                  </a:srgbClr>
                </a:gs>
                <a:gs pos="100000">
                  <a:srgbClr val="FFFFFF">
                    <a:alpha val="100000"/>
                  </a:srgbClr>
                </a:gs>
              </a:gsLst>
              <a:lin ang="2700000"/>
            </a:gra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17515759" y="3725239"/>
            <a:ext cx="976487" cy="976487"/>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B68C9">
                    <a:alpha val="100000"/>
                  </a:srgbClr>
                </a:gs>
                <a:gs pos="50000">
                  <a:srgbClr val="6797CC">
                    <a:alpha val="100000"/>
                  </a:srgbClr>
                </a:gs>
                <a:gs pos="100000">
                  <a:srgbClr val="FFFFFF">
                    <a:alpha val="100000"/>
                  </a:srgbClr>
                </a:gs>
              </a:gsLst>
              <a:lin ang="2700000"/>
            </a:gra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474832" y="9258300"/>
            <a:ext cx="19237663" cy="1028700"/>
            <a:chOff x="0" y="0"/>
            <a:chExt cx="5066710" cy="270933"/>
          </a:xfrm>
        </p:grpSpPr>
        <p:sp>
          <p:nvSpPr>
            <p:cNvPr name="Freeform 13" id="13"/>
            <p:cNvSpPr/>
            <p:nvPr/>
          </p:nvSpPr>
          <p:spPr>
            <a:xfrm flipH="false" flipV="false" rot="0">
              <a:off x="0" y="0"/>
              <a:ext cx="5066710" cy="270933"/>
            </a:xfrm>
            <a:custGeom>
              <a:avLst/>
              <a:gdLst/>
              <a:ahLst/>
              <a:cxnLst/>
              <a:rect r="r" b="b" t="t" l="l"/>
              <a:pathLst>
                <a:path h="270933" w="5066710">
                  <a:moveTo>
                    <a:pt x="0" y="0"/>
                  </a:moveTo>
                  <a:lnTo>
                    <a:pt x="5066710" y="0"/>
                  </a:lnTo>
                  <a:lnTo>
                    <a:pt x="5066710" y="270933"/>
                  </a:lnTo>
                  <a:lnTo>
                    <a:pt x="0" y="270933"/>
                  </a:lnTo>
                  <a:close/>
                </a:path>
              </a:pathLst>
            </a:custGeom>
            <a:gradFill rotWithShape="true">
              <a:gsLst>
                <a:gs pos="0">
                  <a:srgbClr val="1B68C9">
                    <a:alpha val="100000"/>
                  </a:srgbClr>
                </a:gs>
                <a:gs pos="50000">
                  <a:srgbClr val="6797CC">
                    <a:alpha val="100000"/>
                  </a:srgbClr>
                </a:gs>
                <a:gs pos="100000">
                  <a:srgbClr val="FFFFFF">
                    <a:alpha val="100000"/>
                  </a:srgbClr>
                </a:gs>
              </a:gsLst>
              <a:lin ang="2700000"/>
            </a:gradFill>
          </p:spPr>
        </p:sp>
        <p:sp>
          <p:nvSpPr>
            <p:cNvPr name="TextBox 14" id="14"/>
            <p:cNvSpPr txBox="true"/>
            <p:nvPr/>
          </p:nvSpPr>
          <p:spPr>
            <a:xfrm>
              <a:off x="0" y="-38100"/>
              <a:ext cx="5066710" cy="309033"/>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0474207" y="6923028"/>
            <a:ext cx="3887460" cy="3887460"/>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B68C9">
                    <a:alpha val="100000"/>
                  </a:srgbClr>
                </a:gs>
                <a:gs pos="50000">
                  <a:srgbClr val="6797CC">
                    <a:alpha val="100000"/>
                  </a:srgbClr>
                </a:gs>
                <a:gs pos="100000">
                  <a:srgbClr val="FFFFFF">
                    <a:alpha val="100000"/>
                  </a:srgbClr>
                </a:gs>
              </a:gsLst>
              <a:lin ang="2700000"/>
            </a:gra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8" id="18"/>
          <p:cNvGrpSpPr/>
          <p:nvPr/>
        </p:nvGrpSpPr>
        <p:grpSpPr>
          <a:xfrm rot="0">
            <a:off x="17027515" y="7774285"/>
            <a:ext cx="976487" cy="976487"/>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B68C9">
                    <a:alpha val="100000"/>
                  </a:srgbClr>
                </a:gs>
                <a:gs pos="50000">
                  <a:srgbClr val="6797CC">
                    <a:alpha val="100000"/>
                  </a:srgbClr>
                </a:gs>
                <a:gs pos="100000">
                  <a:srgbClr val="FFFFFF">
                    <a:alpha val="100000"/>
                  </a:srgbClr>
                </a:gs>
              </a:gsLst>
              <a:lin ang="2700000"/>
            </a:gradFill>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21" id="21"/>
          <p:cNvSpPr/>
          <p:nvPr/>
        </p:nvSpPr>
        <p:spPr>
          <a:xfrm flipH="false" flipV="false" rot="5400000">
            <a:off x="8966917" y="7376215"/>
            <a:ext cx="891758" cy="1038437"/>
          </a:xfrm>
          <a:custGeom>
            <a:avLst/>
            <a:gdLst/>
            <a:ahLst/>
            <a:cxnLst/>
            <a:rect r="r" b="b" t="t" l="l"/>
            <a:pathLst>
              <a:path h="1038437" w="891758">
                <a:moveTo>
                  <a:pt x="0" y="0"/>
                </a:moveTo>
                <a:lnTo>
                  <a:pt x="891758" y="0"/>
                </a:lnTo>
                <a:lnTo>
                  <a:pt x="891758" y="1038437"/>
                </a:lnTo>
                <a:lnTo>
                  <a:pt x="0" y="10384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2" id="22"/>
          <p:cNvSpPr txBox="true"/>
          <p:nvPr/>
        </p:nvSpPr>
        <p:spPr>
          <a:xfrm rot="0">
            <a:off x="1028700" y="9532112"/>
            <a:ext cx="5506238" cy="452501"/>
          </a:xfrm>
          <a:prstGeom prst="rect">
            <a:avLst/>
          </a:prstGeom>
        </p:spPr>
        <p:txBody>
          <a:bodyPr anchor="t" rtlCol="false" tIns="0" lIns="0" bIns="0" rIns="0">
            <a:spAutoFit/>
          </a:bodyPr>
          <a:lstStyle/>
          <a:p>
            <a:pPr algn="l">
              <a:lnSpc>
                <a:spcPts val="3471"/>
              </a:lnSpc>
            </a:pPr>
            <a:r>
              <a:rPr lang="en-US" sz="2799" b="true">
                <a:solidFill>
                  <a:srgbClr val="FFFFFF"/>
                </a:solidFill>
                <a:latin typeface="Roboto Bold"/>
                <a:ea typeface="Roboto Bold"/>
                <a:cs typeface="Roboto Bold"/>
                <a:sym typeface="Roboto Bold"/>
              </a:rPr>
              <a:t>www.reallygreatsite.com</a:t>
            </a:r>
          </a:p>
        </p:txBody>
      </p:sp>
      <p:grpSp>
        <p:nvGrpSpPr>
          <p:cNvPr name="Group 23" id="23"/>
          <p:cNvGrpSpPr/>
          <p:nvPr/>
        </p:nvGrpSpPr>
        <p:grpSpPr>
          <a:xfrm rot="0">
            <a:off x="10474207" y="1908735"/>
            <a:ext cx="6842037" cy="6842037"/>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B68C9">
                    <a:alpha val="100000"/>
                  </a:srgbClr>
                </a:gs>
                <a:gs pos="50000">
                  <a:srgbClr val="6797CC">
                    <a:alpha val="100000"/>
                  </a:srgbClr>
                </a:gs>
                <a:gs pos="100000">
                  <a:srgbClr val="FFFFFF">
                    <a:alpha val="100000"/>
                  </a:srgbClr>
                </a:gs>
              </a:gsLst>
              <a:lin ang="2700000"/>
            </a:gradFill>
          </p:spPr>
        </p:sp>
        <p:sp>
          <p:nvSpPr>
            <p:cNvPr name="TextBox 25" id="2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26" id="26"/>
          <p:cNvGrpSpPr/>
          <p:nvPr/>
        </p:nvGrpSpPr>
        <p:grpSpPr>
          <a:xfrm rot="0">
            <a:off x="10703450" y="2137162"/>
            <a:ext cx="6384367" cy="6384367"/>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25046" t="0" r="-25046" b="0"/>
              </a:stretch>
            </a:blipFill>
          </p:spPr>
        </p:sp>
      </p:grpSp>
      <p:sp>
        <p:nvSpPr>
          <p:cNvPr name="TextBox 28" id="28"/>
          <p:cNvSpPr txBox="true"/>
          <p:nvPr/>
        </p:nvSpPr>
        <p:spPr>
          <a:xfrm rot="0">
            <a:off x="1028700" y="2165158"/>
            <a:ext cx="9348534" cy="1288417"/>
          </a:xfrm>
          <a:prstGeom prst="rect">
            <a:avLst/>
          </a:prstGeom>
        </p:spPr>
        <p:txBody>
          <a:bodyPr anchor="t" rtlCol="false" tIns="0" lIns="0" bIns="0" rIns="0">
            <a:spAutoFit/>
          </a:bodyPr>
          <a:lstStyle/>
          <a:p>
            <a:pPr algn="l">
              <a:lnSpc>
                <a:spcPts val="9880"/>
              </a:lnSpc>
            </a:pPr>
            <a:r>
              <a:rPr lang="en-US" sz="9500">
                <a:solidFill>
                  <a:srgbClr val="070A10"/>
                </a:solidFill>
                <a:latin typeface="Anton"/>
                <a:ea typeface="Anton"/>
                <a:cs typeface="Anton"/>
                <a:sym typeface="Anton"/>
              </a:rPr>
              <a:t>TABLE OF CONTENTS</a:t>
            </a:r>
          </a:p>
        </p:txBody>
      </p:sp>
      <p:sp>
        <p:nvSpPr>
          <p:cNvPr name="TextBox 29" id="29"/>
          <p:cNvSpPr txBox="true"/>
          <p:nvPr/>
        </p:nvSpPr>
        <p:spPr>
          <a:xfrm rot="0">
            <a:off x="1028700" y="3849358"/>
            <a:ext cx="6733972" cy="4646930"/>
          </a:xfrm>
          <a:prstGeom prst="rect">
            <a:avLst/>
          </a:prstGeom>
        </p:spPr>
        <p:txBody>
          <a:bodyPr anchor="t" rtlCol="false" tIns="0" lIns="0" bIns="0" rIns="0">
            <a:spAutoFit/>
          </a:bodyPr>
          <a:lstStyle/>
          <a:p>
            <a:pPr algn="l" marL="820419" indent="-410209" lvl="1">
              <a:lnSpc>
                <a:spcPts val="5319"/>
              </a:lnSpc>
              <a:buFont typeface="Arial"/>
              <a:buChar char="•"/>
            </a:pPr>
            <a:r>
              <a:rPr lang="en-US" sz="3799">
                <a:solidFill>
                  <a:srgbClr val="070A10"/>
                </a:solidFill>
                <a:latin typeface="Roboto"/>
                <a:ea typeface="Roboto"/>
                <a:cs typeface="Roboto"/>
                <a:sym typeface="Roboto"/>
              </a:rPr>
              <a:t>About Us</a:t>
            </a:r>
          </a:p>
          <a:p>
            <a:pPr algn="l" marL="820419" indent="-410209" lvl="1">
              <a:lnSpc>
                <a:spcPts val="5319"/>
              </a:lnSpc>
              <a:buFont typeface="Arial"/>
              <a:buChar char="•"/>
            </a:pPr>
            <a:r>
              <a:rPr lang="en-US" sz="3799">
                <a:solidFill>
                  <a:srgbClr val="070A10"/>
                </a:solidFill>
                <a:latin typeface="Roboto"/>
                <a:ea typeface="Roboto"/>
                <a:cs typeface="Roboto"/>
                <a:sym typeface="Roboto"/>
              </a:rPr>
              <a:t>Our Philosophy</a:t>
            </a:r>
          </a:p>
          <a:p>
            <a:pPr algn="l" marL="820419" indent="-410209" lvl="1">
              <a:lnSpc>
                <a:spcPts val="5319"/>
              </a:lnSpc>
              <a:buFont typeface="Arial"/>
              <a:buChar char="•"/>
            </a:pPr>
            <a:r>
              <a:rPr lang="en-US" sz="3799">
                <a:solidFill>
                  <a:srgbClr val="070A10"/>
                </a:solidFill>
                <a:latin typeface="Roboto"/>
                <a:ea typeface="Roboto"/>
                <a:cs typeface="Roboto"/>
                <a:sym typeface="Roboto"/>
              </a:rPr>
              <a:t>Our Team</a:t>
            </a:r>
          </a:p>
          <a:p>
            <a:pPr algn="l" marL="820419" indent="-410209" lvl="1">
              <a:lnSpc>
                <a:spcPts val="5319"/>
              </a:lnSpc>
              <a:buFont typeface="Arial"/>
              <a:buChar char="•"/>
            </a:pPr>
            <a:r>
              <a:rPr lang="en-US" sz="3799">
                <a:solidFill>
                  <a:srgbClr val="070A10"/>
                </a:solidFill>
                <a:latin typeface="Roboto"/>
                <a:ea typeface="Roboto"/>
                <a:cs typeface="Roboto"/>
                <a:sym typeface="Roboto"/>
              </a:rPr>
              <a:t>Services</a:t>
            </a:r>
          </a:p>
          <a:p>
            <a:pPr algn="l" marL="820419" indent="-410209" lvl="1">
              <a:lnSpc>
                <a:spcPts val="5319"/>
              </a:lnSpc>
              <a:buFont typeface="Arial"/>
              <a:buChar char="•"/>
            </a:pPr>
            <a:r>
              <a:rPr lang="en-US" sz="3799">
                <a:solidFill>
                  <a:srgbClr val="070A10"/>
                </a:solidFill>
                <a:latin typeface="Roboto"/>
                <a:ea typeface="Roboto"/>
                <a:cs typeface="Roboto"/>
                <a:sym typeface="Roboto"/>
              </a:rPr>
              <a:t>Team</a:t>
            </a:r>
          </a:p>
          <a:p>
            <a:pPr algn="l" marL="820419" indent="-410209" lvl="1">
              <a:lnSpc>
                <a:spcPts val="5319"/>
              </a:lnSpc>
              <a:buFont typeface="Arial"/>
              <a:buChar char="•"/>
            </a:pPr>
            <a:r>
              <a:rPr lang="en-US" sz="3799">
                <a:solidFill>
                  <a:srgbClr val="070A10"/>
                </a:solidFill>
                <a:latin typeface="Roboto"/>
                <a:ea typeface="Roboto"/>
                <a:cs typeface="Roboto"/>
                <a:sym typeface="Roboto"/>
              </a:rPr>
              <a:t>Project</a:t>
            </a:r>
          </a:p>
          <a:p>
            <a:pPr algn="l" marL="820419" indent="-410209" lvl="1">
              <a:lnSpc>
                <a:spcPts val="5319"/>
              </a:lnSpc>
              <a:buFont typeface="Arial"/>
              <a:buChar char="•"/>
            </a:pPr>
            <a:r>
              <a:rPr lang="en-US" sz="3799">
                <a:solidFill>
                  <a:srgbClr val="070A10"/>
                </a:solidFill>
                <a:latin typeface="Roboto"/>
                <a:ea typeface="Roboto"/>
                <a:cs typeface="Roboto"/>
                <a:sym typeface="Roboto"/>
              </a:rPr>
              <a:t>Contact Us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grpSp>
        <p:nvGrpSpPr>
          <p:cNvPr name="Group 3" id="3"/>
          <p:cNvGrpSpPr/>
          <p:nvPr/>
        </p:nvGrpSpPr>
        <p:grpSpPr>
          <a:xfrm rot="0">
            <a:off x="-474832" y="9258300"/>
            <a:ext cx="19237663" cy="1028700"/>
            <a:chOff x="0" y="0"/>
            <a:chExt cx="5066710" cy="270933"/>
          </a:xfrm>
        </p:grpSpPr>
        <p:sp>
          <p:nvSpPr>
            <p:cNvPr name="Freeform 4" id="4"/>
            <p:cNvSpPr/>
            <p:nvPr/>
          </p:nvSpPr>
          <p:spPr>
            <a:xfrm flipH="false" flipV="false" rot="0">
              <a:off x="0" y="0"/>
              <a:ext cx="5066710" cy="270933"/>
            </a:xfrm>
            <a:custGeom>
              <a:avLst/>
              <a:gdLst/>
              <a:ahLst/>
              <a:cxnLst/>
              <a:rect r="r" b="b" t="t" l="l"/>
              <a:pathLst>
                <a:path h="270933" w="5066710">
                  <a:moveTo>
                    <a:pt x="0" y="0"/>
                  </a:moveTo>
                  <a:lnTo>
                    <a:pt x="5066710" y="0"/>
                  </a:lnTo>
                  <a:lnTo>
                    <a:pt x="5066710" y="270933"/>
                  </a:lnTo>
                  <a:lnTo>
                    <a:pt x="0" y="270933"/>
                  </a:lnTo>
                  <a:close/>
                </a:path>
              </a:pathLst>
            </a:custGeom>
            <a:gradFill rotWithShape="true">
              <a:gsLst>
                <a:gs pos="0">
                  <a:srgbClr val="1B68C9">
                    <a:alpha val="100000"/>
                  </a:srgbClr>
                </a:gs>
                <a:gs pos="50000">
                  <a:srgbClr val="6797CC">
                    <a:alpha val="100000"/>
                  </a:srgbClr>
                </a:gs>
                <a:gs pos="100000">
                  <a:srgbClr val="FFFFFF">
                    <a:alpha val="100000"/>
                  </a:srgbClr>
                </a:gs>
              </a:gsLst>
              <a:lin ang="2700000"/>
            </a:gradFill>
          </p:spPr>
        </p:sp>
        <p:sp>
          <p:nvSpPr>
            <p:cNvPr name="TextBox 5" id="5"/>
            <p:cNvSpPr txBox="true"/>
            <p:nvPr/>
          </p:nvSpPr>
          <p:spPr>
            <a:xfrm>
              <a:off x="0" y="-38100"/>
              <a:ext cx="5066710" cy="309033"/>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5400000">
            <a:off x="10270053" y="1184502"/>
            <a:ext cx="891758" cy="1038437"/>
          </a:xfrm>
          <a:custGeom>
            <a:avLst/>
            <a:gdLst/>
            <a:ahLst/>
            <a:cxnLst/>
            <a:rect r="r" b="b" t="t" l="l"/>
            <a:pathLst>
              <a:path h="1038437" w="891758">
                <a:moveTo>
                  <a:pt x="0" y="0"/>
                </a:moveTo>
                <a:lnTo>
                  <a:pt x="891758" y="0"/>
                </a:lnTo>
                <a:lnTo>
                  <a:pt x="891758" y="1038437"/>
                </a:lnTo>
                <a:lnTo>
                  <a:pt x="0" y="10384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12362531" y="4301903"/>
            <a:ext cx="8087618" cy="8087618"/>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B68C9">
                    <a:alpha val="100000"/>
                  </a:srgbClr>
                </a:gs>
                <a:gs pos="50000">
                  <a:srgbClr val="6797CC">
                    <a:alpha val="100000"/>
                  </a:srgbClr>
                </a:gs>
                <a:gs pos="100000">
                  <a:srgbClr val="FFFFFF">
                    <a:alpha val="100000"/>
                  </a:srgbClr>
                </a:gs>
              </a:gsLst>
              <a:lin ang="2700000"/>
            </a:gra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0">
            <a:off x="10474207" y="1908735"/>
            <a:ext cx="7214578" cy="7214578"/>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B68C9">
                    <a:alpha val="100000"/>
                  </a:srgbClr>
                </a:gs>
                <a:gs pos="50000">
                  <a:srgbClr val="6797CC">
                    <a:alpha val="100000"/>
                  </a:srgbClr>
                </a:gs>
                <a:gs pos="100000">
                  <a:srgbClr val="FFFFFF">
                    <a:alpha val="100000"/>
                  </a:srgbClr>
                </a:gs>
              </a:gsLst>
              <a:lin ang="2700000"/>
            </a:gra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3" id="13"/>
          <p:cNvGrpSpPr/>
          <p:nvPr/>
        </p:nvGrpSpPr>
        <p:grpSpPr>
          <a:xfrm rot="0">
            <a:off x="16406340" y="1028700"/>
            <a:ext cx="976487" cy="976487"/>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B68C9">
                    <a:alpha val="100000"/>
                  </a:srgbClr>
                </a:gs>
                <a:gs pos="50000">
                  <a:srgbClr val="6797CC">
                    <a:alpha val="100000"/>
                  </a:srgbClr>
                </a:gs>
                <a:gs pos="100000">
                  <a:srgbClr val="FFFFFF">
                    <a:alpha val="100000"/>
                  </a:srgbClr>
                </a:gs>
              </a:gsLst>
              <a:lin ang="2700000"/>
            </a:gradFill>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6" id="16"/>
          <p:cNvGrpSpPr/>
          <p:nvPr/>
        </p:nvGrpSpPr>
        <p:grpSpPr>
          <a:xfrm rot="0">
            <a:off x="10802622" y="2237151"/>
            <a:ext cx="6557747" cy="6557747"/>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16666" t="0" r="-16666" b="0"/>
              </a:stretch>
            </a:blipFill>
            <a:ln w="114300" cap="sq">
              <a:solidFill>
                <a:srgbClr val="FFFFFF"/>
              </a:solidFill>
              <a:prstDash val="solid"/>
              <a:miter/>
            </a:ln>
          </p:spPr>
        </p:sp>
      </p:grpSp>
      <p:sp>
        <p:nvSpPr>
          <p:cNvPr name="Freeform 18" id="18"/>
          <p:cNvSpPr/>
          <p:nvPr/>
        </p:nvSpPr>
        <p:spPr>
          <a:xfrm flipH="false" flipV="false" rot="0">
            <a:off x="0" y="5895"/>
            <a:ext cx="2550732" cy="2143705"/>
          </a:xfrm>
          <a:custGeom>
            <a:avLst/>
            <a:gdLst/>
            <a:ahLst/>
            <a:cxnLst/>
            <a:rect r="r" b="b" t="t" l="l"/>
            <a:pathLst>
              <a:path h="2143705" w="2550732">
                <a:moveTo>
                  <a:pt x="0" y="0"/>
                </a:moveTo>
                <a:lnTo>
                  <a:pt x="2550732" y="0"/>
                </a:lnTo>
                <a:lnTo>
                  <a:pt x="2550732" y="2143705"/>
                </a:lnTo>
                <a:lnTo>
                  <a:pt x="0" y="2143705"/>
                </a:lnTo>
                <a:lnTo>
                  <a:pt x="0" y="0"/>
                </a:lnTo>
                <a:close/>
              </a:path>
            </a:pathLst>
          </a:custGeom>
          <a:blipFill>
            <a:blip r:embed="rId6"/>
            <a:stretch>
              <a:fillRect l="-370198" t="-214886" r="-309" b="-1564"/>
            </a:stretch>
          </a:blipFill>
        </p:spPr>
      </p:sp>
      <p:grpSp>
        <p:nvGrpSpPr>
          <p:cNvPr name="Group 19" id="19"/>
          <p:cNvGrpSpPr/>
          <p:nvPr/>
        </p:nvGrpSpPr>
        <p:grpSpPr>
          <a:xfrm rot="0">
            <a:off x="-474832" y="1748907"/>
            <a:ext cx="976487" cy="976487"/>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B68C9">
                    <a:alpha val="100000"/>
                  </a:srgbClr>
                </a:gs>
                <a:gs pos="50000">
                  <a:srgbClr val="6797CC">
                    <a:alpha val="100000"/>
                  </a:srgbClr>
                </a:gs>
                <a:gs pos="100000">
                  <a:srgbClr val="FFFFFF">
                    <a:alpha val="100000"/>
                  </a:srgbClr>
                </a:gs>
              </a:gsLst>
              <a:lin ang="2700000"/>
            </a:gradFill>
          </p:spPr>
        </p:sp>
        <p:sp>
          <p:nvSpPr>
            <p:cNvPr name="TextBox 21" id="2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22" id="22"/>
          <p:cNvSpPr/>
          <p:nvPr/>
        </p:nvSpPr>
        <p:spPr>
          <a:xfrm flipH="false" flipV="false" rot="0">
            <a:off x="152400" y="158295"/>
            <a:ext cx="2550732" cy="2143705"/>
          </a:xfrm>
          <a:custGeom>
            <a:avLst/>
            <a:gdLst/>
            <a:ahLst/>
            <a:cxnLst/>
            <a:rect r="r" b="b" t="t" l="l"/>
            <a:pathLst>
              <a:path h="2143705" w="2550732">
                <a:moveTo>
                  <a:pt x="0" y="0"/>
                </a:moveTo>
                <a:lnTo>
                  <a:pt x="2550732" y="0"/>
                </a:lnTo>
                <a:lnTo>
                  <a:pt x="2550732" y="2143705"/>
                </a:lnTo>
                <a:lnTo>
                  <a:pt x="0" y="2143705"/>
                </a:lnTo>
                <a:lnTo>
                  <a:pt x="0" y="0"/>
                </a:lnTo>
                <a:close/>
              </a:path>
            </a:pathLst>
          </a:custGeom>
          <a:blipFill>
            <a:blip r:embed="rId6"/>
            <a:stretch>
              <a:fillRect l="-370198" t="-214886" r="-309" b="-1564"/>
            </a:stretch>
          </a:blipFill>
        </p:spPr>
      </p:sp>
      <p:sp>
        <p:nvSpPr>
          <p:cNvPr name="TextBox 23" id="23"/>
          <p:cNvSpPr txBox="true"/>
          <p:nvPr/>
        </p:nvSpPr>
        <p:spPr>
          <a:xfrm rot="0">
            <a:off x="1028700" y="3071270"/>
            <a:ext cx="8433431" cy="1230633"/>
          </a:xfrm>
          <a:prstGeom prst="rect">
            <a:avLst/>
          </a:prstGeom>
        </p:spPr>
        <p:txBody>
          <a:bodyPr anchor="t" rtlCol="false" tIns="0" lIns="0" bIns="0" rIns="0">
            <a:spAutoFit/>
          </a:bodyPr>
          <a:lstStyle/>
          <a:p>
            <a:pPr algn="l">
              <a:lnSpc>
                <a:spcPts val="9360"/>
              </a:lnSpc>
            </a:pPr>
            <a:r>
              <a:rPr lang="en-US" sz="9000">
                <a:solidFill>
                  <a:srgbClr val="070A10"/>
                </a:solidFill>
                <a:latin typeface="Anton"/>
                <a:ea typeface="Anton"/>
                <a:cs typeface="Anton"/>
                <a:sym typeface="Anton"/>
              </a:rPr>
              <a:t>ABOUT COMPANY</a:t>
            </a:r>
          </a:p>
        </p:txBody>
      </p:sp>
      <p:sp>
        <p:nvSpPr>
          <p:cNvPr name="TextBox 24" id="24"/>
          <p:cNvSpPr txBox="true"/>
          <p:nvPr/>
        </p:nvSpPr>
        <p:spPr>
          <a:xfrm rot="0">
            <a:off x="661409" y="4667520"/>
            <a:ext cx="9168014" cy="4337050"/>
          </a:xfrm>
          <a:prstGeom prst="rect">
            <a:avLst/>
          </a:prstGeom>
        </p:spPr>
        <p:txBody>
          <a:bodyPr anchor="t" rtlCol="false" tIns="0" lIns="0" bIns="0" rIns="0">
            <a:spAutoFit/>
          </a:bodyPr>
          <a:lstStyle/>
          <a:p>
            <a:pPr algn="just">
              <a:lnSpc>
                <a:spcPts val="4999"/>
              </a:lnSpc>
            </a:pPr>
            <a:r>
              <a:rPr lang="en-US" sz="2499" spc="-19">
                <a:solidFill>
                  <a:srgbClr val="545454"/>
                </a:solidFill>
                <a:latin typeface="Roboto"/>
                <a:ea typeface="Roboto"/>
                <a:cs typeface="Roboto"/>
                <a:sym typeface="Roboto"/>
              </a:rPr>
              <a:t>We “M/s Crescent Care”, established in Delhi, India, previously known as “Sunpride Construction Private Limited”, engaged in providing various kind of Infrastructure developments &amp; Construction services that includes Civil works, MEP works, </a:t>
            </a:r>
          </a:p>
          <a:p>
            <a:pPr algn="just">
              <a:lnSpc>
                <a:spcPts val="4999"/>
              </a:lnSpc>
            </a:pPr>
            <a:r>
              <a:rPr lang="en-US" sz="2499">
                <a:solidFill>
                  <a:srgbClr val="545454"/>
                </a:solidFill>
                <a:latin typeface="Roboto"/>
                <a:ea typeface="Roboto"/>
                <a:cs typeface="Roboto"/>
                <a:sym typeface="Roboto"/>
              </a:rPr>
              <a:t>Firefighting works, HVAC works, Rainwater Harvesting </a:t>
            </a:r>
          </a:p>
          <a:p>
            <a:pPr algn="just">
              <a:lnSpc>
                <a:spcPts val="4999"/>
              </a:lnSpc>
            </a:pPr>
            <a:r>
              <a:rPr lang="en-US" sz="2499">
                <a:solidFill>
                  <a:srgbClr val="545454"/>
                </a:solidFill>
                <a:latin typeface="Roboto"/>
                <a:ea typeface="Roboto"/>
                <a:cs typeface="Roboto"/>
                <a:sym typeface="Roboto"/>
              </a:rPr>
              <a:t>works, Horticultureworks, Interior and Exterior works. </a:t>
            </a:r>
          </a:p>
          <a:p>
            <a:pPr algn="just">
              <a:lnSpc>
                <a:spcPts val="4999"/>
              </a:lnSpc>
            </a:pPr>
          </a:p>
        </p:txBody>
      </p:sp>
      <p:sp>
        <p:nvSpPr>
          <p:cNvPr name="TextBox 25" id="25"/>
          <p:cNvSpPr txBox="true"/>
          <p:nvPr/>
        </p:nvSpPr>
        <p:spPr>
          <a:xfrm rot="0">
            <a:off x="890870" y="9532112"/>
            <a:ext cx="5506238" cy="452501"/>
          </a:xfrm>
          <a:prstGeom prst="rect">
            <a:avLst/>
          </a:prstGeom>
        </p:spPr>
        <p:txBody>
          <a:bodyPr anchor="t" rtlCol="false" tIns="0" lIns="0" bIns="0" rIns="0">
            <a:spAutoFit/>
          </a:bodyPr>
          <a:lstStyle/>
          <a:p>
            <a:pPr algn="l">
              <a:lnSpc>
                <a:spcPts val="3471"/>
              </a:lnSpc>
            </a:pPr>
            <a:r>
              <a:rPr lang="en-US" sz="2799" b="true">
                <a:solidFill>
                  <a:srgbClr val="FFFFFF"/>
                </a:solidFill>
                <a:latin typeface="Roboto Bold"/>
                <a:ea typeface="Roboto Bold"/>
                <a:cs typeface="Roboto Bold"/>
                <a:sym typeface="Roboto Bold"/>
              </a:rPr>
              <a:t>www.cresentcare.in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grpSp>
        <p:nvGrpSpPr>
          <p:cNvPr name="Group 3" id="3"/>
          <p:cNvGrpSpPr/>
          <p:nvPr/>
        </p:nvGrpSpPr>
        <p:grpSpPr>
          <a:xfrm rot="0">
            <a:off x="-474832" y="9258300"/>
            <a:ext cx="13258839" cy="1119564"/>
            <a:chOff x="0" y="0"/>
            <a:chExt cx="3492040" cy="294864"/>
          </a:xfrm>
        </p:grpSpPr>
        <p:sp>
          <p:nvSpPr>
            <p:cNvPr name="Freeform 4" id="4"/>
            <p:cNvSpPr/>
            <p:nvPr/>
          </p:nvSpPr>
          <p:spPr>
            <a:xfrm flipH="false" flipV="false" rot="0">
              <a:off x="0" y="0"/>
              <a:ext cx="3492040" cy="294864"/>
            </a:xfrm>
            <a:custGeom>
              <a:avLst/>
              <a:gdLst/>
              <a:ahLst/>
              <a:cxnLst/>
              <a:rect r="r" b="b" t="t" l="l"/>
              <a:pathLst>
                <a:path h="294864" w="3492040">
                  <a:moveTo>
                    <a:pt x="58391" y="0"/>
                  </a:moveTo>
                  <a:lnTo>
                    <a:pt x="3433649" y="0"/>
                  </a:lnTo>
                  <a:cubicBezTo>
                    <a:pt x="3465898" y="0"/>
                    <a:pt x="3492040" y="26142"/>
                    <a:pt x="3492040" y="58391"/>
                  </a:cubicBezTo>
                  <a:lnTo>
                    <a:pt x="3492040" y="236474"/>
                  </a:lnTo>
                  <a:cubicBezTo>
                    <a:pt x="3492040" y="268722"/>
                    <a:pt x="3465898" y="294864"/>
                    <a:pt x="3433649" y="294864"/>
                  </a:cubicBezTo>
                  <a:lnTo>
                    <a:pt x="58391" y="294864"/>
                  </a:lnTo>
                  <a:cubicBezTo>
                    <a:pt x="42904" y="294864"/>
                    <a:pt x="28053" y="288713"/>
                    <a:pt x="17102" y="277762"/>
                  </a:cubicBezTo>
                  <a:cubicBezTo>
                    <a:pt x="6152" y="266812"/>
                    <a:pt x="0" y="251960"/>
                    <a:pt x="0" y="236474"/>
                  </a:cubicBezTo>
                  <a:lnTo>
                    <a:pt x="0" y="58391"/>
                  </a:lnTo>
                  <a:cubicBezTo>
                    <a:pt x="0" y="26142"/>
                    <a:pt x="26142" y="0"/>
                    <a:pt x="58391" y="0"/>
                  </a:cubicBezTo>
                  <a:close/>
                </a:path>
              </a:pathLst>
            </a:custGeom>
            <a:gradFill rotWithShape="true">
              <a:gsLst>
                <a:gs pos="0">
                  <a:srgbClr val="1B68C9">
                    <a:alpha val="100000"/>
                  </a:srgbClr>
                </a:gs>
                <a:gs pos="50000">
                  <a:srgbClr val="6797CC">
                    <a:alpha val="100000"/>
                  </a:srgbClr>
                </a:gs>
                <a:gs pos="100000">
                  <a:srgbClr val="FFFFFF">
                    <a:alpha val="100000"/>
                  </a:srgbClr>
                </a:gs>
              </a:gsLst>
              <a:lin ang="2700000"/>
            </a:gradFill>
          </p:spPr>
        </p:sp>
        <p:sp>
          <p:nvSpPr>
            <p:cNvPr name="TextBox 5" id="5"/>
            <p:cNvSpPr txBox="true"/>
            <p:nvPr/>
          </p:nvSpPr>
          <p:spPr>
            <a:xfrm>
              <a:off x="0" y="-38100"/>
              <a:ext cx="3492040" cy="332964"/>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5400000">
            <a:off x="-193802" y="3210915"/>
            <a:ext cx="891758" cy="1038437"/>
          </a:xfrm>
          <a:custGeom>
            <a:avLst/>
            <a:gdLst/>
            <a:ahLst/>
            <a:cxnLst/>
            <a:rect r="r" b="b" t="t" l="l"/>
            <a:pathLst>
              <a:path h="1038437" w="891758">
                <a:moveTo>
                  <a:pt x="0" y="0"/>
                </a:moveTo>
                <a:lnTo>
                  <a:pt x="891758" y="0"/>
                </a:lnTo>
                <a:lnTo>
                  <a:pt x="891758" y="1038438"/>
                </a:lnTo>
                <a:lnTo>
                  <a:pt x="0" y="103843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4997262" y="1869734"/>
            <a:ext cx="9269376" cy="3102727"/>
          </a:xfrm>
          <a:prstGeom prst="rect">
            <a:avLst/>
          </a:prstGeom>
        </p:spPr>
        <p:txBody>
          <a:bodyPr anchor="t" rtlCol="false" tIns="0" lIns="0" bIns="0" rIns="0">
            <a:spAutoFit/>
          </a:bodyPr>
          <a:lstStyle/>
          <a:p>
            <a:pPr algn="ctr">
              <a:lnSpc>
                <a:spcPts val="12063"/>
              </a:lnSpc>
            </a:pPr>
            <a:r>
              <a:rPr lang="en-US" sz="11599">
                <a:solidFill>
                  <a:srgbClr val="070A10"/>
                </a:solidFill>
                <a:latin typeface="Anton"/>
                <a:ea typeface="Anton"/>
                <a:cs typeface="Anton"/>
                <a:sym typeface="Anton"/>
              </a:rPr>
              <a:t>OUR PHILOSOPHY</a:t>
            </a:r>
          </a:p>
          <a:p>
            <a:pPr algn="ctr">
              <a:lnSpc>
                <a:spcPts val="12063"/>
              </a:lnSpc>
            </a:pPr>
          </a:p>
        </p:txBody>
      </p:sp>
      <p:sp>
        <p:nvSpPr>
          <p:cNvPr name="TextBox 8" id="8"/>
          <p:cNvSpPr txBox="true"/>
          <p:nvPr/>
        </p:nvSpPr>
        <p:spPr>
          <a:xfrm rot="0">
            <a:off x="1028700" y="9532112"/>
            <a:ext cx="5506238" cy="452501"/>
          </a:xfrm>
          <a:prstGeom prst="rect">
            <a:avLst/>
          </a:prstGeom>
        </p:spPr>
        <p:txBody>
          <a:bodyPr anchor="t" rtlCol="false" tIns="0" lIns="0" bIns="0" rIns="0">
            <a:spAutoFit/>
          </a:bodyPr>
          <a:lstStyle/>
          <a:p>
            <a:pPr algn="l">
              <a:lnSpc>
                <a:spcPts val="3471"/>
              </a:lnSpc>
            </a:pPr>
            <a:r>
              <a:rPr lang="en-US" sz="2799" b="true">
                <a:solidFill>
                  <a:srgbClr val="FFFFFF"/>
                </a:solidFill>
                <a:latin typeface="Roboto Bold"/>
                <a:ea typeface="Roboto Bold"/>
                <a:cs typeface="Roboto Bold"/>
                <a:sym typeface="Roboto Bold"/>
              </a:rPr>
              <a:t>www.reallygreatsite.com</a:t>
            </a:r>
          </a:p>
        </p:txBody>
      </p:sp>
      <p:grpSp>
        <p:nvGrpSpPr>
          <p:cNvPr name="Group 9" id="9"/>
          <p:cNvGrpSpPr/>
          <p:nvPr/>
        </p:nvGrpSpPr>
        <p:grpSpPr>
          <a:xfrm rot="0">
            <a:off x="17613486" y="2928411"/>
            <a:ext cx="1603446" cy="1603446"/>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B68C9">
                    <a:alpha val="100000"/>
                  </a:srgbClr>
                </a:gs>
                <a:gs pos="50000">
                  <a:srgbClr val="6797CC">
                    <a:alpha val="100000"/>
                  </a:srgbClr>
                </a:gs>
                <a:gs pos="100000">
                  <a:srgbClr val="FFFFFF">
                    <a:alpha val="100000"/>
                  </a:srgbClr>
                </a:gs>
              </a:gsLst>
              <a:lin ang="2700000"/>
            </a:gra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10800000">
            <a:off x="7637218" y="0"/>
            <a:ext cx="13258839" cy="1119564"/>
            <a:chOff x="0" y="0"/>
            <a:chExt cx="3492040" cy="294864"/>
          </a:xfrm>
        </p:grpSpPr>
        <p:sp>
          <p:nvSpPr>
            <p:cNvPr name="Freeform 13" id="13"/>
            <p:cNvSpPr/>
            <p:nvPr/>
          </p:nvSpPr>
          <p:spPr>
            <a:xfrm flipH="false" flipV="false" rot="0">
              <a:off x="0" y="0"/>
              <a:ext cx="3492040" cy="294864"/>
            </a:xfrm>
            <a:custGeom>
              <a:avLst/>
              <a:gdLst/>
              <a:ahLst/>
              <a:cxnLst/>
              <a:rect r="r" b="b" t="t" l="l"/>
              <a:pathLst>
                <a:path h="294864" w="3492040">
                  <a:moveTo>
                    <a:pt x="58391" y="0"/>
                  </a:moveTo>
                  <a:lnTo>
                    <a:pt x="3433649" y="0"/>
                  </a:lnTo>
                  <a:cubicBezTo>
                    <a:pt x="3465898" y="0"/>
                    <a:pt x="3492040" y="26142"/>
                    <a:pt x="3492040" y="58391"/>
                  </a:cubicBezTo>
                  <a:lnTo>
                    <a:pt x="3492040" y="236474"/>
                  </a:lnTo>
                  <a:cubicBezTo>
                    <a:pt x="3492040" y="268722"/>
                    <a:pt x="3465898" y="294864"/>
                    <a:pt x="3433649" y="294864"/>
                  </a:cubicBezTo>
                  <a:lnTo>
                    <a:pt x="58391" y="294864"/>
                  </a:lnTo>
                  <a:cubicBezTo>
                    <a:pt x="42904" y="294864"/>
                    <a:pt x="28053" y="288713"/>
                    <a:pt x="17102" y="277762"/>
                  </a:cubicBezTo>
                  <a:cubicBezTo>
                    <a:pt x="6152" y="266812"/>
                    <a:pt x="0" y="251960"/>
                    <a:pt x="0" y="236474"/>
                  </a:cubicBezTo>
                  <a:lnTo>
                    <a:pt x="0" y="58391"/>
                  </a:lnTo>
                  <a:cubicBezTo>
                    <a:pt x="0" y="26142"/>
                    <a:pt x="26142" y="0"/>
                    <a:pt x="58391" y="0"/>
                  </a:cubicBezTo>
                  <a:close/>
                </a:path>
              </a:pathLst>
            </a:custGeom>
            <a:gradFill rotWithShape="true">
              <a:gsLst>
                <a:gs pos="0">
                  <a:srgbClr val="1B68C9">
                    <a:alpha val="100000"/>
                  </a:srgbClr>
                </a:gs>
                <a:gs pos="50000">
                  <a:srgbClr val="6797CC">
                    <a:alpha val="100000"/>
                  </a:srgbClr>
                </a:gs>
                <a:gs pos="100000">
                  <a:srgbClr val="FFFFFF">
                    <a:alpha val="100000"/>
                  </a:srgbClr>
                </a:gs>
              </a:gsLst>
              <a:lin ang="2700000"/>
            </a:gradFill>
          </p:spPr>
        </p:sp>
        <p:sp>
          <p:nvSpPr>
            <p:cNvPr name="TextBox 14" id="14"/>
            <p:cNvSpPr txBox="true"/>
            <p:nvPr/>
          </p:nvSpPr>
          <p:spPr>
            <a:xfrm>
              <a:off x="0" y="-38100"/>
              <a:ext cx="3492040" cy="332964"/>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884113" y="4161982"/>
            <a:ext cx="14800583" cy="981518"/>
            <a:chOff x="0" y="0"/>
            <a:chExt cx="3898096" cy="258507"/>
          </a:xfrm>
        </p:grpSpPr>
        <p:sp>
          <p:nvSpPr>
            <p:cNvPr name="Freeform 16" id="16"/>
            <p:cNvSpPr/>
            <p:nvPr/>
          </p:nvSpPr>
          <p:spPr>
            <a:xfrm flipH="false" flipV="false" rot="0">
              <a:off x="0" y="0"/>
              <a:ext cx="3898096" cy="258507"/>
            </a:xfrm>
            <a:custGeom>
              <a:avLst/>
              <a:gdLst/>
              <a:ahLst/>
              <a:cxnLst/>
              <a:rect r="r" b="b" t="t" l="l"/>
              <a:pathLst>
                <a:path h="258507" w="3898096">
                  <a:moveTo>
                    <a:pt x="52308" y="0"/>
                  </a:moveTo>
                  <a:lnTo>
                    <a:pt x="3845788" y="0"/>
                  </a:lnTo>
                  <a:cubicBezTo>
                    <a:pt x="3859661" y="0"/>
                    <a:pt x="3872966" y="5511"/>
                    <a:pt x="3882775" y="15321"/>
                  </a:cubicBezTo>
                  <a:cubicBezTo>
                    <a:pt x="3892585" y="25130"/>
                    <a:pt x="3898096" y="38435"/>
                    <a:pt x="3898096" y="52308"/>
                  </a:cubicBezTo>
                  <a:lnTo>
                    <a:pt x="3898096" y="206199"/>
                  </a:lnTo>
                  <a:cubicBezTo>
                    <a:pt x="3898096" y="235088"/>
                    <a:pt x="3874677" y="258507"/>
                    <a:pt x="3845788" y="258507"/>
                  </a:cubicBezTo>
                  <a:lnTo>
                    <a:pt x="52308" y="258507"/>
                  </a:lnTo>
                  <a:cubicBezTo>
                    <a:pt x="23419" y="258507"/>
                    <a:pt x="0" y="235088"/>
                    <a:pt x="0" y="206199"/>
                  </a:cubicBezTo>
                  <a:lnTo>
                    <a:pt x="0" y="52308"/>
                  </a:lnTo>
                  <a:cubicBezTo>
                    <a:pt x="0" y="38435"/>
                    <a:pt x="5511" y="25130"/>
                    <a:pt x="15321" y="15321"/>
                  </a:cubicBezTo>
                  <a:cubicBezTo>
                    <a:pt x="25130" y="5511"/>
                    <a:pt x="38435" y="0"/>
                    <a:pt x="52308" y="0"/>
                  </a:cubicBezTo>
                  <a:close/>
                </a:path>
              </a:pathLst>
            </a:custGeom>
            <a:gradFill rotWithShape="true">
              <a:gsLst>
                <a:gs pos="0">
                  <a:srgbClr val="1B68C9">
                    <a:alpha val="100000"/>
                  </a:srgbClr>
                </a:gs>
                <a:gs pos="50000">
                  <a:srgbClr val="6696CC">
                    <a:alpha val="100000"/>
                  </a:srgbClr>
                </a:gs>
                <a:gs pos="100000">
                  <a:srgbClr val="1B68C9">
                    <a:alpha val="100000"/>
                  </a:srgbClr>
                </a:gs>
              </a:gsLst>
              <a:lin ang="2700000"/>
            </a:gradFill>
          </p:spPr>
        </p:sp>
        <p:sp>
          <p:nvSpPr>
            <p:cNvPr name="TextBox 17" id="17"/>
            <p:cNvSpPr txBox="true"/>
            <p:nvPr/>
          </p:nvSpPr>
          <p:spPr>
            <a:xfrm>
              <a:off x="0" y="-38100"/>
              <a:ext cx="3898096" cy="296607"/>
            </a:xfrm>
            <a:prstGeom prst="rect">
              <a:avLst/>
            </a:prstGeom>
          </p:spPr>
          <p:txBody>
            <a:bodyPr anchor="ctr" rtlCol="false" tIns="50800" lIns="50800" bIns="50800" rIns="50800"/>
            <a:lstStyle/>
            <a:p>
              <a:pPr algn="ctr">
                <a:lnSpc>
                  <a:spcPts val="2659"/>
                </a:lnSpc>
              </a:pPr>
            </a:p>
          </p:txBody>
        </p:sp>
      </p:grpSp>
      <p:sp>
        <p:nvSpPr>
          <p:cNvPr name="TextBox 18" id="18"/>
          <p:cNvSpPr txBox="true"/>
          <p:nvPr/>
        </p:nvSpPr>
        <p:spPr>
          <a:xfrm rot="0">
            <a:off x="3647237" y="5342704"/>
            <a:ext cx="11969426" cy="2997199"/>
          </a:xfrm>
          <a:prstGeom prst="rect">
            <a:avLst/>
          </a:prstGeom>
        </p:spPr>
        <p:txBody>
          <a:bodyPr anchor="t" rtlCol="false" tIns="0" lIns="0" bIns="0" rIns="0">
            <a:spAutoFit/>
          </a:bodyPr>
          <a:lstStyle/>
          <a:p>
            <a:pPr algn="just">
              <a:lnSpc>
                <a:spcPts val="4000"/>
              </a:lnSpc>
            </a:pPr>
            <a:r>
              <a:rPr lang="en-US" sz="2000" b="true">
                <a:solidFill>
                  <a:srgbClr val="545454"/>
                </a:solidFill>
                <a:latin typeface="Roboto Bold"/>
                <a:ea typeface="Roboto Bold"/>
                <a:cs typeface="Roboto Bold"/>
                <a:sym typeface="Roboto Bold"/>
              </a:rPr>
              <a:t>We use high quality raw material throughout our service in every field as we are one of the renowned quality centric organization and quality is our prior aim. We procure the raw material from quality driven organization that is checked at our quality inspection unit as to provide unique quality service to our esteemed clients. We offer these services after complete planning and designing of the project. We use latest and high performance machinery &amp; equipment in our services. We provide these services in various parts of the country to make a permanent relationship with our esteemed clients. </a:t>
            </a:r>
          </a:p>
        </p:txBody>
      </p:sp>
      <p:grpSp>
        <p:nvGrpSpPr>
          <p:cNvPr name="Group 19" id="19"/>
          <p:cNvGrpSpPr/>
          <p:nvPr/>
        </p:nvGrpSpPr>
        <p:grpSpPr>
          <a:xfrm rot="0">
            <a:off x="-832150" y="6927029"/>
            <a:ext cx="1603446" cy="1603446"/>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B68C9">
                    <a:alpha val="100000"/>
                  </a:srgbClr>
                </a:gs>
                <a:gs pos="50000">
                  <a:srgbClr val="6797CC">
                    <a:alpha val="100000"/>
                  </a:srgbClr>
                </a:gs>
                <a:gs pos="100000">
                  <a:srgbClr val="FFFFFF">
                    <a:alpha val="100000"/>
                  </a:srgbClr>
                </a:gs>
              </a:gsLst>
              <a:lin ang="2700000"/>
            </a:gradFill>
          </p:spPr>
        </p:sp>
        <p:sp>
          <p:nvSpPr>
            <p:cNvPr name="TextBox 21" id="2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22" id="22"/>
          <p:cNvSpPr/>
          <p:nvPr/>
        </p:nvSpPr>
        <p:spPr>
          <a:xfrm flipH="false" flipV="false" rot="0">
            <a:off x="0" y="5895"/>
            <a:ext cx="2550732" cy="2143705"/>
          </a:xfrm>
          <a:custGeom>
            <a:avLst/>
            <a:gdLst/>
            <a:ahLst/>
            <a:cxnLst/>
            <a:rect r="r" b="b" t="t" l="l"/>
            <a:pathLst>
              <a:path h="2143705" w="2550732">
                <a:moveTo>
                  <a:pt x="0" y="0"/>
                </a:moveTo>
                <a:lnTo>
                  <a:pt x="2550732" y="0"/>
                </a:lnTo>
                <a:lnTo>
                  <a:pt x="2550732" y="2143705"/>
                </a:lnTo>
                <a:lnTo>
                  <a:pt x="0" y="2143705"/>
                </a:lnTo>
                <a:lnTo>
                  <a:pt x="0" y="0"/>
                </a:lnTo>
                <a:close/>
              </a:path>
            </a:pathLst>
          </a:custGeom>
          <a:blipFill>
            <a:blip r:embed="rId5"/>
            <a:stretch>
              <a:fillRect l="-370198" t="-214886" r="-309" b="-1564"/>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grpSp>
        <p:nvGrpSpPr>
          <p:cNvPr name="Group 3" id="3"/>
          <p:cNvGrpSpPr/>
          <p:nvPr/>
        </p:nvGrpSpPr>
        <p:grpSpPr>
          <a:xfrm rot="0">
            <a:off x="-474832" y="9258300"/>
            <a:ext cx="20055435" cy="1119564"/>
            <a:chOff x="0" y="0"/>
            <a:chExt cx="5282090" cy="294864"/>
          </a:xfrm>
        </p:grpSpPr>
        <p:sp>
          <p:nvSpPr>
            <p:cNvPr name="Freeform 4" id="4"/>
            <p:cNvSpPr/>
            <p:nvPr/>
          </p:nvSpPr>
          <p:spPr>
            <a:xfrm flipH="false" flipV="false" rot="0">
              <a:off x="0" y="0"/>
              <a:ext cx="5282090" cy="294864"/>
            </a:xfrm>
            <a:custGeom>
              <a:avLst/>
              <a:gdLst/>
              <a:ahLst/>
              <a:cxnLst/>
              <a:rect r="r" b="b" t="t" l="l"/>
              <a:pathLst>
                <a:path h="294864" w="5282090">
                  <a:moveTo>
                    <a:pt x="38603" y="0"/>
                  </a:moveTo>
                  <a:lnTo>
                    <a:pt x="5243487" y="0"/>
                  </a:lnTo>
                  <a:cubicBezTo>
                    <a:pt x="5253725" y="0"/>
                    <a:pt x="5263544" y="4067"/>
                    <a:pt x="5270784" y="11306"/>
                  </a:cubicBezTo>
                  <a:cubicBezTo>
                    <a:pt x="5278023" y="18546"/>
                    <a:pt x="5282090" y="28365"/>
                    <a:pt x="5282090" y="38603"/>
                  </a:cubicBezTo>
                  <a:lnTo>
                    <a:pt x="5282090" y="256262"/>
                  </a:lnTo>
                  <a:cubicBezTo>
                    <a:pt x="5282090" y="266500"/>
                    <a:pt x="5278023" y="276319"/>
                    <a:pt x="5270784" y="283558"/>
                  </a:cubicBezTo>
                  <a:cubicBezTo>
                    <a:pt x="5263544" y="290797"/>
                    <a:pt x="5253725" y="294864"/>
                    <a:pt x="5243487" y="294864"/>
                  </a:cubicBezTo>
                  <a:lnTo>
                    <a:pt x="38603" y="294864"/>
                  </a:lnTo>
                  <a:cubicBezTo>
                    <a:pt x="28365" y="294864"/>
                    <a:pt x="18546" y="290797"/>
                    <a:pt x="11306" y="283558"/>
                  </a:cubicBezTo>
                  <a:cubicBezTo>
                    <a:pt x="4067" y="276319"/>
                    <a:pt x="0" y="266500"/>
                    <a:pt x="0" y="256262"/>
                  </a:cubicBezTo>
                  <a:lnTo>
                    <a:pt x="0" y="38603"/>
                  </a:lnTo>
                  <a:cubicBezTo>
                    <a:pt x="0" y="28365"/>
                    <a:pt x="4067" y="18546"/>
                    <a:pt x="11306" y="11306"/>
                  </a:cubicBezTo>
                  <a:cubicBezTo>
                    <a:pt x="18546" y="4067"/>
                    <a:pt x="28365" y="0"/>
                    <a:pt x="38603" y="0"/>
                  </a:cubicBezTo>
                  <a:close/>
                </a:path>
              </a:pathLst>
            </a:custGeom>
            <a:gradFill rotWithShape="true">
              <a:gsLst>
                <a:gs pos="0">
                  <a:srgbClr val="1B68C9">
                    <a:alpha val="100000"/>
                  </a:srgbClr>
                </a:gs>
                <a:gs pos="50000">
                  <a:srgbClr val="6797CC">
                    <a:alpha val="100000"/>
                  </a:srgbClr>
                </a:gs>
                <a:gs pos="100000">
                  <a:srgbClr val="FFFFFF">
                    <a:alpha val="100000"/>
                  </a:srgbClr>
                </a:gs>
              </a:gsLst>
              <a:lin ang="2700000"/>
            </a:gradFill>
          </p:spPr>
        </p:sp>
        <p:sp>
          <p:nvSpPr>
            <p:cNvPr name="TextBox 5" id="5"/>
            <p:cNvSpPr txBox="true"/>
            <p:nvPr/>
          </p:nvSpPr>
          <p:spPr>
            <a:xfrm>
              <a:off x="0" y="-38100"/>
              <a:ext cx="5282090" cy="332964"/>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13621422" y="-943046"/>
            <a:ext cx="6807525" cy="12495684"/>
            <a:chOff x="0" y="0"/>
            <a:chExt cx="1792928" cy="3291044"/>
          </a:xfrm>
        </p:grpSpPr>
        <p:sp>
          <p:nvSpPr>
            <p:cNvPr name="Freeform 7" id="7"/>
            <p:cNvSpPr/>
            <p:nvPr/>
          </p:nvSpPr>
          <p:spPr>
            <a:xfrm flipH="false" flipV="false" rot="0">
              <a:off x="0" y="0"/>
              <a:ext cx="1792928" cy="3291044"/>
            </a:xfrm>
            <a:custGeom>
              <a:avLst/>
              <a:gdLst/>
              <a:ahLst/>
              <a:cxnLst/>
              <a:rect r="r" b="b" t="t" l="l"/>
              <a:pathLst>
                <a:path h="3291044" w="1792928">
                  <a:moveTo>
                    <a:pt x="113726" y="0"/>
                  </a:moveTo>
                  <a:lnTo>
                    <a:pt x="1679203" y="0"/>
                  </a:lnTo>
                  <a:cubicBezTo>
                    <a:pt x="1709364" y="0"/>
                    <a:pt x="1738291" y="11982"/>
                    <a:pt x="1759619" y="33310"/>
                  </a:cubicBezTo>
                  <a:cubicBezTo>
                    <a:pt x="1780947" y="54637"/>
                    <a:pt x="1792928" y="83564"/>
                    <a:pt x="1792928" y="113726"/>
                  </a:cubicBezTo>
                  <a:lnTo>
                    <a:pt x="1792928" y="3177318"/>
                  </a:lnTo>
                  <a:cubicBezTo>
                    <a:pt x="1792928" y="3207481"/>
                    <a:pt x="1780947" y="3236407"/>
                    <a:pt x="1759619" y="3257735"/>
                  </a:cubicBezTo>
                  <a:cubicBezTo>
                    <a:pt x="1738291" y="3279063"/>
                    <a:pt x="1709364" y="3291044"/>
                    <a:pt x="1679203" y="3291044"/>
                  </a:cubicBezTo>
                  <a:lnTo>
                    <a:pt x="113726" y="3291044"/>
                  </a:lnTo>
                  <a:cubicBezTo>
                    <a:pt x="83564" y="3291044"/>
                    <a:pt x="54637" y="3279063"/>
                    <a:pt x="33310" y="3257735"/>
                  </a:cubicBezTo>
                  <a:cubicBezTo>
                    <a:pt x="11982" y="3236407"/>
                    <a:pt x="0" y="3207481"/>
                    <a:pt x="0" y="3177318"/>
                  </a:cubicBezTo>
                  <a:lnTo>
                    <a:pt x="0" y="113726"/>
                  </a:lnTo>
                  <a:cubicBezTo>
                    <a:pt x="0" y="83564"/>
                    <a:pt x="11982" y="54637"/>
                    <a:pt x="33310" y="33310"/>
                  </a:cubicBezTo>
                  <a:cubicBezTo>
                    <a:pt x="54637" y="11982"/>
                    <a:pt x="83564" y="0"/>
                    <a:pt x="113726" y="0"/>
                  </a:cubicBezTo>
                  <a:close/>
                </a:path>
              </a:pathLst>
            </a:custGeom>
            <a:gradFill rotWithShape="true">
              <a:gsLst>
                <a:gs pos="0">
                  <a:srgbClr val="1B68C9">
                    <a:alpha val="100000"/>
                  </a:srgbClr>
                </a:gs>
                <a:gs pos="50000">
                  <a:srgbClr val="6797CC">
                    <a:alpha val="100000"/>
                  </a:srgbClr>
                </a:gs>
                <a:gs pos="100000">
                  <a:srgbClr val="FFFFFF">
                    <a:alpha val="100000"/>
                  </a:srgbClr>
                </a:gs>
              </a:gsLst>
              <a:lin ang="2700000"/>
            </a:gradFill>
          </p:spPr>
        </p:sp>
        <p:sp>
          <p:nvSpPr>
            <p:cNvPr name="TextBox 8" id="8"/>
            <p:cNvSpPr txBox="true"/>
            <p:nvPr/>
          </p:nvSpPr>
          <p:spPr>
            <a:xfrm>
              <a:off x="0" y="-38100"/>
              <a:ext cx="1792928" cy="3329144"/>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10759" y="7422463"/>
            <a:ext cx="1439891" cy="1439891"/>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B68C9">
                    <a:alpha val="100000"/>
                  </a:srgbClr>
                </a:gs>
                <a:gs pos="50000">
                  <a:srgbClr val="6797CC">
                    <a:alpha val="100000"/>
                  </a:srgbClr>
                </a:gs>
                <a:gs pos="100000">
                  <a:srgbClr val="FFFFFF">
                    <a:alpha val="100000"/>
                  </a:srgbClr>
                </a:gs>
              </a:gsLst>
              <a:lin ang="2700000"/>
            </a:gra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10156184" y="1678262"/>
            <a:ext cx="6930475" cy="6930475"/>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B68C9">
                    <a:alpha val="100000"/>
                  </a:srgbClr>
                </a:gs>
                <a:gs pos="50000">
                  <a:srgbClr val="6797CC">
                    <a:alpha val="100000"/>
                  </a:srgbClr>
                </a:gs>
                <a:gs pos="100000">
                  <a:srgbClr val="FFFFFF">
                    <a:alpha val="100000"/>
                  </a:srgbClr>
                </a:gs>
              </a:gsLst>
              <a:lin ang="2700000"/>
            </a:gra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p:nvPr/>
        </p:nvGrpSpPr>
        <p:grpSpPr>
          <a:xfrm rot="0">
            <a:off x="10403928" y="1926006"/>
            <a:ext cx="6434987" cy="6434987"/>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612" t="0" r="-612" b="0"/>
              </a:stretch>
            </a:blipFill>
            <a:ln w="114300" cap="sq">
              <a:solidFill>
                <a:srgbClr val="FFFFFF"/>
              </a:solidFill>
              <a:prstDash val="solid"/>
              <a:miter/>
            </a:ln>
          </p:spPr>
        </p:sp>
      </p:grpSp>
      <p:sp>
        <p:nvSpPr>
          <p:cNvPr name="TextBox 17" id="17"/>
          <p:cNvSpPr txBox="true"/>
          <p:nvPr/>
        </p:nvSpPr>
        <p:spPr>
          <a:xfrm rot="0">
            <a:off x="529132" y="2676863"/>
            <a:ext cx="13023288" cy="1397880"/>
          </a:xfrm>
          <a:prstGeom prst="rect">
            <a:avLst/>
          </a:prstGeom>
        </p:spPr>
        <p:txBody>
          <a:bodyPr anchor="t" rtlCol="false" tIns="0" lIns="0" bIns="0" rIns="0">
            <a:spAutoFit/>
          </a:bodyPr>
          <a:lstStyle/>
          <a:p>
            <a:pPr algn="l">
              <a:lnSpc>
                <a:spcPts val="10607"/>
              </a:lnSpc>
            </a:pPr>
            <a:r>
              <a:rPr lang="en-US" sz="10199">
                <a:solidFill>
                  <a:srgbClr val="070A10"/>
                </a:solidFill>
                <a:latin typeface="Anton"/>
                <a:ea typeface="Anton"/>
                <a:cs typeface="Anton"/>
                <a:sym typeface="Anton"/>
              </a:rPr>
              <a:t>MANAGING DIRECTOR</a:t>
            </a:r>
          </a:p>
        </p:txBody>
      </p:sp>
      <p:sp>
        <p:nvSpPr>
          <p:cNvPr name="TextBox 18" id="18"/>
          <p:cNvSpPr txBox="true"/>
          <p:nvPr/>
        </p:nvSpPr>
        <p:spPr>
          <a:xfrm rot="0">
            <a:off x="666196" y="4657967"/>
            <a:ext cx="8700114" cy="4445400"/>
          </a:xfrm>
          <a:prstGeom prst="rect">
            <a:avLst/>
          </a:prstGeom>
        </p:spPr>
        <p:txBody>
          <a:bodyPr anchor="t" rtlCol="false" tIns="0" lIns="0" bIns="0" rIns="0">
            <a:spAutoFit/>
          </a:bodyPr>
          <a:lstStyle/>
          <a:p>
            <a:pPr algn="l">
              <a:lnSpc>
                <a:spcPts val="3545"/>
              </a:lnSpc>
            </a:pPr>
            <a:r>
              <a:rPr lang="en-US" sz="2061" spc="76">
                <a:solidFill>
                  <a:srgbClr val="545454"/>
                </a:solidFill>
                <a:latin typeface="Roboto"/>
                <a:ea typeface="Roboto"/>
                <a:cs typeface="Roboto"/>
                <a:sym typeface="Roboto"/>
              </a:rPr>
              <a:t>Mr. PRITHVIPAL, whohas achievedexcellentexposure of 12 years in civil engineering services by providing complete client satisfaction. Further He has experience in handing over the project within an agreed timeframe and budget, ensuring safety. He works closely with architects and other building professionals with Main focus in excellent planning, organizational skills and utilizing resou effectively. He has wide experience in the field of civil engineering that in Civil works, MEP works, Firefighting works, Rainwater Harvesting works Horticulture works, Interior and Exterior works, Designing works, Lubrication and Laying Service.  </a:t>
            </a:r>
          </a:p>
        </p:txBody>
      </p:sp>
      <p:sp>
        <p:nvSpPr>
          <p:cNvPr name="TextBox 19" id="19"/>
          <p:cNvSpPr txBox="true"/>
          <p:nvPr/>
        </p:nvSpPr>
        <p:spPr>
          <a:xfrm rot="0">
            <a:off x="666196" y="4065397"/>
            <a:ext cx="7733673" cy="1078103"/>
          </a:xfrm>
          <a:prstGeom prst="rect">
            <a:avLst/>
          </a:prstGeom>
        </p:spPr>
        <p:txBody>
          <a:bodyPr anchor="t" rtlCol="false" tIns="0" lIns="0" bIns="0" rIns="0">
            <a:spAutoFit/>
          </a:bodyPr>
          <a:lstStyle/>
          <a:p>
            <a:pPr algn="l">
              <a:lnSpc>
                <a:spcPts val="4216"/>
              </a:lnSpc>
            </a:pPr>
            <a:r>
              <a:rPr lang="en-US" sz="3400" spc="6" b="true">
                <a:solidFill>
                  <a:srgbClr val="070A10"/>
                </a:solidFill>
                <a:latin typeface="Roboto Bold"/>
                <a:ea typeface="Roboto Bold"/>
                <a:cs typeface="Roboto Bold"/>
                <a:sym typeface="Roboto Bold"/>
              </a:rPr>
              <a:t>Mr. Prithvi Singh</a:t>
            </a:r>
          </a:p>
          <a:p>
            <a:pPr algn="l">
              <a:lnSpc>
                <a:spcPts val="4216"/>
              </a:lnSpc>
            </a:pPr>
          </a:p>
        </p:txBody>
      </p:sp>
      <p:grpSp>
        <p:nvGrpSpPr>
          <p:cNvPr name="Group 20" id="20"/>
          <p:cNvGrpSpPr/>
          <p:nvPr/>
        </p:nvGrpSpPr>
        <p:grpSpPr>
          <a:xfrm rot="0">
            <a:off x="11951480" y="-561139"/>
            <a:ext cx="1122278" cy="1122278"/>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B68C9">
                    <a:alpha val="100000"/>
                  </a:srgbClr>
                </a:gs>
                <a:gs pos="50000">
                  <a:srgbClr val="6797CC">
                    <a:alpha val="100000"/>
                  </a:srgbClr>
                </a:gs>
                <a:gs pos="100000">
                  <a:srgbClr val="FFFFFF">
                    <a:alpha val="100000"/>
                  </a:srgbClr>
                </a:gs>
              </a:gsLst>
              <a:lin ang="2700000"/>
            </a:gradFill>
          </p:spPr>
        </p:sp>
        <p:sp>
          <p:nvSpPr>
            <p:cNvPr name="TextBox 22" id="22"/>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23" id="23"/>
          <p:cNvSpPr/>
          <p:nvPr/>
        </p:nvSpPr>
        <p:spPr>
          <a:xfrm flipH="false" flipV="false" rot="0">
            <a:off x="43734" y="0"/>
            <a:ext cx="2550732" cy="2143705"/>
          </a:xfrm>
          <a:custGeom>
            <a:avLst/>
            <a:gdLst/>
            <a:ahLst/>
            <a:cxnLst/>
            <a:rect r="r" b="b" t="t" l="l"/>
            <a:pathLst>
              <a:path h="2143705" w="2550732">
                <a:moveTo>
                  <a:pt x="0" y="0"/>
                </a:moveTo>
                <a:lnTo>
                  <a:pt x="2550732" y="0"/>
                </a:lnTo>
                <a:lnTo>
                  <a:pt x="2550732" y="2143705"/>
                </a:lnTo>
                <a:lnTo>
                  <a:pt x="0" y="2143705"/>
                </a:lnTo>
                <a:lnTo>
                  <a:pt x="0" y="0"/>
                </a:lnTo>
                <a:close/>
              </a:path>
            </a:pathLst>
          </a:custGeom>
          <a:blipFill>
            <a:blip r:embed="rId4"/>
            <a:stretch>
              <a:fillRect l="-370198" t="-214886" r="-309" b="-1564"/>
            </a:stretch>
          </a:blipFill>
        </p:spPr>
      </p:sp>
      <p:sp>
        <p:nvSpPr>
          <p:cNvPr name="TextBox 24" id="24"/>
          <p:cNvSpPr txBox="true"/>
          <p:nvPr/>
        </p:nvSpPr>
        <p:spPr>
          <a:xfrm rot="0">
            <a:off x="1028700" y="9577544"/>
            <a:ext cx="5506238" cy="452501"/>
          </a:xfrm>
          <a:prstGeom prst="rect">
            <a:avLst/>
          </a:prstGeom>
        </p:spPr>
        <p:txBody>
          <a:bodyPr anchor="t" rtlCol="false" tIns="0" lIns="0" bIns="0" rIns="0">
            <a:spAutoFit/>
          </a:bodyPr>
          <a:lstStyle/>
          <a:p>
            <a:pPr algn="l">
              <a:lnSpc>
                <a:spcPts val="3471"/>
              </a:lnSpc>
            </a:pPr>
            <a:r>
              <a:rPr lang="en-US" sz="2799" b="true">
                <a:solidFill>
                  <a:srgbClr val="FFFFFF"/>
                </a:solidFill>
                <a:latin typeface="Roboto Bold"/>
                <a:ea typeface="Roboto Bold"/>
                <a:cs typeface="Roboto Bold"/>
                <a:sym typeface="Roboto Bold"/>
              </a:rPr>
              <a:t>www.cresentcare.in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grpSp>
        <p:nvGrpSpPr>
          <p:cNvPr name="Group 3" id="3"/>
          <p:cNvGrpSpPr/>
          <p:nvPr/>
        </p:nvGrpSpPr>
        <p:grpSpPr>
          <a:xfrm rot="0">
            <a:off x="-474832" y="9258300"/>
            <a:ext cx="20055435" cy="1119564"/>
            <a:chOff x="0" y="0"/>
            <a:chExt cx="5282090" cy="294864"/>
          </a:xfrm>
        </p:grpSpPr>
        <p:sp>
          <p:nvSpPr>
            <p:cNvPr name="Freeform 4" id="4"/>
            <p:cNvSpPr/>
            <p:nvPr/>
          </p:nvSpPr>
          <p:spPr>
            <a:xfrm flipH="false" flipV="false" rot="0">
              <a:off x="0" y="0"/>
              <a:ext cx="5282090" cy="294864"/>
            </a:xfrm>
            <a:custGeom>
              <a:avLst/>
              <a:gdLst/>
              <a:ahLst/>
              <a:cxnLst/>
              <a:rect r="r" b="b" t="t" l="l"/>
              <a:pathLst>
                <a:path h="294864" w="5282090">
                  <a:moveTo>
                    <a:pt x="38603" y="0"/>
                  </a:moveTo>
                  <a:lnTo>
                    <a:pt x="5243487" y="0"/>
                  </a:lnTo>
                  <a:cubicBezTo>
                    <a:pt x="5253725" y="0"/>
                    <a:pt x="5263544" y="4067"/>
                    <a:pt x="5270784" y="11306"/>
                  </a:cubicBezTo>
                  <a:cubicBezTo>
                    <a:pt x="5278023" y="18546"/>
                    <a:pt x="5282090" y="28365"/>
                    <a:pt x="5282090" y="38603"/>
                  </a:cubicBezTo>
                  <a:lnTo>
                    <a:pt x="5282090" y="256262"/>
                  </a:lnTo>
                  <a:cubicBezTo>
                    <a:pt x="5282090" y="266500"/>
                    <a:pt x="5278023" y="276319"/>
                    <a:pt x="5270784" y="283558"/>
                  </a:cubicBezTo>
                  <a:cubicBezTo>
                    <a:pt x="5263544" y="290797"/>
                    <a:pt x="5253725" y="294864"/>
                    <a:pt x="5243487" y="294864"/>
                  </a:cubicBezTo>
                  <a:lnTo>
                    <a:pt x="38603" y="294864"/>
                  </a:lnTo>
                  <a:cubicBezTo>
                    <a:pt x="28365" y="294864"/>
                    <a:pt x="18546" y="290797"/>
                    <a:pt x="11306" y="283558"/>
                  </a:cubicBezTo>
                  <a:cubicBezTo>
                    <a:pt x="4067" y="276319"/>
                    <a:pt x="0" y="266500"/>
                    <a:pt x="0" y="256262"/>
                  </a:cubicBezTo>
                  <a:lnTo>
                    <a:pt x="0" y="38603"/>
                  </a:lnTo>
                  <a:cubicBezTo>
                    <a:pt x="0" y="28365"/>
                    <a:pt x="4067" y="18546"/>
                    <a:pt x="11306" y="11306"/>
                  </a:cubicBezTo>
                  <a:cubicBezTo>
                    <a:pt x="18546" y="4067"/>
                    <a:pt x="28365" y="0"/>
                    <a:pt x="38603" y="0"/>
                  </a:cubicBezTo>
                  <a:close/>
                </a:path>
              </a:pathLst>
            </a:custGeom>
            <a:gradFill rotWithShape="true">
              <a:gsLst>
                <a:gs pos="0">
                  <a:srgbClr val="1B68C9">
                    <a:alpha val="100000"/>
                  </a:srgbClr>
                </a:gs>
                <a:gs pos="50000">
                  <a:srgbClr val="6797CC">
                    <a:alpha val="100000"/>
                  </a:srgbClr>
                </a:gs>
                <a:gs pos="100000">
                  <a:srgbClr val="FFFFFF">
                    <a:alpha val="100000"/>
                  </a:srgbClr>
                </a:gs>
              </a:gsLst>
              <a:lin ang="2700000"/>
            </a:gradFill>
          </p:spPr>
        </p:sp>
        <p:sp>
          <p:nvSpPr>
            <p:cNvPr name="TextBox 5" id="5"/>
            <p:cNvSpPr txBox="true"/>
            <p:nvPr/>
          </p:nvSpPr>
          <p:spPr>
            <a:xfrm>
              <a:off x="0" y="-38100"/>
              <a:ext cx="5282090" cy="332964"/>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028700" y="9532112"/>
            <a:ext cx="5506238" cy="452501"/>
          </a:xfrm>
          <a:prstGeom prst="rect">
            <a:avLst/>
          </a:prstGeom>
        </p:spPr>
        <p:txBody>
          <a:bodyPr anchor="t" rtlCol="false" tIns="0" lIns="0" bIns="0" rIns="0">
            <a:spAutoFit/>
          </a:bodyPr>
          <a:lstStyle/>
          <a:p>
            <a:pPr algn="l">
              <a:lnSpc>
                <a:spcPts val="3471"/>
              </a:lnSpc>
            </a:pPr>
            <a:r>
              <a:rPr lang="en-US" sz="2799" b="true">
                <a:solidFill>
                  <a:srgbClr val="FFFFFF"/>
                </a:solidFill>
                <a:latin typeface="Roboto Bold"/>
                <a:ea typeface="Roboto Bold"/>
                <a:cs typeface="Roboto Bold"/>
                <a:sym typeface="Roboto Bold"/>
              </a:rPr>
              <a:t>www.cresentcare.in</a:t>
            </a:r>
          </a:p>
        </p:txBody>
      </p:sp>
      <p:sp>
        <p:nvSpPr>
          <p:cNvPr name="TextBox 7" id="7"/>
          <p:cNvSpPr txBox="true"/>
          <p:nvPr/>
        </p:nvSpPr>
        <p:spPr>
          <a:xfrm rot="0">
            <a:off x="5277164" y="1051488"/>
            <a:ext cx="7733673" cy="1476744"/>
          </a:xfrm>
          <a:prstGeom prst="rect">
            <a:avLst/>
          </a:prstGeom>
        </p:spPr>
        <p:txBody>
          <a:bodyPr anchor="t" rtlCol="false" tIns="0" lIns="0" bIns="0" rIns="0">
            <a:spAutoFit/>
          </a:bodyPr>
          <a:lstStyle/>
          <a:p>
            <a:pPr algn="ctr">
              <a:lnSpc>
                <a:spcPts val="11231"/>
              </a:lnSpc>
            </a:pPr>
            <a:r>
              <a:rPr lang="en-US" sz="10799">
                <a:solidFill>
                  <a:srgbClr val="000000"/>
                </a:solidFill>
                <a:latin typeface="Anton"/>
                <a:ea typeface="Anton"/>
                <a:cs typeface="Anton"/>
                <a:sym typeface="Anton"/>
              </a:rPr>
              <a:t>OUR TEAM</a:t>
            </a:r>
          </a:p>
        </p:txBody>
      </p:sp>
      <p:grpSp>
        <p:nvGrpSpPr>
          <p:cNvPr name="Group 8" id="8"/>
          <p:cNvGrpSpPr/>
          <p:nvPr/>
        </p:nvGrpSpPr>
        <p:grpSpPr>
          <a:xfrm rot="0">
            <a:off x="847725" y="3132732"/>
            <a:ext cx="5172863" cy="1235936"/>
            <a:chOff x="0" y="0"/>
            <a:chExt cx="1362400" cy="325514"/>
          </a:xfrm>
        </p:grpSpPr>
        <p:sp>
          <p:nvSpPr>
            <p:cNvPr name="Freeform 9" id="9"/>
            <p:cNvSpPr/>
            <p:nvPr/>
          </p:nvSpPr>
          <p:spPr>
            <a:xfrm flipH="false" flipV="false" rot="0">
              <a:off x="0" y="0"/>
              <a:ext cx="1362400" cy="325514"/>
            </a:xfrm>
            <a:custGeom>
              <a:avLst/>
              <a:gdLst/>
              <a:ahLst/>
              <a:cxnLst/>
              <a:rect r="r" b="b" t="t" l="l"/>
              <a:pathLst>
                <a:path h="325514" w="1362400">
                  <a:moveTo>
                    <a:pt x="149664" y="0"/>
                  </a:moveTo>
                  <a:lnTo>
                    <a:pt x="1212736" y="0"/>
                  </a:lnTo>
                  <a:cubicBezTo>
                    <a:pt x="1252430" y="0"/>
                    <a:pt x="1290497" y="15768"/>
                    <a:pt x="1318565" y="43836"/>
                  </a:cubicBezTo>
                  <a:cubicBezTo>
                    <a:pt x="1346632" y="71903"/>
                    <a:pt x="1362400" y="109971"/>
                    <a:pt x="1362400" y="149664"/>
                  </a:cubicBezTo>
                  <a:lnTo>
                    <a:pt x="1362400" y="175850"/>
                  </a:lnTo>
                  <a:cubicBezTo>
                    <a:pt x="1362400" y="258507"/>
                    <a:pt x="1295393" y="325514"/>
                    <a:pt x="1212736" y="325514"/>
                  </a:cubicBezTo>
                  <a:lnTo>
                    <a:pt x="149664" y="325514"/>
                  </a:lnTo>
                  <a:cubicBezTo>
                    <a:pt x="67007" y="325514"/>
                    <a:pt x="0" y="258507"/>
                    <a:pt x="0" y="175850"/>
                  </a:cubicBezTo>
                  <a:lnTo>
                    <a:pt x="0" y="149664"/>
                  </a:lnTo>
                  <a:cubicBezTo>
                    <a:pt x="0" y="67007"/>
                    <a:pt x="67007" y="0"/>
                    <a:pt x="149664" y="0"/>
                  </a:cubicBezTo>
                  <a:close/>
                </a:path>
              </a:pathLst>
            </a:custGeom>
            <a:gradFill rotWithShape="true">
              <a:gsLst>
                <a:gs pos="0">
                  <a:srgbClr val="1B68C9">
                    <a:alpha val="100000"/>
                  </a:srgbClr>
                </a:gs>
                <a:gs pos="50000">
                  <a:srgbClr val="6696CC">
                    <a:alpha val="100000"/>
                  </a:srgbClr>
                </a:gs>
                <a:gs pos="100000">
                  <a:srgbClr val="1B68C9">
                    <a:alpha val="100000"/>
                  </a:srgbClr>
                </a:gs>
              </a:gsLst>
              <a:lin ang="2700000"/>
            </a:gradFill>
          </p:spPr>
        </p:sp>
        <p:sp>
          <p:nvSpPr>
            <p:cNvPr name="TextBox 10" id="10"/>
            <p:cNvSpPr txBox="true"/>
            <p:nvPr/>
          </p:nvSpPr>
          <p:spPr>
            <a:xfrm>
              <a:off x="0" y="-38100"/>
              <a:ext cx="1362400" cy="363614"/>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1363383" y="3320834"/>
            <a:ext cx="4141548" cy="507619"/>
          </a:xfrm>
          <a:prstGeom prst="rect">
            <a:avLst/>
          </a:prstGeom>
        </p:spPr>
        <p:txBody>
          <a:bodyPr anchor="t" rtlCol="false" tIns="0" lIns="0" bIns="0" rIns="0">
            <a:spAutoFit/>
          </a:bodyPr>
          <a:lstStyle/>
          <a:p>
            <a:pPr algn="ctr">
              <a:lnSpc>
                <a:spcPts val="3968"/>
              </a:lnSpc>
            </a:pPr>
            <a:r>
              <a:rPr lang="en-US" sz="3200" b="true">
                <a:solidFill>
                  <a:srgbClr val="FFFFFF"/>
                </a:solidFill>
                <a:latin typeface="Roboto Bold"/>
                <a:ea typeface="Roboto Bold"/>
                <a:cs typeface="Roboto Bold"/>
                <a:sym typeface="Roboto Bold"/>
              </a:rPr>
              <a:t> Mr. Aftaab</a:t>
            </a:r>
          </a:p>
        </p:txBody>
      </p:sp>
      <p:grpSp>
        <p:nvGrpSpPr>
          <p:cNvPr name="Group 12" id="12"/>
          <p:cNvGrpSpPr/>
          <p:nvPr/>
        </p:nvGrpSpPr>
        <p:grpSpPr>
          <a:xfrm rot="0">
            <a:off x="6534938" y="3104157"/>
            <a:ext cx="5104677" cy="1235936"/>
            <a:chOff x="0" y="0"/>
            <a:chExt cx="1344442" cy="325514"/>
          </a:xfrm>
        </p:grpSpPr>
        <p:sp>
          <p:nvSpPr>
            <p:cNvPr name="Freeform 13" id="13"/>
            <p:cNvSpPr/>
            <p:nvPr/>
          </p:nvSpPr>
          <p:spPr>
            <a:xfrm flipH="false" flipV="false" rot="0">
              <a:off x="0" y="0"/>
              <a:ext cx="1344442" cy="325514"/>
            </a:xfrm>
            <a:custGeom>
              <a:avLst/>
              <a:gdLst/>
              <a:ahLst/>
              <a:cxnLst/>
              <a:rect r="r" b="b" t="t" l="l"/>
              <a:pathLst>
                <a:path h="325514" w="1344442">
                  <a:moveTo>
                    <a:pt x="151663" y="0"/>
                  </a:moveTo>
                  <a:lnTo>
                    <a:pt x="1192779" y="0"/>
                  </a:lnTo>
                  <a:cubicBezTo>
                    <a:pt x="1233002" y="0"/>
                    <a:pt x="1271578" y="15979"/>
                    <a:pt x="1300021" y="44421"/>
                  </a:cubicBezTo>
                  <a:cubicBezTo>
                    <a:pt x="1328463" y="72864"/>
                    <a:pt x="1344442" y="111440"/>
                    <a:pt x="1344442" y="151663"/>
                  </a:cubicBezTo>
                  <a:lnTo>
                    <a:pt x="1344442" y="173851"/>
                  </a:lnTo>
                  <a:cubicBezTo>
                    <a:pt x="1344442" y="214074"/>
                    <a:pt x="1328463" y="252651"/>
                    <a:pt x="1300021" y="281093"/>
                  </a:cubicBezTo>
                  <a:cubicBezTo>
                    <a:pt x="1271578" y="309535"/>
                    <a:pt x="1233002" y="325514"/>
                    <a:pt x="1192779" y="325514"/>
                  </a:cubicBezTo>
                  <a:lnTo>
                    <a:pt x="151663" y="325514"/>
                  </a:lnTo>
                  <a:cubicBezTo>
                    <a:pt x="111440" y="325514"/>
                    <a:pt x="72864" y="309535"/>
                    <a:pt x="44421" y="281093"/>
                  </a:cubicBezTo>
                  <a:cubicBezTo>
                    <a:pt x="15979" y="252651"/>
                    <a:pt x="0" y="214074"/>
                    <a:pt x="0" y="173851"/>
                  </a:cubicBezTo>
                  <a:lnTo>
                    <a:pt x="0" y="151663"/>
                  </a:lnTo>
                  <a:cubicBezTo>
                    <a:pt x="0" y="111440"/>
                    <a:pt x="15979" y="72864"/>
                    <a:pt x="44421" y="44421"/>
                  </a:cubicBezTo>
                  <a:cubicBezTo>
                    <a:pt x="72864" y="15979"/>
                    <a:pt x="111440" y="0"/>
                    <a:pt x="151663" y="0"/>
                  </a:cubicBezTo>
                  <a:close/>
                </a:path>
              </a:pathLst>
            </a:custGeom>
            <a:gradFill rotWithShape="true">
              <a:gsLst>
                <a:gs pos="0">
                  <a:srgbClr val="1B68C9">
                    <a:alpha val="100000"/>
                  </a:srgbClr>
                </a:gs>
                <a:gs pos="50000">
                  <a:srgbClr val="6696CC">
                    <a:alpha val="100000"/>
                  </a:srgbClr>
                </a:gs>
                <a:gs pos="100000">
                  <a:srgbClr val="1B68C9">
                    <a:alpha val="100000"/>
                  </a:srgbClr>
                </a:gs>
              </a:gsLst>
              <a:lin ang="2700000"/>
            </a:gradFill>
          </p:spPr>
        </p:sp>
        <p:sp>
          <p:nvSpPr>
            <p:cNvPr name="TextBox 14" id="14"/>
            <p:cNvSpPr txBox="true"/>
            <p:nvPr/>
          </p:nvSpPr>
          <p:spPr>
            <a:xfrm>
              <a:off x="0" y="-38100"/>
              <a:ext cx="1344442" cy="363614"/>
            </a:xfrm>
            <a:prstGeom prst="rect">
              <a:avLst/>
            </a:prstGeom>
          </p:spPr>
          <p:txBody>
            <a:bodyPr anchor="ctr" rtlCol="false" tIns="50800" lIns="50800" bIns="50800" rIns="50800"/>
            <a:lstStyle/>
            <a:p>
              <a:pPr algn="ctr">
                <a:lnSpc>
                  <a:spcPts val="2659"/>
                </a:lnSpc>
              </a:pPr>
            </a:p>
          </p:txBody>
        </p:sp>
      </p:grpSp>
      <p:sp>
        <p:nvSpPr>
          <p:cNvPr name="TextBox 15" id="15"/>
          <p:cNvSpPr txBox="true"/>
          <p:nvPr/>
        </p:nvSpPr>
        <p:spPr>
          <a:xfrm rot="0">
            <a:off x="7165833" y="3257668"/>
            <a:ext cx="3842888" cy="507619"/>
          </a:xfrm>
          <a:prstGeom prst="rect">
            <a:avLst/>
          </a:prstGeom>
        </p:spPr>
        <p:txBody>
          <a:bodyPr anchor="t" rtlCol="false" tIns="0" lIns="0" bIns="0" rIns="0">
            <a:spAutoFit/>
          </a:bodyPr>
          <a:lstStyle/>
          <a:p>
            <a:pPr algn="ctr">
              <a:lnSpc>
                <a:spcPts val="3968"/>
              </a:lnSpc>
            </a:pPr>
            <a:r>
              <a:rPr lang="en-US" sz="3200" b="true">
                <a:solidFill>
                  <a:srgbClr val="FFFFFF"/>
                </a:solidFill>
                <a:latin typeface="Roboto Bold"/>
                <a:ea typeface="Roboto Bold"/>
                <a:cs typeface="Roboto Bold"/>
                <a:sym typeface="Roboto Bold"/>
              </a:rPr>
              <a:t>Mr. Amir Saifi</a:t>
            </a:r>
          </a:p>
        </p:txBody>
      </p:sp>
      <p:grpSp>
        <p:nvGrpSpPr>
          <p:cNvPr name="Group 16" id="16"/>
          <p:cNvGrpSpPr/>
          <p:nvPr/>
        </p:nvGrpSpPr>
        <p:grpSpPr>
          <a:xfrm rot="0">
            <a:off x="11972895" y="3104157"/>
            <a:ext cx="5050159" cy="1235936"/>
            <a:chOff x="0" y="0"/>
            <a:chExt cx="1330083" cy="325514"/>
          </a:xfrm>
        </p:grpSpPr>
        <p:sp>
          <p:nvSpPr>
            <p:cNvPr name="Freeform 17" id="17"/>
            <p:cNvSpPr/>
            <p:nvPr/>
          </p:nvSpPr>
          <p:spPr>
            <a:xfrm flipH="false" flipV="false" rot="0">
              <a:off x="0" y="0"/>
              <a:ext cx="1330083" cy="325514"/>
            </a:xfrm>
            <a:custGeom>
              <a:avLst/>
              <a:gdLst/>
              <a:ahLst/>
              <a:cxnLst/>
              <a:rect r="r" b="b" t="t" l="l"/>
              <a:pathLst>
                <a:path h="325514" w="1330083">
                  <a:moveTo>
                    <a:pt x="153301" y="0"/>
                  </a:moveTo>
                  <a:lnTo>
                    <a:pt x="1176783" y="0"/>
                  </a:lnTo>
                  <a:cubicBezTo>
                    <a:pt x="1261448" y="0"/>
                    <a:pt x="1330083" y="68635"/>
                    <a:pt x="1330083" y="153301"/>
                  </a:cubicBezTo>
                  <a:lnTo>
                    <a:pt x="1330083" y="172214"/>
                  </a:lnTo>
                  <a:cubicBezTo>
                    <a:pt x="1330083" y="256879"/>
                    <a:pt x="1261448" y="325514"/>
                    <a:pt x="1176783" y="325514"/>
                  </a:cubicBezTo>
                  <a:lnTo>
                    <a:pt x="153301" y="325514"/>
                  </a:lnTo>
                  <a:cubicBezTo>
                    <a:pt x="68635" y="325514"/>
                    <a:pt x="0" y="256879"/>
                    <a:pt x="0" y="172214"/>
                  </a:cubicBezTo>
                  <a:lnTo>
                    <a:pt x="0" y="153301"/>
                  </a:lnTo>
                  <a:cubicBezTo>
                    <a:pt x="0" y="68635"/>
                    <a:pt x="68635" y="0"/>
                    <a:pt x="153301" y="0"/>
                  </a:cubicBezTo>
                  <a:close/>
                </a:path>
              </a:pathLst>
            </a:custGeom>
            <a:gradFill rotWithShape="true">
              <a:gsLst>
                <a:gs pos="0">
                  <a:srgbClr val="1B68C9">
                    <a:alpha val="100000"/>
                  </a:srgbClr>
                </a:gs>
                <a:gs pos="50000">
                  <a:srgbClr val="6696CC">
                    <a:alpha val="100000"/>
                  </a:srgbClr>
                </a:gs>
                <a:gs pos="100000">
                  <a:srgbClr val="1B68C9">
                    <a:alpha val="100000"/>
                  </a:srgbClr>
                </a:gs>
              </a:gsLst>
              <a:lin ang="2700000"/>
            </a:gradFill>
          </p:spPr>
        </p:sp>
        <p:sp>
          <p:nvSpPr>
            <p:cNvPr name="TextBox 18" id="18"/>
            <p:cNvSpPr txBox="true"/>
            <p:nvPr/>
          </p:nvSpPr>
          <p:spPr>
            <a:xfrm>
              <a:off x="0" y="-38100"/>
              <a:ext cx="1330083" cy="363614"/>
            </a:xfrm>
            <a:prstGeom prst="rect">
              <a:avLst/>
            </a:prstGeom>
          </p:spPr>
          <p:txBody>
            <a:bodyPr anchor="ctr" rtlCol="false" tIns="50800" lIns="50800" bIns="50800" rIns="50800"/>
            <a:lstStyle/>
            <a:p>
              <a:pPr algn="ctr">
                <a:lnSpc>
                  <a:spcPts val="2659"/>
                </a:lnSpc>
              </a:pPr>
            </a:p>
          </p:txBody>
        </p:sp>
      </p:grpSp>
      <p:sp>
        <p:nvSpPr>
          <p:cNvPr name="TextBox 19" id="19"/>
          <p:cNvSpPr txBox="true"/>
          <p:nvPr/>
        </p:nvSpPr>
        <p:spPr>
          <a:xfrm rot="0">
            <a:off x="12545324" y="3257668"/>
            <a:ext cx="4141548" cy="507619"/>
          </a:xfrm>
          <a:prstGeom prst="rect">
            <a:avLst/>
          </a:prstGeom>
        </p:spPr>
        <p:txBody>
          <a:bodyPr anchor="t" rtlCol="false" tIns="0" lIns="0" bIns="0" rIns="0">
            <a:spAutoFit/>
          </a:bodyPr>
          <a:lstStyle/>
          <a:p>
            <a:pPr algn="ctr">
              <a:lnSpc>
                <a:spcPts val="3968"/>
              </a:lnSpc>
            </a:pPr>
            <a:r>
              <a:rPr lang="en-US" sz="3200" b="true">
                <a:solidFill>
                  <a:srgbClr val="FFFFFF"/>
                </a:solidFill>
                <a:latin typeface="Roboto Bold"/>
                <a:ea typeface="Roboto Bold"/>
                <a:cs typeface="Roboto Bold"/>
                <a:sym typeface="Roboto Bold"/>
              </a:rPr>
              <a:t>Mr. Junaid Javaidani</a:t>
            </a:r>
          </a:p>
        </p:txBody>
      </p:sp>
      <p:sp>
        <p:nvSpPr>
          <p:cNvPr name="TextBox 20" id="20"/>
          <p:cNvSpPr txBox="true"/>
          <p:nvPr/>
        </p:nvSpPr>
        <p:spPr>
          <a:xfrm rot="0">
            <a:off x="1672597" y="3818928"/>
            <a:ext cx="3423591" cy="387350"/>
          </a:xfrm>
          <a:prstGeom prst="rect">
            <a:avLst/>
          </a:prstGeom>
        </p:spPr>
        <p:txBody>
          <a:bodyPr anchor="t" rtlCol="false" tIns="0" lIns="0" bIns="0" rIns="0">
            <a:spAutoFit/>
          </a:bodyPr>
          <a:lstStyle/>
          <a:p>
            <a:pPr algn="ctr">
              <a:lnSpc>
                <a:spcPts val="3099"/>
              </a:lnSpc>
            </a:pPr>
            <a:r>
              <a:rPr lang="en-US" sz="2499">
                <a:solidFill>
                  <a:srgbClr val="FFFFFF"/>
                </a:solidFill>
                <a:latin typeface="Roboto"/>
                <a:ea typeface="Roboto"/>
                <a:cs typeface="Roboto"/>
                <a:sym typeface="Roboto"/>
              </a:rPr>
              <a:t>Project Manager : </a:t>
            </a:r>
          </a:p>
        </p:txBody>
      </p:sp>
      <p:sp>
        <p:nvSpPr>
          <p:cNvPr name="TextBox 21" id="21"/>
          <p:cNvSpPr txBox="true"/>
          <p:nvPr/>
        </p:nvSpPr>
        <p:spPr>
          <a:xfrm rot="0">
            <a:off x="7473166" y="3790353"/>
            <a:ext cx="3044928" cy="387350"/>
          </a:xfrm>
          <a:prstGeom prst="rect">
            <a:avLst/>
          </a:prstGeom>
        </p:spPr>
        <p:txBody>
          <a:bodyPr anchor="t" rtlCol="false" tIns="0" lIns="0" bIns="0" rIns="0">
            <a:spAutoFit/>
          </a:bodyPr>
          <a:lstStyle/>
          <a:p>
            <a:pPr algn="ctr">
              <a:lnSpc>
                <a:spcPts val="3099"/>
              </a:lnSpc>
            </a:pPr>
            <a:r>
              <a:rPr lang="en-US" sz="2499">
                <a:solidFill>
                  <a:srgbClr val="FFFFFF"/>
                </a:solidFill>
                <a:latin typeface="Roboto"/>
                <a:ea typeface="Roboto"/>
                <a:cs typeface="Roboto"/>
                <a:sym typeface="Roboto"/>
              </a:rPr>
              <a:t>Senior Architect:</a:t>
            </a:r>
          </a:p>
        </p:txBody>
      </p:sp>
      <p:sp>
        <p:nvSpPr>
          <p:cNvPr name="TextBox 22" id="22"/>
          <p:cNvSpPr txBox="true"/>
          <p:nvPr/>
        </p:nvSpPr>
        <p:spPr>
          <a:xfrm rot="0">
            <a:off x="13092759" y="3790353"/>
            <a:ext cx="3044928" cy="387350"/>
          </a:xfrm>
          <a:prstGeom prst="rect">
            <a:avLst/>
          </a:prstGeom>
        </p:spPr>
        <p:txBody>
          <a:bodyPr anchor="t" rtlCol="false" tIns="0" lIns="0" bIns="0" rIns="0">
            <a:spAutoFit/>
          </a:bodyPr>
          <a:lstStyle/>
          <a:p>
            <a:pPr algn="ctr">
              <a:lnSpc>
                <a:spcPts val="3099"/>
              </a:lnSpc>
            </a:pPr>
            <a:r>
              <a:rPr lang="en-US" sz="2499">
                <a:solidFill>
                  <a:srgbClr val="FFFFFF"/>
                </a:solidFill>
                <a:latin typeface="Roboto"/>
                <a:ea typeface="Roboto"/>
                <a:cs typeface="Roboto"/>
                <a:sym typeface="Roboto"/>
              </a:rPr>
              <a:t>Site Engineers: </a:t>
            </a:r>
          </a:p>
        </p:txBody>
      </p:sp>
      <p:grpSp>
        <p:nvGrpSpPr>
          <p:cNvPr name="Group 23" id="23"/>
          <p:cNvGrpSpPr/>
          <p:nvPr/>
        </p:nvGrpSpPr>
        <p:grpSpPr>
          <a:xfrm rot="0">
            <a:off x="847725" y="5172075"/>
            <a:ext cx="5172863" cy="1235936"/>
            <a:chOff x="0" y="0"/>
            <a:chExt cx="1362400" cy="325514"/>
          </a:xfrm>
        </p:grpSpPr>
        <p:sp>
          <p:nvSpPr>
            <p:cNvPr name="Freeform 24" id="24"/>
            <p:cNvSpPr/>
            <p:nvPr/>
          </p:nvSpPr>
          <p:spPr>
            <a:xfrm flipH="false" flipV="false" rot="0">
              <a:off x="0" y="0"/>
              <a:ext cx="1362400" cy="325514"/>
            </a:xfrm>
            <a:custGeom>
              <a:avLst/>
              <a:gdLst/>
              <a:ahLst/>
              <a:cxnLst/>
              <a:rect r="r" b="b" t="t" l="l"/>
              <a:pathLst>
                <a:path h="325514" w="1362400">
                  <a:moveTo>
                    <a:pt x="149664" y="0"/>
                  </a:moveTo>
                  <a:lnTo>
                    <a:pt x="1212736" y="0"/>
                  </a:lnTo>
                  <a:cubicBezTo>
                    <a:pt x="1252430" y="0"/>
                    <a:pt x="1290497" y="15768"/>
                    <a:pt x="1318565" y="43836"/>
                  </a:cubicBezTo>
                  <a:cubicBezTo>
                    <a:pt x="1346632" y="71903"/>
                    <a:pt x="1362400" y="109971"/>
                    <a:pt x="1362400" y="149664"/>
                  </a:cubicBezTo>
                  <a:lnTo>
                    <a:pt x="1362400" y="175850"/>
                  </a:lnTo>
                  <a:cubicBezTo>
                    <a:pt x="1362400" y="258507"/>
                    <a:pt x="1295393" y="325514"/>
                    <a:pt x="1212736" y="325514"/>
                  </a:cubicBezTo>
                  <a:lnTo>
                    <a:pt x="149664" y="325514"/>
                  </a:lnTo>
                  <a:cubicBezTo>
                    <a:pt x="67007" y="325514"/>
                    <a:pt x="0" y="258507"/>
                    <a:pt x="0" y="175850"/>
                  </a:cubicBezTo>
                  <a:lnTo>
                    <a:pt x="0" y="149664"/>
                  </a:lnTo>
                  <a:cubicBezTo>
                    <a:pt x="0" y="67007"/>
                    <a:pt x="67007" y="0"/>
                    <a:pt x="149664" y="0"/>
                  </a:cubicBezTo>
                  <a:close/>
                </a:path>
              </a:pathLst>
            </a:custGeom>
            <a:gradFill rotWithShape="true">
              <a:gsLst>
                <a:gs pos="0">
                  <a:srgbClr val="1B68C9">
                    <a:alpha val="100000"/>
                  </a:srgbClr>
                </a:gs>
                <a:gs pos="50000">
                  <a:srgbClr val="6696CC">
                    <a:alpha val="100000"/>
                  </a:srgbClr>
                </a:gs>
                <a:gs pos="100000">
                  <a:srgbClr val="1B68C9">
                    <a:alpha val="100000"/>
                  </a:srgbClr>
                </a:gs>
              </a:gsLst>
              <a:lin ang="2700000"/>
            </a:gradFill>
          </p:spPr>
        </p:sp>
        <p:sp>
          <p:nvSpPr>
            <p:cNvPr name="TextBox 25" id="25"/>
            <p:cNvSpPr txBox="true"/>
            <p:nvPr/>
          </p:nvSpPr>
          <p:spPr>
            <a:xfrm>
              <a:off x="0" y="-38100"/>
              <a:ext cx="1362400" cy="363614"/>
            </a:xfrm>
            <a:prstGeom prst="rect">
              <a:avLst/>
            </a:prstGeom>
          </p:spPr>
          <p:txBody>
            <a:bodyPr anchor="ctr" rtlCol="false" tIns="50800" lIns="50800" bIns="50800" rIns="50800"/>
            <a:lstStyle/>
            <a:p>
              <a:pPr algn="ctr">
                <a:lnSpc>
                  <a:spcPts val="2659"/>
                </a:lnSpc>
              </a:pPr>
            </a:p>
          </p:txBody>
        </p:sp>
      </p:grpSp>
      <p:sp>
        <p:nvSpPr>
          <p:cNvPr name="TextBox 26" id="26"/>
          <p:cNvSpPr txBox="true"/>
          <p:nvPr/>
        </p:nvSpPr>
        <p:spPr>
          <a:xfrm rot="0">
            <a:off x="1363383" y="5360177"/>
            <a:ext cx="4141548" cy="507619"/>
          </a:xfrm>
          <a:prstGeom prst="rect">
            <a:avLst/>
          </a:prstGeom>
        </p:spPr>
        <p:txBody>
          <a:bodyPr anchor="t" rtlCol="false" tIns="0" lIns="0" bIns="0" rIns="0">
            <a:spAutoFit/>
          </a:bodyPr>
          <a:lstStyle/>
          <a:p>
            <a:pPr algn="ctr">
              <a:lnSpc>
                <a:spcPts val="3968"/>
              </a:lnSpc>
            </a:pPr>
            <a:r>
              <a:rPr lang="en-US" sz="3200" b="true">
                <a:solidFill>
                  <a:srgbClr val="FFFFFF"/>
                </a:solidFill>
                <a:latin typeface="Roboto Bold"/>
                <a:ea typeface="Roboto Bold"/>
                <a:cs typeface="Roboto Bold"/>
                <a:sym typeface="Roboto Bold"/>
              </a:rPr>
              <a:t>Mr. Pushkar Phatak</a:t>
            </a:r>
          </a:p>
        </p:txBody>
      </p:sp>
      <p:grpSp>
        <p:nvGrpSpPr>
          <p:cNvPr name="Group 27" id="27"/>
          <p:cNvGrpSpPr/>
          <p:nvPr/>
        </p:nvGrpSpPr>
        <p:grpSpPr>
          <a:xfrm rot="0">
            <a:off x="6534938" y="5143500"/>
            <a:ext cx="5104677" cy="1235936"/>
            <a:chOff x="0" y="0"/>
            <a:chExt cx="1344442" cy="325514"/>
          </a:xfrm>
        </p:grpSpPr>
        <p:sp>
          <p:nvSpPr>
            <p:cNvPr name="Freeform 28" id="28"/>
            <p:cNvSpPr/>
            <p:nvPr/>
          </p:nvSpPr>
          <p:spPr>
            <a:xfrm flipH="false" flipV="false" rot="0">
              <a:off x="0" y="0"/>
              <a:ext cx="1344442" cy="325514"/>
            </a:xfrm>
            <a:custGeom>
              <a:avLst/>
              <a:gdLst/>
              <a:ahLst/>
              <a:cxnLst/>
              <a:rect r="r" b="b" t="t" l="l"/>
              <a:pathLst>
                <a:path h="325514" w="1344442">
                  <a:moveTo>
                    <a:pt x="151663" y="0"/>
                  </a:moveTo>
                  <a:lnTo>
                    <a:pt x="1192779" y="0"/>
                  </a:lnTo>
                  <a:cubicBezTo>
                    <a:pt x="1233002" y="0"/>
                    <a:pt x="1271578" y="15979"/>
                    <a:pt x="1300021" y="44421"/>
                  </a:cubicBezTo>
                  <a:cubicBezTo>
                    <a:pt x="1328463" y="72864"/>
                    <a:pt x="1344442" y="111440"/>
                    <a:pt x="1344442" y="151663"/>
                  </a:cubicBezTo>
                  <a:lnTo>
                    <a:pt x="1344442" y="173851"/>
                  </a:lnTo>
                  <a:cubicBezTo>
                    <a:pt x="1344442" y="214074"/>
                    <a:pt x="1328463" y="252651"/>
                    <a:pt x="1300021" y="281093"/>
                  </a:cubicBezTo>
                  <a:cubicBezTo>
                    <a:pt x="1271578" y="309535"/>
                    <a:pt x="1233002" y="325514"/>
                    <a:pt x="1192779" y="325514"/>
                  </a:cubicBezTo>
                  <a:lnTo>
                    <a:pt x="151663" y="325514"/>
                  </a:lnTo>
                  <a:cubicBezTo>
                    <a:pt x="111440" y="325514"/>
                    <a:pt x="72864" y="309535"/>
                    <a:pt x="44421" y="281093"/>
                  </a:cubicBezTo>
                  <a:cubicBezTo>
                    <a:pt x="15979" y="252651"/>
                    <a:pt x="0" y="214074"/>
                    <a:pt x="0" y="173851"/>
                  </a:cubicBezTo>
                  <a:lnTo>
                    <a:pt x="0" y="151663"/>
                  </a:lnTo>
                  <a:cubicBezTo>
                    <a:pt x="0" y="111440"/>
                    <a:pt x="15979" y="72864"/>
                    <a:pt x="44421" y="44421"/>
                  </a:cubicBezTo>
                  <a:cubicBezTo>
                    <a:pt x="72864" y="15979"/>
                    <a:pt x="111440" y="0"/>
                    <a:pt x="151663" y="0"/>
                  </a:cubicBezTo>
                  <a:close/>
                </a:path>
              </a:pathLst>
            </a:custGeom>
            <a:gradFill rotWithShape="true">
              <a:gsLst>
                <a:gs pos="0">
                  <a:srgbClr val="1B68C9">
                    <a:alpha val="100000"/>
                  </a:srgbClr>
                </a:gs>
                <a:gs pos="50000">
                  <a:srgbClr val="6696CC">
                    <a:alpha val="100000"/>
                  </a:srgbClr>
                </a:gs>
                <a:gs pos="100000">
                  <a:srgbClr val="1B68C9">
                    <a:alpha val="100000"/>
                  </a:srgbClr>
                </a:gs>
              </a:gsLst>
              <a:lin ang="2700000"/>
            </a:gradFill>
          </p:spPr>
        </p:sp>
        <p:sp>
          <p:nvSpPr>
            <p:cNvPr name="TextBox 29" id="29"/>
            <p:cNvSpPr txBox="true"/>
            <p:nvPr/>
          </p:nvSpPr>
          <p:spPr>
            <a:xfrm>
              <a:off x="0" y="-38100"/>
              <a:ext cx="1344442" cy="363614"/>
            </a:xfrm>
            <a:prstGeom prst="rect">
              <a:avLst/>
            </a:prstGeom>
          </p:spPr>
          <p:txBody>
            <a:bodyPr anchor="ctr" rtlCol="false" tIns="50800" lIns="50800" bIns="50800" rIns="50800"/>
            <a:lstStyle/>
            <a:p>
              <a:pPr algn="ctr">
                <a:lnSpc>
                  <a:spcPts val="2659"/>
                </a:lnSpc>
              </a:pPr>
            </a:p>
          </p:txBody>
        </p:sp>
      </p:grpSp>
      <p:sp>
        <p:nvSpPr>
          <p:cNvPr name="TextBox 30" id="30"/>
          <p:cNvSpPr txBox="true"/>
          <p:nvPr/>
        </p:nvSpPr>
        <p:spPr>
          <a:xfrm rot="0">
            <a:off x="7165833" y="5297011"/>
            <a:ext cx="3842888" cy="507619"/>
          </a:xfrm>
          <a:prstGeom prst="rect">
            <a:avLst/>
          </a:prstGeom>
        </p:spPr>
        <p:txBody>
          <a:bodyPr anchor="t" rtlCol="false" tIns="0" lIns="0" bIns="0" rIns="0">
            <a:spAutoFit/>
          </a:bodyPr>
          <a:lstStyle/>
          <a:p>
            <a:pPr algn="ctr">
              <a:lnSpc>
                <a:spcPts val="3968"/>
              </a:lnSpc>
            </a:pPr>
            <a:r>
              <a:rPr lang="en-US" sz="3200" b="true">
                <a:solidFill>
                  <a:srgbClr val="FFFFFF"/>
                </a:solidFill>
                <a:latin typeface="Roboto Bold"/>
                <a:ea typeface="Roboto Bold"/>
                <a:cs typeface="Roboto Bold"/>
                <a:sym typeface="Roboto Bold"/>
              </a:rPr>
              <a:t>Mr. Amit Thakur</a:t>
            </a:r>
          </a:p>
        </p:txBody>
      </p:sp>
      <p:grpSp>
        <p:nvGrpSpPr>
          <p:cNvPr name="Group 31" id="31"/>
          <p:cNvGrpSpPr/>
          <p:nvPr/>
        </p:nvGrpSpPr>
        <p:grpSpPr>
          <a:xfrm rot="0">
            <a:off x="11972895" y="5143500"/>
            <a:ext cx="5050159" cy="1235936"/>
            <a:chOff x="0" y="0"/>
            <a:chExt cx="1330083" cy="325514"/>
          </a:xfrm>
        </p:grpSpPr>
        <p:sp>
          <p:nvSpPr>
            <p:cNvPr name="Freeform 32" id="32"/>
            <p:cNvSpPr/>
            <p:nvPr/>
          </p:nvSpPr>
          <p:spPr>
            <a:xfrm flipH="false" flipV="false" rot="0">
              <a:off x="0" y="0"/>
              <a:ext cx="1330083" cy="325514"/>
            </a:xfrm>
            <a:custGeom>
              <a:avLst/>
              <a:gdLst/>
              <a:ahLst/>
              <a:cxnLst/>
              <a:rect r="r" b="b" t="t" l="l"/>
              <a:pathLst>
                <a:path h="325514" w="1330083">
                  <a:moveTo>
                    <a:pt x="153301" y="0"/>
                  </a:moveTo>
                  <a:lnTo>
                    <a:pt x="1176783" y="0"/>
                  </a:lnTo>
                  <a:cubicBezTo>
                    <a:pt x="1261448" y="0"/>
                    <a:pt x="1330083" y="68635"/>
                    <a:pt x="1330083" y="153301"/>
                  </a:cubicBezTo>
                  <a:lnTo>
                    <a:pt x="1330083" y="172214"/>
                  </a:lnTo>
                  <a:cubicBezTo>
                    <a:pt x="1330083" y="256879"/>
                    <a:pt x="1261448" y="325514"/>
                    <a:pt x="1176783" y="325514"/>
                  </a:cubicBezTo>
                  <a:lnTo>
                    <a:pt x="153301" y="325514"/>
                  </a:lnTo>
                  <a:cubicBezTo>
                    <a:pt x="68635" y="325514"/>
                    <a:pt x="0" y="256879"/>
                    <a:pt x="0" y="172214"/>
                  </a:cubicBezTo>
                  <a:lnTo>
                    <a:pt x="0" y="153301"/>
                  </a:lnTo>
                  <a:cubicBezTo>
                    <a:pt x="0" y="68635"/>
                    <a:pt x="68635" y="0"/>
                    <a:pt x="153301" y="0"/>
                  </a:cubicBezTo>
                  <a:close/>
                </a:path>
              </a:pathLst>
            </a:custGeom>
            <a:gradFill rotWithShape="true">
              <a:gsLst>
                <a:gs pos="0">
                  <a:srgbClr val="1B68C9">
                    <a:alpha val="100000"/>
                  </a:srgbClr>
                </a:gs>
                <a:gs pos="50000">
                  <a:srgbClr val="6696CC">
                    <a:alpha val="100000"/>
                  </a:srgbClr>
                </a:gs>
                <a:gs pos="100000">
                  <a:srgbClr val="1B68C9">
                    <a:alpha val="100000"/>
                  </a:srgbClr>
                </a:gs>
              </a:gsLst>
              <a:lin ang="2700000"/>
            </a:gradFill>
          </p:spPr>
        </p:sp>
        <p:sp>
          <p:nvSpPr>
            <p:cNvPr name="TextBox 33" id="33"/>
            <p:cNvSpPr txBox="true"/>
            <p:nvPr/>
          </p:nvSpPr>
          <p:spPr>
            <a:xfrm>
              <a:off x="0" y="-38100"/>
              <a:ext cx="1330083" cy="363614"/>
            </a:xfrm>
            <a:prstGeom prst="rect">
              <a:avLst/>
            </a:prstGeom>
          </p:spPr>
          <p:txBody>
            <a:bodyPr anchor="ctr" rtlCol="false" tIns="50800" lIns="50800" bIns="50800" rIns="50800"/>
            <a:lstStyle/>
            <a:p>
              <a:pPr algn="ctr">
                <a:lnSpc>
                  <a:spcPts val="2659"/>
                </a:lnSpc>
              </a:pPr>
            </a:p>
          </p:txBody>
        </p:sp>
      </p:grpSp>
      <p:sp>
        <p:nvSpPr>
          <p:cNvPr name="TextBox 34" id="34"/>
          <p:cNvSpPr txBox="true"/>
          <p:nvPr/>
        </p:nvSpPr>
        <p:spPr>
          <a:xfrm rot="0">
            <a:off x="12545324" y="5297011"/>
            <a:ext cx="4141548" cy="507619"/>
          </a:xfrm>
          <a:prstGeom prst="rect">
            <a:avLst/>
          </a:prstGeom>
        </p:spPr>
        <p:txBody>
          <a:bodyPr anchor="t" rtlCol="false" tIns="0" lIns="0" bIns="0" rIns="0">
            <a:spAutoFit/>
          </a:bodyPr>
          <a:lstStyle/>
          <a:p>
            <a:pPr algn="ctr">
              <a:lnSpc>
                <a:spcPts val="3968"/>
              </a:lnSpc>
            </a:pPr>
            <a:r>
              <a:rPr lang="en-US" sz="3200" b="true">
                <a:solidFill>
                  <a:srgbClr val="FFFFFF"/>
                </a:solidFill>
                <a:latin typeface="Roboto Bold"/>
                <a:ea typeface="Roboto Bold"/>
                <a:cs typeface="Roboto Bold"/>
                <a:sym typeface="Roboto Bold"/>
              </a:rPr>
              <a:t>Mrs. PriyankaSoni</a:t>
            </a:r>
          </a:p>
        </p:txBody>
      </p:sp>
      <p:sp>
        <p:nvSpPr>
          <p:cNvPr name="TextBox 35" id="35"/>
          <p:cNvSpPr txBox="true"/>
          <p:nvPr/>
        </p:nvSpPr>
        <p:spPr>
          <a:xfrm rot="0">
            <a:off x="1672597" y="5858270"/>
            <a:ext cx="3423591" cy="387350"/>
          </a:xfrm>
          <a:prstGeom prst="rect">
            <a:avLst/>
          </a:prstGeom>
        </p:spPr>
        <p:txBody>
          <a:bodyPr anchor="t" rtlCol="false" tIns="0" lIns="0" bIns="0" rIns="0">
            <a:spAutoFit/>
          </a:bodyPr>
          <a:lstStyle/>
          <a:p>
            <a:pPr algn="ctr">
              <a:lnSpc>
                <a:spcPts val="3099"/>
              </a:lnSpc>
            </a:pPr>
            <a:r>
              <a:rPr lang="en-US" sz="2499">
                <a:solidFill>
                  <a:srgbClr val="FFFFFF"/>
                </a:solidFill>
                <a:latin typeface="Roboto"/>
                <a:ea typeface="Roboto"/>
                <a:cs typeface="Roboto"/>
                <a:sym typeface="Roboto"/>
              </a:rPr>
              <a:t>Account Manager: </a:t>
            </a:r>
          </a:p>
        </p:txBody>
      </p:sp>
      <p:sp>
        <p:nvSpPr>
          <p:cNvPr name="TextBox 36" id="36"/>
          <p:cNvSpPr txBox="true"/>
          <p:nvPr/>
        </p:nvSpPr>
        <p:spPr>
          <a:xfrm rot="0">
            <a:off x="7473166" y="5829695"/>
            <a:ext cx="3044928" cy="387350"/>
          </a:xfrm>
          <a:prstGeom prst="rect">
            <a:avLst/>
          </a:prstGeom>
        </p:spPr>
        <p:txBody>
          <a:bodyPr anchor="t" rtlCol="false" tIns="0" lIns="0" bIns="0" rIns="0">
            <a:spAutoFit/>
          </a:bodyPr>
          <a:lstStyle/>
          <a:p>
            <a:pPr algn="ctr">
              <a:lnSpc>
                <a:spcPts val="3099"/>
              </a:lnSpc>
            </a:pPr>
            <a:r>
              <a:rPr lang="en-US" sz="2499">
                <a:solidFill>
                  <a:srgbClr val="FFFFFF"/>
                </a:solidFill>
                <a:latin typeface="Roboto"/>
                <a:ea typeface="Roboto"/>
                <a:cs typeface="Roboto"/>
                <a:sym typeface="Roboto"/>
              </a:rPr>
              <a:t>Purchase Manager:</a:t>
            </a:r>
          </a:p>
        </p:txBody>
      </p:sp>
      <p:sp>
        <p:nvSpPr>
          <p:cNvPr name="TextBox 37" id="37"/>
          <p:cNvSpPr txBox="true"/>
          <p:nvPr/>
        </p:nvSpPr>
        <p:spPr>
          <a:xfrm rot="0">
            <a:off x="13092759" y="5829695"/>
            <a:ext cx="3044928" cy="387350"/>
          </a:xfrm>
          <a:prstGeom prst="rect">
            <a:avLst/>
          </a:prstGeom>
        </p:spPr>
        <p:txBody>
          <a:bodyPr anchor="t" rtlCol="false" tIns="0" lIns="0" bIns="0" rIns="0">
            <a:spAutoFit/>
          </a:bodyPr>
          <a:lstStyle/>
          <a:p>
            <a:pPr algn="ctr">
              <a:lnSpc>
                <a:spcPts val="3099"/>
              </a:lnSpc>
            </a:pPr>
            <a:r>
              <a:rPr lang="en-US" sz="2499">
                <a:solidFill>
                  <a:srgbClr val="FFFFFF"/>
                </a:solidFill>
                <a:latin typeface="Roboto"/>
                <a:ea typeface="Roboto"/>
                <a:cs typeface="Roboto"/>
                <a:sym typeface="Roboto"/>
              </a:rPr>
              <a:t>H.R Manager:</a:t>
            </a:r>
          </a:p>
        </p:txBody>
      </p:sp>
      <p:grpSp>
        <p:nvGrpSpPr>
          <p:cNvPr name="Group 38" id="38"/>
          <p:cNvGrpSpPr/>
          <p:nvPr/>
        </p:nvGrpSpPr>
        <p:grpSpPr>
          <a:xfrm rot="0">
            <a:off x="847725" y="7036661"/>
            <a:ext cx="5172863" cy="1235936"/>
            <a:chOff x="0" y="0"/>
            <a:chExt cx="1362400" cy="325514"/>
          </a:xfrm>
        </p:grpSpPr>
        <p:sp>
          <p:nvSpPr>
            <p:cNvPr name="Freeform 39" id="39"/>
            <p:cNvSpPr/>
            <p:nvPr/>
          </p:nvSpPr>
          <p:spPr>
            <a:xfrm flipH="false" flipV="false" rot="0">
              <a:off x="0" y="0"/>
              <a:ext cx="1362400" cy="325514"/>
            </a:xfrm>
            <a:custGeom>
              <a:avLst/>
              <a:gdLst/>
              <a:ahLst/>
              <a:cxnLst/>
              <a:rect r="r" b="b" t="t" l="l"/>
              <a:pathLst>
                <a:path h="325514" w="1362400">
                  <a:moveTo>
                    <a:pt x="149664" y="0"/>
                  </a:moveTo>
                  <a:lnTo>
                    <a:pt x="1212736" y="0"/>
                  </a:lnTo>
                  <a:cubicBezTo>
                    <a:pt x="1252430" y="0"/>
                    <a:pt x="1290497" y="15768"/>
                    <a:pt x="1318565" y="43836"/>
                  </a:cubicBezTo>
                  <a:cubicBezTo>
                    <a:pt x="1346632" y="71903"/>
                    <a:pt x="1362400" y="109971"/>
                    <a:pt x="1362400" y="149664"/>
                  </a:cubicBezTo>
                  <a:lnTo>
                    <a:pt x="1362400" y="175850"/>
                  </a:lnTo>
                  <a:cubicBezTo>
                    <a:pt x="1362400" y="258507"/>
                    <a:pt x="1295393" y="325514"/>
                    <a:pt x="1212736" y="325514"/>
                  </a:cubicBezTo>
                  <a:lnTo>
                    <a:pt x="149664" y="325514"/>
                  </a:lnTo>
                  <a:cubicBezTo>
                    <a:pt x="67007" y="325514"/>
                    <a:pt x="0" y="258507"/>
                    <a:pt x="0" y="175850"/>
                  </a:cubicBezTo>
                  <a:lnTo>
                    <a:pt x="0" y="149664"/>
                  </a:lnTo>
                  <a:cubicBezTo>
                    <a:pt x="0" y="67007"/>
                    <a:pt x="67007" y="0"/>
                    <a:pt x="149664" y="0"/>
                  </a:cubicBezTo>
                  <a:close/>
                </a:path>
              </a:pathLst>
            </a:custGeom>
            <a:gradFill rotWithShape="true">
              <a:gsLst>
                <a:gs pos="0">
                  <a:srgbClr val="1B68C9">
                    <a:alpha val="100000"/>
                  </a:srgbClr>
                </a:gs>
                <a:gs pos="50000">
                  <a:srgbClr val="6696CC">
                    <a:alpha val="100000"/>
                  </a:srgbClr>
                </a:gs>
                <a:gs pos="100000">
                  <a:srgbClr val="1B68C9">
                    <a:alpha val="100000"/>
                  </a:srgbClr>
                </a:gs>
              </a:gsLst>
              <a:lin ang="2700000"/>
            </a:gradFill>
          </p:spPr>
        </p:sp>
        <p:sp>
          <p:nvSpPr>
            <p:cNvPr name="TextBox 40" id="40"/>
            <p:cNvSpPr txBox="true"/>
            <p:nvPr/>
          </p:nvSpPr>
          <p:spPr>
            <a:xfrm>
              <a:off x="0" y="-38100"/>
              <a:ext cx="1362400" cy="363614"/>
            </a:xfrm>
            <a:prstGeom prst="rect">
              <a:avLst/>
            </a:prstGeom>
          </p:spPr>
          <p:txBody>
            <a:bodyPr anchor="ctr" rtlCol="false" tIns="50800" lIns="50800" bIns="50800" rIns="50800"/>
            <a:lstStyle/>
            <a:p>
              <a:pPr algn="ctr">
                <a:lnSpc>
                  <a:spcPts val="2659"/>
                </a:lnSpc>
              </a:pPr>
            </a:p>
          </p:txBody>
        </p:sp>
      </p:grpSp>
      <p:sp>
        <p:nvSpPr>
          <p:cNvPr name="TextBox 41" id="41"/>
          <p:cNvSpPr txBox="true"/>
          <p:nvPr/>
        </p:nvSpPr>
        <p:spPr>
          <a:xfrm rot="0">
            <a:off x="1363383" y="7224763"/>
            <a:ext cx="4141548" cy="507619"/>
          </a:xfrm>
          <a:prstGeom prst="rect">
            <a:avLst/>
          </a:prstGeom>
        </p:spPr>
        <p:txBody>
          <a:bodyPr anchor="t" rtlCol="false" tIns="0" lIns="0" bIns="0" rIns="0">
            <a:spAutoFit/>
          </a:bodyPr>
          <a:lstStyle/>
          <a:p>
            <a:pPr algn="ctr">
              <a:lnSpc>
                <a:spcPts val="3968"/>
              </a:lnSpc>
            </a:pPr>
            <a:r>
              <a:rPr lang="en-US" sz="3200" b="true">
                <a:solidFill>
                  <a:srgbClr val="FFFFFF"/>
                </a:solidFill>
                <a:latin typeface="Roboto Bold"/>
                <a:ea typeface="Roboto Bold"/>
                <a:cs typeface="Roboto Bold"/>
                <a:sym typeface="Roboto Bold"/>
              </a:rPr>
              <a:t>Mr. AmitSingh</a:t>
            </a:r>
          </a:p>
        </p:txBody>
      </p:sp>
      <p:grpSp>
        <p:nvGrpSpPr>
          <p:cNvPr name="Group 42" id="42"/>
          <p:cNvGrpSpPr/>
          <p:nvPr/>
        </p:nvGrpSpPr>
        <p:grpSpPr>
          <a:xfrm rot="0">
            <a:off x="6534938" y="7008086"/>
            <a:ext cx="5104677" cy="1235936"/>
            <a:chOff x="0" y="0"/>
            <a:chExt cx="1344442" cy="325514"/>
          </a:xfrm>
        </p:grpSpPr>
        <p:sp>
          <p:nvSpPr>
            <p:cNvPr name="Freeform 43" id="43"/>
            <p:cNvSpPr/>
            <p:nvPr/>
          </p:nvSpPr>
          <p:spPr>
            <a:xfrm flipH="false" flipV="false" rot="0">
              <a:off x="0" y="0"/>
              <a:ext cx="1344442" cy="325514"/>
            </a:xfrm>
            <a:custGeom>
              <a:avLst/>
              <a:gdLst/>
              <a:ahLst/>
              <a:cxnLst/>
              <a:rect r="r" b="b" t="t" l="l"/>
              <a:pathLst>
                <a:path h="325514" w="1344442">
                  <a:moveTo>
                    <a:pt x="151663" y="0"/>
                  </a:moveTo>
                  <a:lnTo>
                    <a:pt x="1192779" y="0"/>
                  </a:lnTo>
                  <a:cubicBezTo>
                    <a:pt x="1233002" y="0"/>
                    <a:pt x="1271578" y="15979"/>
                    <a:pt x="1300021" y="44421"/>
                  </a:cubicBezTo>
                  <a:cubicBezTo>
                    <a:pt x="1328463" y="72864"/>
                    <a:pt x="1344442" y="111440"/>
                    <a:pt x="1344442" y="151663"/>
                  </a:cubicBezTo>
                  <a:lnTo>
                    <a:pt x="1344442" y="173851"/>
                  </a:lnTo>
                  <a:cubicBezTo>
                    <a:pt x="1344442" y="214074"/>
                    <a:pt x="1328463" y="252651"/>
                    <a:pt x="1300021" y="281093"/>
                  </a:cubicBezTo>
                  <a:cubicBezTo>
                    <a:pt x="1271578" y="309535"/>
                    <a:pt x="1233002" y="325514"/>
                    <a:pt x="1192779" y="325514"/>
                  </a:cubicBezTo>
                  <a:lnTo>
                    <a:pt x="151663" y="325514"/>
                  </a:lnTo>
                  <a:cubicBezTo>
                    <a:pt x="111440" y="325514"/>
                    <a:pt x="72864" y="309535"/>
                    <a:pt x="44421" y="281093"/>
                  </a:cubicBezTo>
                  <a:cubicBezTo>
                    <a:pt x="15979" y="252651"/>
                    <a:pt x="0" y="214074"/>
                    <a:pt x="0" y="173851"/>
                  </a:cubicBezTo>
                  <a:lnTo>
                    <a:pt x="0" y="151663"/>
                  </a:lnTo>
                  <a:cubicBezTo>
                    <a:pt x="0" y="111440"/>
                    <a:pt x="15979" y="72864"/>
                    <a:pt x="44421" y="44421"/>
                  </a:cubicBezTo>
                  <a:cubicBezTo>
                    <a:pt x="72864" y="15979"/>
                    <a:pt x="111440" y="0"/>
                    <a:pt x="151663" y="0"/>
                  </a:cubicBezTo>
                  <a:close/>
                </a:path>
              </a:pathLst>
            </a:custGeom>
            <a:gradFill rotWithShape="true">
              <a:gsLst>
                <a:gs pos="0">
                  <a:srgbClr val="1B68C9">
                    <a:alpha val="100000"/>
                  </a:srgbClr>
                </a:gs>
                <a:gs pos="50000">
                  <a:srgbClr val="6696CC">
                    <a:alpha val="100000"/>
                  </a:srgbClr>
                </a:gs>
                <a:gs pos="100000">
                  <a:srgbClr val="1B68C9">
                    <a:alpha val="100000"/>
                  </a:srgbClr>
                </a:gs>
              </a:gsLst>
              <a:lin ang="2700000"/>
            </a:gradFill>
          </p:spPr>
        </p:sp>
        <p:sp>
          <p:nvSpPr>
            <p:cNvPr name="TextBox 44" id="44"/>
            <p:cNvSpPr txBox="true"/>
            <p:nvPr/>
          </p:nvSpPr>
          <p:spPr>
            <a:xfrm>
              <a:off x="0" y="-38100"/>
              <a:ext cx="1344442" cy="363614"/>
            </a:xfrm>
            <a:prstGeom prst="rect">
              <a:avLst/>
            </a:prstGeom>
          </p:spPr>
          <p:txBody>
            <a:bodyPr anchor="ctr" rtlCol="false" tIns="50800" lIns="50800" bIns="50800" rIns="50800"/>
            <a:lstStyle/>
            <a:p>
              <a:pPr algn="ctr">
                <a:lnSpc>
                  <a:spcPts val="2659"/>
                </a:lnSpc>
              </a:pPr>
            </a:p>
          </p:txBody>
        </p:sp>
      </p:grpSp>
      <p:sp>
        <p:nvSpPr>
          <p:cNvPr name="TextBox 45" id="45"/>
          <p:cNvSpPr txBox="true"/>
          <p:nvPr/>
        </p:nvSpPr>
        <p:spPr>
          <a:xfrm rot="0">
            <a:off x="6907109" y="7161597"/>
            <a:ext cx="4473783" cy="507619"/>
          </a:xfrm>
          <a:prstGeom prst="rect">
            <a:avLst/>
          </a:prstGeom>
        </p:spPr>
        <p:txBody>
          <a:bodyPr anchor="t" rtlCol="false" tIns="0" lIns="0" bIns="0" rIns="0">
            <a:spAutoFit/>
          </a:bodyPr>
          <a:lstStyle/>
          <a:p>
            <a:pPr algn="ctr">
              <a:lnSpc>
                <a:spcPts val="3968"/>
              </a:lnSpc>
            </a:pPr>
            <a:r>
              <a:rPr lang="en-US" sz="3200" b="true">
                <a:solidFill>
                  <a:srgbClr val="FFFFFF"/>
                </a:solidFill>
                <a:latin typeface="Roboto Bold"/>
                <a:ea typeface="Roboto Bold"/>
                <a:cs typeface="Roboto Bold"/>
                <a:sym typeface="Roboto Bold"/>
              </a:rPr>
              <a:t>Miss. Muskan Wadhwa </a:t>
            </a:r>
          </a:p>
        </p:txBody>
      </p:sp>
      <p:sp>
        <p:nvSpPr>
          <p:cNvPr name="TextBox 46" id="46"/>
          <p:cNvSpPr txBox="true"/>
          <p:nvPr/>
        </p:nvSpPr>
        <p:spPr>
          <a:xfrm rot="0">
            <a:off x="12545324" y="7161597"/>
            <a:ext cx="4141548" cy="507619"/>
          </a:xfrm>
          <a:prstGeom prst="rect">
            <a:avLst/>
          </a:prstGeom>
        </p:spPr>
        <p:txBody>
          <a:bodyPr anchor="t" rtlCol="false" tIns="0" lIns="0" bIns="0" rIns="0">
            <a:spAutoFit/>
          </a:bodyPr>
          <a:lstStyle/>
          <a:p>
            <a:pPr algn="ctr">
              <a:lnSpc>
                <a:spcPts val="3968"/>
              </a:lnSpc>
            </a:pPr>
            <a:r>
              <a:rPr lang="en-US" sz="3200" b="true">
                <a:solidFill>
                  <a:srgbClr val="FFFFFF"/>
                </a:solidFill>
                <a:latin typeface="Roboto Bold"/>
                <a:ea typeface="Roboto Bold"/>
                <a:cs typeface="Roboto Bold"/>
                <a:sym typeface="Roboto Bold"/>
              </a:rPr>
              <a:t>Shawn Garcia</a:t>
            </a:r>
          </a:p>
        </p:txBody>
      </p:sp>
      <p:sp>
        <p:nvSpPr>
          <p:cNvPr name="TextBox 47" id="47"/>
          <p:cNvSpPr txBox="true"/>
          <p:nvPr/>
        </p:nvSpPr>
        <p:spPr>
          <a:xfrm rot="0">
            <a:off x="1672597" y="7722857"/>
            <a:ext cx="3423591" cy="387350"/>
          </a:xfrm>
          <a:prstGeom prst="rect">
            <a:avLst/>
          </a:prstGeom>
        </p:spPr>
        <p:txBody>
          <a:bodyPr anchor="t" rtlCol="false" tIns="0" lIns="0" bIns="0" rIns="0">
            <a:spAutoFit/>
          </a:bodyPr>
          <a:lstStyle/>
          <a:p>
            <a:pPr algn="ctr">
              <a:lnSpc>
                <a:spcPts val="3099"/>
              </a:lnSpc>
            </a:pPr>
            <a:r>
              <a:rPr lang="en-US" sz="2499">
                <a:solidFill>
                  <a:srgbClr val="FFFFFF"/>
                </a:solidFill>
                <a:latin typeface="Roboto"/>
                <a:ea typeface="Roboto"/>
                <a:cs typeface="Roboto"/>
                <a:sym typeface="Roboto"/>
              </a:rPr>
              <a:t>Admin : </a:t>
            </a:r>
          </a:p>
        </p:txBody>
      </p:sp>
      <p:sp>
        <p:nvSpPr>
          <p:cNvPr name="TextBox 48" id="48"/>
          <p:cNvSpPr txBox="true"/>
          <p:nvPr/>
        </p:nvSpPr>
        <p:spPr>
          <a:xfrm rot="0">
            <a:off x="7473166" y="7722857"/>
            <a:ext cx="3044928" cy="387350"/>
          </a:xfrm>
          <a:prstGeom prst="rect">
            <a:avLst/>
          </a:prstGeom>
        </p:spPr>
        <p:txBody>
          <a:bodyPr anchor="t" rtlCol="false" tIns="0" lIns="0" bIns="0" rIns="0">
            <a:spAutoFit/>
          </a:bodyPr>
          <a:lstStyle/>
          <a:p>
            <a:pPr algn="ctr">
              <a:lnSpc>
                <a:spcPts val="3099"/>
              </a:lnSpc>
            </a:pPr>
            <a:r>
              <a:rPr lang="en-US" sz="2499">
                <a:solidFill>
                  <a:srgbClr val="FFFFFF"/>
                </a:solidFill>
                <a:latin typeface="Roboto"/>
                <a:ea typeface="Roboto"/>
                <a:cs typeface="Roboto"/>
                <a:sym typeface="Roboto"/>
              </a:rPr>
              <a:t>Purchase Executive:</a:t>
            </a:r>
          </a:p>
        </p:txBody>
      </p:sp>
      <p:sp>
        <p:nvSpPr>
          <p:cNvPr name="Freeform 49" id="49"/>
          <p:cNvSpPr/>
          <p:nvPr/>
        </p:nvSpPr>
        <p:spPr>
          <a:xfrm flipH="false" flipV="false" rot="0">
            <a:off x="0" y="-12528"/>
            <a:ext cx="2929978" cy="2307469"/>
          </a:xfrm>
          <a:custGeom>
            <a:avLst/>
            <a:gdLst/>
            <a:ahLst/>
            <a:cxnLst/>
            <a:rect r="r" b="b" t="t" l="l"/>
            <a:pathLst>
              <a:path h="2307469" w="2929978">
                <a:moveTo>
                  <a:pt x="0" y="0"/>
                </a:moveTo>
                <a:lnTo>
                  <a:pt x="2929978" y="0"/>
                </a:lnTo>
                <a:lnTo>
                  <a:pt x="2929978" y="2307469"/>
                </a:lnTo>
                <a:lnTo>
                  <a:pt x="0" y="2307469"/>
                </a:lnTo>
                <a:lnTo>
                  <a:pt x="0" y="0"/>
                </a:lnTo>
                <a:close/>
              </a:path>
            </a:pathLst>
          </a:custGeom>
          <a:blipFill>
            <a:blip r:embed="rId3"/>
            <a:stretch>
              <a:fillRect l="-365933" t="-228812" r="0" b="-5607"/>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sp>
        <p:nvSpPr>
          <p:cNvPr name="TextBox 3" id="3"/>
          <p:cNvSpPr txBox="true"/>
          <p:nvPr/>
        </p:nvSpPr>
        <p:spPr>
          <a:xfrm rot="0">
            <a:off x="1518290" y="3268085"/>
            <a:ext cx="4487661" cy="516618"/>
          </a:xfrm>
          <a:prstGeom prst="rect">
            <a:avLst/>
          </a:prstGeom>
        </p:spPr>
        <p:txBody>
          <a:bodyPr anchor="t" rtlCol="false" tIns="0" lIns="0" bIns="0" rIns="0">
            <a:spAutoFit/>
          </a:bodyPr>
          <a:lstStyle/>
          <a:p>
            <a:pPr algn="l">
              <a:lnSpc>
                <a:spcPts val="3666"/>
              </a:lnSpc>
            </a:pPr>
            <a:r>
              <a:rPr lang="en-US" sz="3007">
                <a:solidFill>
                  <a:srgbClr val="000000"/>
                </a:solidFill>
                <a:latin typeface="Arial MT Pro"/>
                <a:ea typeface="Arial MT Pro"/>
                <a:cs typeface="Arial MT Pro"/>
                <a:sym typeface="Arial MT Pro"/>
              </a:rPr>
              <a:t>WAC Engineers Pvt. Ltd.</a:t>
            </a:r>
          </a:p>
        </p:txBody>
      </p:sp>
      <p:sp>
        <p:nvSpPr>
          <p:cNvPr name="TextBox 4" id="4"/>
          <p:cNvSpPr txBox="true"/>
          <p:nvPr/>
        </p:nvSpPr>
        <p:spPr>
          <a:xfrm rot="0">
            <a:off x="2946082" y="3735538"/>
            <a:ext cx="103241" cy="449943"/>
          </a:xfrm>
          <a:prstGeom prst="rect">
            <a:avLst/>
          </a:prstGeom>
        </p:spPr>
        <p:txBody>
          <a:bodyPr anchor="t" rtlCol="false" tIns="0" lIns="0" bIns="0" rIns="0">
            <a:spAutoFit/>
          </a:bodyPr>
          <a:lstStyle/>
          <a:p>
            <a:pPr algn="l">
              <a:lnSpc>
                <a:spcPts val="3666"/>
              </a:lnSpc>
            </a:pPr>
            <a:r>
              <a:rPr lang="en-US" sz="3007" spc="-24">
                <a:solidFill>
                  <a:srgbClr val="000000"/>
                </a:solidFill>
                <a:latin typeface="IBM Plex Sans"/>
                <a:ea typeface="IBM Plex Sans"/>
                <a:cs typeface="IBM Plex Sans"/>
                <a:sym typeface="IBM Plex Sans"/>
              </a:rPr>
              <a:t> </a:t>
            </a:r>
          </a:p>
        </p:txBody>
      </p:sp>
      <p:sp>
        <p:nvSpPr>
          <p:cNvPr name="TextBox 5" id="5"/>
          <p:cNvSpPr txBox="true"/>
          <p:nvPr/>
        </p:nvSpPr>
        <p:spPr>
          <a:xfrm rot="0">
            <a:off x="10634658" y="3268085"/>
            <a:ext cx="3146922" cy="516618"/>
          </a:xfrm>
          <a:prstGeom prst="rect">
            <a:avLst/>
          </a:prstGeom>
        </p:spPr>
        <p:txBody>
          <a:bodyPr anchor="t" rtlCol="false" tIns="0" lIns="0" bIns="0" rIns="0">
            <a:spAutoFit/>
          </a:bodyPr>
          <a:lstStyle/>
          <a:p>
            <a:pPr algn="l">
              <a:lnSpc>
                <a:spcPts val="3666"/>
              </a:lnSpc>
            </a:pPr>
            <a:r>
              <a:rPr lang="en-US" sz="3007">
                <a:solidFill>
                  <a:srgbClr val="000000"/>
                </a:solidFill>
                <a:latin typeface="Arial MT Pro"/>
                <a:ea typeface="Arial MT Pro"/>
                <a:cs typeface="Arial MT Pro"/>
                <a:sym typeface="Arial MT Pro"/>
              </a:rPr>
              <a:t>Startech Pvt. Ltd.</a:t>
            </a:r>
          </a:p>
        </p:txBody>
      </p:sp>
      <p:sp>
        <p:nvSpPr>
          <p:cNvPr name="TextBox 6" id="6"/>
          <p:cNvSpPr txBox="true"/>
          <p:nvPr/>
        </p:nvSpPr>
        <p:spPr>
          <a:xfrm rot="0">
            <a:off x="13589313" y="3735538"/>
            <a:ext cx="103241" cy="449943"/>
          </a:xfrm>
          <a:prstGeom prst="rect">
            <a:avLst/>
          </a:prstGeom>
        </p:spPr>
        <p:txBody>
          <a:bodyPr anchor="t" rtlCol="false" tIns="0" lIns="0" bIns="0" rIns="0">
            <a:spAutoFit/>
          </a:bodyPr>
          <a:lstStyle/>
          <a:p>
            <a:pPr algn="l">
              <a:lnSpc>
                <a:spcPts val="3666"/>
              </a:lnSpc>
            </a:pPr>
            <a:r>
              <a:rPr lang="en-US" sz="3007" spc="-24">
                <a:solidFill>
                  <a:srgbClr val="000000"/>
                </a:solidFill>
                <a:latin typeface="IBM Plex Sans"/>
                <a:ea typeface="IBM Plex Sans"/>
                <a:cs typeface="IBM Plex Sans"/>
                <a:sym typeface="IBM Plex Sans"/>
              </a:rPr>
              <a:t> </a:t>
            </a:r>
          </a:p>
        </p:txBody>
      </p:sp>
      <p:sp>
        <p:nvSpPr>
          <p:cNvPr name="TextBox 7" id="7"/>
          <p:cNvSpPr txBox="true"/>
          <p:nvPr/>
        </p:nvSpPr>
        <p:spPr>
          <a:xfrm rot="0">
            <a:off x="1518290" y="3745063"/>
            <a:ext cx="2483539" cy="886971"/>
          </a:xfrm>
          <a:prstGeom prst="rect">
            <a:avLst/>
          </a:prstGeom>
        </p:spPr>
        <p:txBody>
          <a:bodyPr anchor="t" rtlCol="false" tIns="0" lIns="0" bIns="0" rIns="0">
            <a:spAutoFit/>
          </a:bodyPr>
          <a:lstStyle/>
          <a:p>
            <a:pPr algn="l">
              <a:lnSpc>
                <a:spcPts val="3599"/>
              </a:lnSpc>
            </a:pPr>
            <a:r>
              <a:rPr lang="en-US" sz="3007" spc="-24">
                <a:solidFill>
                  <a:srgbClr val="000000"/>
                </a:solidFill>
                <a:latin typeface="IBM Plex Sans"/>
                <a:ea typeface="IBM Plex Sans"/>
                <a:cs typeface="IBM Plex Sans"/>
                <a:sym typeface="IBM Plex Sans"/>
              </a:rPr>
              <a:t>Vaishali, Uttar Pradesh </a:t>
            </a:r>
          </a:p>
        </p:txBody>
      </p:sp>
      <p:sp>
        <p:nvSpPr>
          <p:cNvPr name="TextBox 8" id="8"/>
          <p:cNvSpPr txBox="true"/>
          <p:nvPr/>
        </p:nvSpPr>
        <p:spPr>
          <a:xfrm rot="0">
            <a:off x="1883092" y="5768178"/>
            <a:ext cx="4239130" cy="3368223"/>
          </a:xfrm>
          <a:prstGeom prst="rect">
            <a:avLst/>
          </a:prstGeom>
        </p:spPr>
        <p:txBody>
          <a:bodyPr anchor="t" rtlCol="false" tIns="0" lIns="0" bIns="0" rIns="0">
            <a:spAutoFit/>
          </a:bodyPr>
          <a:lstStyle/>
          <a:p>
            <a:pPr algn="l">
              <a:lnSpc>
                <a:spcPts val="5437"/>
              </a:lnSpc>
            </a:pPr>
            <a:r>
              <a:rPr lang="en-US" sz="3007" spc="-24">
                <a:solidFill>
                  <a:srgbClr val="000000"/>
                </a:solidFill>
                <a:latin typeface="IBM Plex Sans"/>
                <a:ea typeface="IBM Plex Sans"/>
                <a:cs typeface="IBM Plex Sans"/>
                <a:sym typeface="IBM Plex Sans"/>
              </a:rPr>
              <a:t>Mechanical Engineering Water Supply Drainage Vertical Transportation</a:t>
            </a:r>
          </a:p>
          <a:p>
            <a:pPr algn="l">
              <a:lnSpc>
                <a:spcPts val="5437"/>
              </a:lnSpc>
            </a:pPr>
            <a:r>
              <a:rPr lang="en-US" sz="3007" spc="-24">
                <a:solidFill>
                  <a:srgbClr val="000000"/>
                </a:solidFill>
                <a:latin typeface="IBM Plex Sans"/>
                <a:ea typeface="IBM Plex Sans"/>
                <a:cs typeface="IBM Plex Sans"/>
                <a:sym typeface="IBM Plex Sans"/>
              </a:rPr>
              <a:t>Drainage</a:t>
            </a:r>
          </a:p>
          <a:p>
            <a:pPr algn="l">
              <a:lnSpc>
                <a:spcPts val="5437"/>
              </a:lnSpc>
            </a:pPr>
            <a:r>
              <a:rPr lang="en-US" sz="3007" spc="-24">
                <a:solidFill>
                  <a:srgbClr val="000000"/>
                </a:solidFill>
                <a:latin typeface="IBM Plex Sans"/>
                <a:ea typeface="IBM Plex Sans"/>
                <a:cs typeface="IBM Plex Sans"/>
                <a:sym typeface="IBM Plex Sans"/>
              </a:rPr>
              <a:t> HVAC </a:t>
            </a:r>
          </a:p>
        </p:txBody>
      </p:sp>
      <p:sp>
        <p:nvSpPr>
          <p:cNvPr name="TextBox 9" id="9"/>
          <p:cNvSpPr txBox="true"/>
          <p:nvPr/>
        </p:nvSpPr>
        <p:spPr>
          <a:xfrm rot="0">
            <a:off x="10634658" y="3745063"/>
            <a:ext cx="3016206" cy="886971"/>
          </a:xfrm>
          <a:prstGeom prst="rect">
            <a:avLst/>
          </a:prstGeom>
        </p:spPr>
        <p:txBody>
          <a:bodyPr anchor="t" rtlCol="false" tIns="0" lIns="0" bIns="0" rIns="0">
            <a:spAutoFit/>
          </a:bodyPr>
          <a:lstStyle/>
          <a:p>
            <a:pPr algn="l">
              <a:lnSpc>
                <a:spcPts val="3599"/>
              </a:lnSpc>
            </a:pPr>
            <a:r>
              <a:rPr lang="en-US" sz="3007" spc="-24">
                <a:solidFill>
                  <a:srgbClr val="000000"/>
                </a:solidFill>
                <a:latin typeface="IBM Plex Sans"/>
                <a:ea typeface="IBM Plex Sans"/>
                <a:cs typeface="IBM Plex Sans"/>
                <a:sym typeface="IBM Plex Sans"/>
              </a:rPr>
              <a:t>Ghaziabad, Uttar Pradesh </a:t>
            </a:r>
          </a:p>
        </p:txBody>
      </p:sp>
      <p:sp>
        <p:nvSpPr>
          <p:cNvPr name="TextBox 10" id="10"/>
          <p:cNvSpPr txBox="true"/>
          <p:nvPr/>
        </p:nvSpPr>
        <p:spPr>
          <a:xfrm rot="0">
            <a:off x="10755630" y="5941528"/>
            <a:ext cx="4251760" cy="3368223"/>
          </a:xfrm>
          <a:prstGeom prst="rect">
            <a:avLst/>
          </a:prstGeom>
        </p:spPr>
        <p:txBody>
          <a:bodyPr anchor="t" rtlCol="false" tIns="0" lIns="0" bIns="0" rIns="0">
            <a:spAutoFit/>
          </a:bodyPr>
          <a:lstStyle/>
          <a:p>
            <a:pPr algn="l">
              <a:lnSpc>
                <a:spcPts val="5437"/>
              </a:lnSpc>
            </a:pPr>
            <a:r>
              <a:rPr lang="en-US" sz="3007" spc="-24">
                <a:solidFill>
                  <a:srgbClr val="000000"/>
                </a:solidFill>
                <a:latin typeface="IBM Plex Sans"/>
                <a:ea typeface="IBM Plex Sans"/>
                <a:cs typeface="IBM Plex Sans"/>
                <a:sym typeface="IBM Plex Sans"/>
              </a:rPr>
              <a:t>Mechanical Engineering Water Supply Drainage Vertical Transportation Drainage</a:t>
            </a:r>
          </a:p>
          <a:p>
            <a:pPr algn="l">
              <a:lnSpc>
                <a:spcPts val="5437"/>
              </a:lnSpc>
            </a:pPr>
            <a:r>
              <a:rPr lang="en-US" sz="3007" spc="-24">
                <a:solidFill>
                  <a:srgbClr val="000000"/>
                </a:solidFill>
                <a:latin typeface="IBM Plex Sans"/>
                <a:ea typeface="IBM Plex Sans"/>
                <a:cs typeface="IBM Plex Sans"/>
                <a:sym typeface="IBM Plex Sans"/>
              </a:rPr>
              <a:t>HVAC </a:t>
            </a:r>
          </a:p>
        </p:txBody>
      </p:sp>
      <p:sp>
        <p:nvSpPr>
          <p:cNvPr name="TextBox 11" id="11"/>
          <p:cNvSpPr txBox="true"/>
          <p:nvPr/>
        </p:nvSpPr>
        <p:spPr>
          <a:xfrm rot="0">
            <a:off x="1452567" y="5863442"/>
            <a:ext cx="155062" cy="3392957"/>
          </a:xfrm>
          <a:prstGeom prst="rect">
            <a:avLst/>
          </a:prstGeom>
        </p:spPr>
        <p:txBody>
          <a:bodyPr anchor="t" rtlCol="false" tIns="0" lIns="0" bIns="0" rIns="0">
            <a:spAutoFit/>
          </a:bodyPr>
          <a:lstStyle/>
          <a:p>
            <a:pPr algn="just">
              <a:lnSpc>
                <a:spcPts val="5437"/>
              </a:lnSpc>
            </a:pPr>
            <a:r>
              <a:rPr lang="en-US" sz="3420">
                <a:solidFill>
                  <a:srgbClr val="000000"/>
                </a:solidFill>
                <a:latin typeface="Helvetica World"/>
                <a:ea typeface="Helvetica World"/>
                <a:cs typeface="Helvetica World"/>
                <a:sym typeface="Helvetica World"/>
              </a:rPr>
              <a:t>• • • • •</a:t>
            </a:r>
          </a:p>
        </p:txBody>
      </p:sp>
      <p:sp>
        <p:nvSpPr>
          <p:cNvPr name="TextBox 12" id="12"/>
          <p:cNvSpPr txBox="true"/>
          <p:nvPr/>
        </p:nvSpPr>
        <p:spPr>
          <a:xfrm rot="0">
            <a:off x="10325105" y="6036793"/>
            <a:ext cx="155062" cy="3392957"/>
          </a:xfrm>
          <a:prstGeom prst="rect">
            <a:avLst/>
          </a:prstGeom>
        </p:spPr>
        <p:txBody>
          <a:bodyPr anchor="t" rtlCol="false" tIns="0" lIns="0" bIns="0" rIns="0">
            <a:spAutoFit/>
          </a:bodyPr>
          <a:lstStyle/>
          <a:p>
            <a:pPr algn="just">
              <a:lnSpc>
                <a:spcPts val="5437"/>
              </a:lnSpc>
            </a:pPr>
            <a:r>
              <a:rPr lang="en-US" sz="3420">
                <a:solidFill>
                  <a:srgbClr val="000000"/>
                </a:solidFill>
                <a:latin typeface="Helvetica World"/>
                <a:ea typeface="Helvetica World"/>
                <a:cs typeface="Helvetica World"/>
                <a:sym typeface="Helvetica World"/>
              </a:rPr>
              <a:t>• • • • •</a:t>
            </a:r>
          </a:p>
        </p:txBody>
      </p:sp>
      <p:grpSp>
        <p:nvGrpSpPr>
          <p:cNvPr name="Group 13" id="13"/>
          <p:cNvGrpSpPr/>
          <p:nvPr/>
        </p:nvGrpSpPr>
        <p:grpSpPr>
          <a:xfrm rot="0">
            <a:off x="-474832" y="9258300"/>
            <a:ext cx="20055435" cy="1119564"/>
            <a:chOff x="0" y="0"/>
            <a:chExt cx="5282090" cy="294864"/>
          </a:xfrm>
        </p:grpSpPr>
        <p:sp>
          <p:nvSpPr>
            <p:cNvPr name="Freeform 14" id="14"/>
            <p:cNvSpPr/>
            <p:nvPr/>
          </p:nvSpPr>
          <p:spPr>
            <a:xfrm flipH="false" flipV="false" rot="0">
              <a:off x="0" y="0"/>
              <a:ext cx="5282090" cy="294864"/>
            </a:xfrm>
            <a:custGeom>
              <a:avLst/>
              <a:gdLst/>
              <a:ahLst/>
              <a:cxnLst/>
              <a:rect r="r" b="b" t="t" l="l"/>
              <a:pathLst>
                <a:path h="294864" w="5282090">
                  <a:moveTo>
                    <a:pt x="38603" y="0"/>
                  </a:moveTo>
                  <a:lnTo>
                    <a:pt x="5243487" y="0"/>
                  </a:lnTo>
                  <a:cubicBezTo>
                    <a:pt x="5253725" y="0"/>
                    <a:pt x="5263544" y="4067"/>
                    <a:pt x="5270784" y="11306"/>
                  </a:cubicBezTo>
                  <a:cubicBezTo>
                    <a:pt x="5278023" y="18546"/>
                    <a:pt x="5282090" y="28365"/>
                    <a:pt x="5282090" y="38603"/>
                  </a:cubicBezTo>
                  <a:lnTo>
                    <a:pt x="5282090" y="256262"/>
                  </a:lnTo>
                  <a:cubicBezTo>
                    <a:pt x="5282090" y="266500"/>
                    <a:pt x="5278023" y="276319"/>
                    <a:pt x="5270784" y="283558"/>
                  </a:cubicBezTo>
                  <a:cubicBezTo>
                    <a:pt x="5263544" y="290797"/>
                    <a:pt x="5253725" y="294864"/>
                    <a:pt x="5243487" y="294864"/>
                  </a:cubicBezTo>
                  <a:lnTo>
                    <a:pt x="38603" y="294864"/>
                  </a:lnTo>
                  <a:cubicBezTo>
                    <a:pt x="28365" y="294864"/>
                    <a:pt x="18546" y="290797"/>
                    <a:pt x="11306" y="283558"/>
                  </a:cubicBezTo>
                  <a:cubicBezTo>
                    <a:pt x="4067" y="276319"/>
                    <a:pt x="0" y="266500"/>
                    <a:pt x="0" y="256262"/>
                  </a:cubicBezTo>
                  <a:lnTo>
                    <a:pt x="0" y="38603"/>
                  </a:lnTo>
                  <a:cubicBezTo>
                    <a:pt x="0" y="28365"/>
                    <a:pt x="4067" y="18546"/>
                    <a:pt x="11306" y="11306"/>
                  </a:cubicBezTo>
                  <a:cubicBezTo>
                    <a:pt x="18546" y="4067"/>
                    <a:pt x="28365" y="0"/>
                    <a:pt x="38603" y="0"/>
                  </a:cubicBezTo>
                  <a:close/>
                </a:path>
              </a:pathLst>
            </a:custGeom>
            <a:gradFill rotWithShape="true">
              <a:gsLst>
                <a:gs pos="0">
                  <a:srgbClr val="1B68C9">
                    <a:alpha val="100000"/>
                  </a:srgbClr>
                </a:gs>
                <a:gs pos="50000">
                  <a:srgbClr val="6797CC">
                    <a:alpha val="100000"/>
                  </a:srgbClr>
                </a:gs>
                <a:gs pos="100000">
                  <a:srgbClr val="FFFFFF">
                    <a:alpha val="100000"/>
                  </a:srgbClr>
                </a:gs>
              </a:gsLst>
              <a:lin ang="2700000"/>
            </a:gradFill>
          </p:spPr>
        </p:sp>
        <p:sp>
          <p:nvSpPr>
            <p:cNvPr name="TextBox 15" id="15"/>
            <p:cNvSpPr txBox="true"/>
            <p:nvPr/>
          </p:nvSpPr>
          <p:spPr>
            <a:xfrm>
              <a:off x="0" y="-38100"/>
              <a:ext cx="5282090" cy="332964"/>
            </a:xfrm>
            <a:prstGeom prst="rect">
              <a:avLst/>
            </a:prstGeom>
          </p:spPr>
          <p:txBody>
            <a:bodyPr anchor="ctr" rtlCol="false" tIns="50800" lIns="50800" bIns="50800" rIns="50800"/>
            <a:lstStyle/>
            <a:p>
              <a:pPr algn="ctr">
                <a:lnSpc>
                  <a:spcPts val="2659"/>
                </a:lnSpc>
              </a:pPr>
            </a:p>
          </p:txBody>
        </p:sp>
      </p:grpSp>
      <p:sp>
        <p:nvSpPr>
          <p:cNvPr name="TextBox 16" id="16"/>
          <p:cNvSpPr txBox="true"/>
          <p:nvPr/>
        </p:nvSpPr>
        <p:spPr>
          <a:xfrm rot="0">
            <a:off x="1028700" y="9532112"/>
            <a:ext cx="5506238" cy="452501"/>
          </a:xfrm>
          <a:prstGeom prst="rect">
            <a:avLst/>
          </a:prstGeom>
        </p:spPr>
        <p:txBody>
          <a:bodyPr anchor="t" rtlCol="false" tIns="0" lIns="0" bIns="0" rIns="0">
            <a:spAutoFit/>
          </a:bodyPr>
          <a:lstStyle/>
          <a:p>
            <a:pPr algn="l">
              <a:lnSpc>
                <a:spcPts val="3471"/>
              </a:lnSpc>
            </a:pPr>
            <a:r>
              <a:rPr lang="en-US" sz="2799" b="true">
                <a:solidFill>
                  <a:srgbClr val="FFFFFF"/>
                </a:solidFill>
                <a:latin typeface="Roboto Bold"/>
                <a:ea typeface="Roboto Bold"/>
                <a:cs typeface="Roboto Bold"/>
                <a:sym typeface="Roboto Bold"/>
              </a:rPr>
              <a:t>www.cresentcare.in</a:t>
            </a:r>
          </a:p>
        </p:txBody>
      </p:sp>
      <p:sp>
        <p:nvSpPr>
          <p:cNvPr name="TextBox 17" id="17"/>
          <p:cNvSpPr txBox="true"/>
          <p:nvPr/>
        </p:nvSpPr>
        <p:spPr>
          <a:xfrm rot="0">
            <a:off x="2760059" y="1429391"/>
            <a:ext cx="11982136" cy="1476744"/>
          </a:xfrm>
          <a:prstGeom prst="rect">
            <a:avLst/>
          </a:prstGeom>
        </p:spPr>
        <p:txBody>
          <a:bodyPr anchor="t" rtlCol="false" tIns="0" lIns="0" bIns="0" rIns="0">
            <a:spAutoFit/>
          </a:bodyPr>
          <a:lstStyle/>
          <a:p>
            <a:pPr algn="ctr">
              <a:lnSpc>
                <a:spcPts val="11231"/>
              </a:lnSpc>
            </a:pPr>
            <a:r>
              <a:rPr lang="en-US" sz="10799">
                <a:solidFill>
                  <a:srgbClr val="000000"/>
                </a:solidFill>
                <a:latin typeface="Anton"/>
                <a:ea typeface="Anton"/>
                <a:cs typeface="Anton"/>
                <a:sym typeface="Anton"/>
              </a:rPr>
              <a:t>O</a:t>
            </a:r>
            <a:r>
              <a:rPr lang="en-US" sz="10799">
                <a:solidFill>
                  <a:srgbClr val="000000"/>
                </a:solidFill>
                <a:latin typeface="Anton"/>
                <a:ea typeface="Anton"/>
                <a:cs typeface="Anton"/>
                <a:sym typeface="Anton"/>
              </a:rPr>
              <a:t>UR MEP CONSULTANTS</a:t>
            </a:r>
          </a:p>
        </p:txBody>
      </p:sp>
      <p:sp>
        <p:nvSpPr>
          <p:cNvPr name="Freeform 18" id="18"/>
          <p:cNvSpPr/>
          <p:nvPr/>
        </p:nvSpPr>
        <p:spPr>
          <a:xfrm flipH="false" flipV="false" rot="0">
            <a:off x="-12422" y="0"/>
            <a:ext cx="2929978" cy="2307469"/>
          </a:xfrm>
          <a:custGeom>
            <a:avLst/>
            <a:gdLst/>
            <a:ahLst/>
            <a:cxnLst/>
            <a:rect r="r" b="b" t="t" l="l"/>
            <a:pathLst>
              <a:path h="2307469" w="2929978">
                <a:moveTo>
                  <a:pt x="0" y="0"/>
                </a:moveTo>
                <a:lnTo>
                  <a:pt x="2929979" y="0"/>
                </a:lnTo>
                <a:lnTo>
                  <a:pt x="2929979" y="2307469"/>
                </a:lnTo>
                <a:lnTo>
                  <a:pt x="0" y="2307469"/>
                </a:lnTo>
                <a:lnTo>
                  <a:pt x="0" y="0"/>
                </a:lnTo>
                <a:close/>
              </a:path>
            </a:pathLst>
          </a:custGeom>
          <a:blipFill>
            <a:blip r:embed="rId3"/>
            <a:stretch>
              <a:fillRect l="-365933" t="-228812" r="0" b="-5607"/>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grpSp>
        <p:nvGrpSpPr>
          <p:cNvPr name="Group 3" id="3"/>
          <p:cNvGrpSpPr/>
          <p:nvPr/>
        </p:nvGrpSpPr>
        <p:grpSpPr>
          <a:xfrm rot="0">
            <a:off x="-474832" y="9258300"/>
            <a:ext cx="20055435" cy="1119564"/>
            <a:chOff x="0" y="0"/>
            <a:chExt cx="5282090" cy="294864"/>
          </a:xfrm>
        </p:grpSpPr>
        <p:sp>
          <p:nvSpPr>
            <p:cNvPr name="Freeform 4" id="4"/>
            <p:cNvSpPr/>
            <p:nvPr/>
          </p:nvSpPr>
          <p:spPr>
            <a:xfrm flipH="false" flipV="false" rot="0">
              <a:off x="0" y="0"/>
              <a:ext cx="5282090" cy="294864"/>
            </a:xfrm>
            <a:custGeom>
              <a:avLst/>
              <a:gdLst/>
              <a:ahLst/>
              <a:cxnLst/>
              <a:rect r="r" b="b" t="t" l="l"/>
              <a:pathLst>
                <a:path h="294864" w="5282090">
                  <a:moveTo>
                    <a:pt x="38603" y="0"/>
                  </a:moveTo>
                  <a:lnTo>
                    <a:pt x="5243487" y="0"/>
                  </a:lnTo>
                  <a:cubicBezTo>
                    <a:pt x="5253725" y="0"/>
                    <a:pt x="5263544" y="4067"/>
                    <a:pt x="5270784" y="11306"/>
                  </a:cubicBezTo>
                  <a:cubicBezTo>
                    <a:pt x="5278023" y="18546"/>
                    <a:pt x="5282090" y="28365"/>
                    <a:pt x="5282090" y="38603"/>
                  </a:cubicBezTo>
                  <a:lnTo>
                    <a:pt x="5282090" y="256262"/>
                  </a:lnTo>
                  <a:cubicBezTo>
                    <a:pt x="5282090" y="266500"/>
                    <a:pt x="5278023" y="276319"/>
                    <a:pt x="5270784" y="283558"/>
                  </a:cubicBezTo>
                  <a:cubicBezTo>
                    <a:pt x="5263544" y="290797"/>
                    <a:pt x="5253725" y="294864"/>
                    <a:pt x="5243487" y="294864"/>
                  </a:cubicBezTo>
                  <a:lnTo>
                    <a:pt x="38603" y="294864"/>
                  </a:lnTo>
                  <a:cubicBezTo>
                    <a:pt x="28365" y="294864"/>
                    <a:pt x="18546" y="290797"/>
                    <a:pt x="11306" y="283558"/>
                  </a:cubicBezTo>
                  <a:cubicBezTo>
                    <a:pt x="4067" y="276319"/>
                    <a:pt x="0" y="266500"/>
                    <a:pt x="0" y="256262"/>
                  </a:cubicBezTo>
                  <a:lnTo>
                    <a:pt x="0" y="38603"/>
                  </a:lnTo>
                  <a:cubicBezTo>
                    <a:pt x="0" y="28365"/>
                    <a:pt x="4067" y="18546"/>
                    <a:pt x="11306" y="11306"/>
                  </a:cubicBezTo>
                  <a:cubicBezTo>
                    <a:pt x="18546" y="4067"/>
                    <a:pt x="28365" y="0"/>
                    <a:pt x="38603" y="0"/>
                  </a:cubicBezTo>
                  <a:close/>
                </a:path>
              </a:pathLst>
            </a:custGeom>
            <a:gradFill rotWithShape="true">
              <a:gsLst>
                <a:gs pos="0">
                  <a:srgbClr val="1B68C9">
                    <a:alpha val="100000"/>
                  </a:srgbClr>
                </a:gs>
                <a:gs pos="50000">
                  <a:srgbClr val="6797CC">
                    <a:alpha val="100000"/>
                  </a:srgbClr>
                </a:gs>
                <a:gs pos="100000">
                  <a:srgbClr val="FFFFFF">
                    <a:alpha val="100000"/>
                  </a:srgbClr>
                </a:gs>
              </a:gsLst>
              <a:lin ang="2700000"/>
            </a:gradFill>
          </p:spPr>
        </p:sp>
        <p:sp>
          <p:nvSpPr>
            <p:cNvPr name="TextBox 5" id="5"/>
            <p:cNvSpPr txBox="true"/>
            <p:nvPr/>
          </p:nvSpPr>
          <p:spPr>
            <a:xfrm>
              <a:off x="0" y="-38100"/>
              <a:ext cx="5282090" cy="332964"/>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0446688" y="0"/>
            <a:ext cx="7841312" cy="9258300"/>
          </a:xfrm>
          <a:custGeom>
            <a:avLst/>
            <a:gdLst/>
            <a:ahLst/>
            <a:cxnLst/>
            <a:rect r="r" b="b" t="t" l="l"/>
            <a:pathLst>
              <a:path h="9258300" w="7841312">
                <a:moveTo>
                  <a:pt x="0" y="0"/>
                </a:moveTo>
                <a:lnTo>
                  <a:pt x="7841312" y="0"/>
                </a:lnTo>
                <a:lnTo>
                  <a:pt x="7841312" y="9258300"/>
                </a:lnTo>
                <a:lnTo>
                  <a:pt x="0" y="9258300"/>
                </a:lnTo>
                <a:lnTo>
                  <a:pt x="0" y="0"/>
                </a:lnTo>
                <a:close/>
              </a:path>
            </a:pathLst>
          </a:custGeom>
          <a:blipFill>
            <a:blip r:embed="rId3"/>
            <a:stretch>
              <a:fillRect l="-28409" t="0" r="-48807" b="0"/>
            </a:stretch>
          </a:blipFill>
        </p:spPr>
      </p:sp>
      <p:sp>
        <p:nvSpPr>
          <p:cNvPr name="TextBox 7" id="7"/>
          <p:cNvSpPr txBox="true"/>
          <p:nvPr/>
        </p:nvSpPr>
        <p:spPr>
          <a:xfrm rot="0">
            <a:off x="442908" y="1787938"/>
            <a:ext cx="222399" cy="1964403"/>
          </a:xfrm>
          <a:prstGeom prst="rect">
            <a:avLst/>
          </a:prstGeom>
        </p:spPr>
        <p:txBody>
          <a:bodyPr anchor="t" rtlCol="false" tIns="0" lIns="0" bIns="0" rIns="0">
            <a:spAutoFit/>
          </a:bodyPr>
          <a:lstStyle/>
          <a:p>
            <a:pPr algn="l">
              <a:lnSpc>
                <a:spcPts val="5343"/>
              </a:lnSpc>
            </a:pPr>
            <a:r>
              <a:rPr lang="en-US" sz="2342">
                <a:solidFill>
                  <a:srgbClr val="000000"/>
                </a:solidFill>
                <a:latin typeface="Arab Times"/>
                <a:ea typeface="Arab Times"/>
                <a:cs typeface="Arab Times"/>
                <a:sym typeface="Arab Times"/>
              </a:rPr>
              <a:t>● ● ●</a:t>
            </a:r>
          </a:p>
        </p:txBody>
      </p:sp>
      <p:sp>
        <p:nvSpPr>
          <p:cNvPr name="TextBox 8" id="8"/>
          <p:cNvSpPr txBox="true"/>
          <p:nvPr/>
        </p:nvSpPr>
        <p:spPr>
          <a:xfrm rot="0">
            <a:off x="873447" y="1735122"/>
            <a:ext cx="12848949" cy="2059304"/>
          </a:xfrm>
          <a:prstGeom prst="rect">
            <a:avLst/>
          </a:prstGeom>
        </p:spPr>
        <p:txBody>
          <a:bodyPr anchor="t" rtlCol="false" tIns="0" lIns="0" bIns="0" rIns="0">
            <a:spAutoFit/>
          </a:bodyPr>
          <a:lstStyle/>
          <a:p>
            <a:pPr algn="l">
              <a:lnSpc>
                <a:spcPts val="5580"/>
              </a:lnSpc>
            </a:pPr>
            <a:r>
              <a:rPr lang="en-US" sz="3100" spc="-24">
                <a:solidFill>
                  <a:srgbClr val="000000"/>
                </a:solidFill>
                <a:latin typeface="IBM Plex Sans"/>
                <a:ea typeface="IBM Plex Sans"/>
                <a:cs typeface="IBM Plex Sans"/>
                <a:sym typeface="IBM Plex Sans"/>
              </a:rPr>
              <a:t>To enhance the quality of constructions. To sieve with best value for money and high retain on project. To acquaint client with Residential and Commercial Projects standards. </a:t>
            </a:r>
          </a:p>
        </p:txBody>
      </p:sp>
      <p:sp>
        <p:nvSpPr>
          <p:cNvPr name="TextBox 9" id="9"/>
          <p:cNvSpPr txBox="true"/>
          <p:nvPr/>
        </p:nvSpPr>
        <p:spPr>
          <a:xfrm rot="0">
            <a:off x="442908" y="5027919"/>
            <a:ext cx="13193849" cy="649604"/>
          </a:xfrm>
          <a:prstGeom prst="rect">
            <a:avLst/>
          </a:prstGeom>
        </p:spPr>
        <p:txBody>
          <a:bodyPr anchor="t" rtlCol="false" tIns="0" lIns="0" bIns="0" rIns="0">
            <a:spAutoFit/>
          </a:bodyPr>
          <a:lstStyle/>
          <a:p>
            <a:pPr algn="l">
              <a:lnSpc>
                <a:spcPts val="5580"/>
              </a:lnSpc>
            </a:pPr>
            <a:r>
              <a:rPr lang="en-US" sz="3100" spc="-24">
                <a:solidFill>
                  <a:srgbClr val="000000"/>
                </a:solidFill>
                <a:latin typeface="IBM Plex Sans"/>
                <a:ea typeface="IBM Plex Sans"/>
                <a:cs typeface="IBM Plex Sans"/>
                <a:sym typeface="IBM Plex Sans"/>
              </a:rPr>
              <a:t>●Serve with an environment of professionalism, team work and </a:t>
            </a:r>
          </a:p>
        </p:txBody>
      </p:sp>
      <p:sp>
        <p:nvSpPr>
          <p:cNvPr name="TextBox 10" id="10"/>
          <p:cNvSpPr txBox="true"/>
          <p:nvPr/>
        </p:nvSpPr>
        <p:spPr>
          <a:xfrm rot="0">
            <a:off x="873447" y="5850879"/>
            <a:ext cx="2439762" cy="649604"/>
          </a:xfrm>
          <a:prstGeom prst="rect">
            <a:avLst/>
          </a:prstGeom>
        </p:spPr>
        <p:txBody>
          <a:bodyPr anchor="t" rtlCol="false" tIns="0" lIns="0" bIns="0" rIns="0">
            <a:spAutoFit/>
          </a:bodyPr>
          <a:lstStyle/>
          <a:p>
            <a:pPr algn="l">
              <a:lnSpc>
                <a:spcPts val="5580"/>
              </a:lnSpc>
            </a:pPr>
            <a:r>
              <a:rPr lang="en-US" sz="3100" spc="-24">
                <a:solidFill>
                  <a:srgbClr val="000000"/>
                </a:solidFill>
                <a:latin typeface="IBM Plex Sans"/>
                <a:ea typeface="IBM Plex Sans"/>
                <a:cs typeface="IBM Plex Sans"/>
                <a:sym typeface="IBM Plex Sans"/>
              </a:rPr>
              <a:t>excellence. </a:t>
            </a:r>
          </a:p>
        </p:txBody>
      </p:sp>
      <p:sp>
        <p:nvSpPr>
          <p:cNvPr name="TextBox 11" id="11"/>
          <p:cNvSpPr txBox="true"/>
          <p:nvPr/>
        </p:nvSpPr>
        <p:spPr>
          <a:xfrm rot="0">
            <a:off x="442908" y="6673839"/>
            <a:ext cx="12122229" cy="649604"/>
          </a:xfrm>
          <a:prstGeom prst="rect">
            <a:avLst/>
          </a:prstGeom>
        </p:spPr>
        <p:txBody>
          <a:bodyPr anchor="t" rtlCol="false" tIns="0" lIns="0" bIns="0" rIns="0">
            <a:spAutoFit/>
          </a:bodyPr>
          <a:lstStyle/>
          <a:p>
            <a:pPr algn="l">
              <a:lnSpc>
                <a:spcPts val="5580"/>
              </a:lnSpc>
            </a:pPr>
            <a:r>
              <a:rPr lang="en-US" sz="3100" spc="-21">
                <a:solidFill>
                  <a:srgbClr val="000000"/>
                </a:solidFill>
                <a:latin typeface="IBM Plex Sans"/>
                <a:ea typeface="IBM Plex Sans"/>
                <a:cs typeface="IBM Plex Sans"/>
                <a:sym typeface="IBM Plex Sans"/>
              </a:rPr>
              <a:t>●To respect all environmental rules, regulations and legal </a:t>
            </a:r>
          </a:p>
        </p:txBody>
      </p:sp>
      <p:sp>
        <p:nvSpPr>
          <p:cNvPr name="TextBox 12" id="12"/>
          <p:cNvSpPr txBox="true"/>
          <p:nvPr/>
        </p:nvSpPr>
        <p:spPr>
          <a:xfrm rot="0">
            <a:off x="873447" y="7496799"/>
            <a:ext cx="2951769" cy="649604"/>
          </a:xfrm>
          <a:prstGeom prst="rect">
            <a:avLst/>
          </a:prstGeom>
        </p:spPr>
        <p:txBody>
          <a:bodyPr anchor="t" rtlCol="false" tIns="0" lIns="0" bIns="0" rIns="0">
            <a:spAutoFit/>
          </a:bodyPr>
          <a:lstStyle/>
          <a:p>
            <a:pPr algn="l">
              <a:lnSpc>
                <a:spcPts val="5580"/>
              </a:lnSpc>
            </a:pPr>
            <a:r>
              <a:rPr lang="en-US" sz="3100" spc="-24">
                <a:solidFill>
                  <a:srgbClr val="000000"/>
                </a:solidFill>
                <a:latin typeface="IBM Plex Sans"/>
                <a:ea typeface="IBM Plex Sans"/>
                <a:cs typeface="IBM Plex Sans"/>
                <a:sym typeface="IBM Plex Sans"/>
              </a:rPr>
              <a:t>requirements. </a:t>
            </a:r>
          </a:p>
        </p:txBody>
      </p:sp>
      <p:sp>
        <p:nvSpPr>
          <p:cNvPr name="TextBox 13" id="13"/>
          <p:cNvSpPr txBox="true"/>
          <p:nvPr/>
        </p:nvSpPr>
        <p:spPr>
          <a:xfrm rot="0">
            <a:off x="442908" y="8319759"/>
            <a:ext cx="6345393" cy="649604"/>
          </a:xfrm>
          <a:prstGeom prst="rect">
            <a:avLst/>
          </a:prstGeom>
        </p:spPr>
        <p:txBody>
          <a:bodyPr anchor="t" rtlCol="false" tIns="0" lIns="0" bIns="0" rIns="0">
            <a:spAutoFit/>
          </a:bodyPr>
          <a:lstStyle/>
          <a:p>
            <a:pPr algn="l">
              <a:lnSpc>
                <a:spcPts val="5580"/>
              </a:lnSpc>
            </a:pPr>
            <a:r>
              <a:rPr lang="en-US" sz="3100" spc="-24">
                <a:solidFill>
                  <a:srgbClr val="000000"/>
                </a:solidFill>
                <a:latin typeface="IBM Plex Sans"/>
                <a:ea typeface="IBM Plex Sans"/>
                <a:cs typeface="IBM Plex Sans"/>
                <a:sym typeface="IBM Plex Sans"/>
              </a:rPr>
              <a:t>●To enhance customer value. </a:t>
            </a:r>
          </a:p>
        </p:txBody>
      </p:sp>
      <p:sp>
        <p:nvSpPr>
          <p:cNvPr name="TextBox 14" id="14"/>
          <p:cNvSpPr txBox="true"/>
          <p:nvPr/>
        </p:nvSpPr>
        <p:spPr>
          <a:xfrm rot="0">
            <a:off x="665307" y="682804"/>
            <a:ext cx="6765080" cy="1763840"/>
          </a:xfrm>
          <a:prstGeom prst="rect">
            <a:avLst/>
          </a:prstGeom>
        </p:spPr>
        <p:txBody>
          <a:bodyPr anchor="t" rtlCol="false" tIns="0" lIns="0" bIns="0" rIns="0">
            <a:spAutoFit/>
          </a:bodyPr>
          <a:lstStyle/>
          <a:p>
            <a:pPr algn="l">
              <a:lnSpc>
                <a:spcPts val="6730"/>
              </a:lnSpc>
            </a:pPr>
            <a:r>
              <a:rPr lang="en-US" b="true" sz="4807">
                <a:solidFill>
                  <a:srgbClr val="000000"/>
                </a:solidFill>
                <a:latin typeface="Arial MT Pro Bold"/>
                <a:ea typeface="Arial MT Pro Bold"/>
                <a:cs typeface="Arial MT Pro Bold"/>
                <a:sym typeface="Arial MT Pro Bold"/>
              </a:rPr>
              <a:t>OUR VALUE</a:t>
            </a:r>
          </a:p>
          <a:p>
            <a:pPr algn="l">
              <a:lnSpc>
                <a:spcPts val="6730"/>
              </a:lnSpc>
            </a:pPr>
          </a:p>
        </p:txBody>
      </p:sp>
      <p:sp>
        <p:nvSpPr>
          <p:cNvPr name="TextBox 15" id="15"/>
          <p:cNvSpPr txBox="true"/>
          <p:nvPr/>
        </p:nvSpPr>
        <p:spPr>
          <a:xfrm rot="0">
            <a:off x="1028700" y="9532112"/>
            <a:ext cx="5506238" cy="452501"/>
          </a:xfrm>
          <a:prstGeom prst="rect">
            <a:avLst/>
          </a:prstGeom>
        </p:spPr>
        <p:txBody>
          <a:bodyPr anchor="t" rtlCol="false" tIns="0" lIns="0" bIns="0" rIns="0">
            <a:spAutoFit/>
          </a:bodyPr>
          <a:lstStyle/>
          <a:p>
            <a:pPr algn="l">
              <a:lnSpc>
                <a:spcPts val="3471"/>
              </a:lnSpc>
            </a:pPr>
            <a:r>
              <a:rPr lang="en-US" sz="2799" b="true">
                <a:solidFill>
                  <a:srgbClr val="FFFFFF"/>
                </a:solidFill>
                <a:latin typeface="Roboto Bold"/>
                <a:ea typeface="Roboto Bold"/>
                <a:cs typeface="Roboto Bold"/>
                <a:sym typeface="Roboto Bold"/>
              </a:rPr>
              <a:t>www.cresentcare.in</a:t>
            </a:r>
          </a:p>
        </p:txBody>
      </p:sp>
      <p:sp>
        <p:nvSpPr>
          <p:cNvPr name="Freeform 16" id="16"/>
          <p:cNvSpPr/>
          <p:nvPr/>
        </p:nvSpPr>
        <p:spPr>
          <a:xfrm flipH="false" flipV="false" rot="0">
            <a:off x="15358022" y="0"/>
            <a:ext cx="2929978" cy="2307469"/>
          </a:xfrm>
          <a:custGeom>
            <a:avLst/>
            <a:gdLst/>
            <a:ahLst/>
            <a:cxnLst/>
            <a:rect r="r" b="b" t="t" l="l"/>
            <a:pathLst>
              <a:path h="2307469" w="2929978">
                <a:moveTo>
                  <a:pt x="0" y="0"/>
                </a:moveTo>
                <a:lnTo>
                  <a:pt x="2929978" y="0"/>
                </a:lnTo>
                <a:lnTo>
                  <a:pt x="2929978" y="2307469"/>
                </a:lnTo>
                <a:lnTo>
                  <a:pt x="0" y="2307469"/>
                </a:lnTo>
                <a:lnTo>
                  <a:pt x="0" y="0"/>
                </a:lnTo>
                <a:close/>
              </a:path>
            </a:pathLst>
          </a:custGeom>
          <a:blipFill>
            <a:blip r:embed="rId4"/>
            <a:stretch>
              <a:fillRect l="-365933" t="-228812" r="0" b="-5607"/>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sp>
        <p:nvSpPr>
          <p:cNvPr name="TextBox 3" id="3"/>
          <p:cNvSpPr txBox="true"/>
          <p:nvPr/>
        </p:nvSpPr>
        <p:spPr>
          <a:xfrm rot="0">
            <a:off x="825817" y="2106335"/>
            <a:ext cx="166064" cy="6100805"/>
          </a:xfrm>
          <a:prstGeom prst="rect">
            <a:avLst/>
          </a:prstGeom>
        </p:spPr>
        <p:txBody>
          <a:bodyPr anchor="t" rtlCol="false" tIns="0" lIns="0" bIns="0" rIns="0">
            <a:spAutoFit/>
          </a:bodyPr>
          <a:lstStyle/>
          <a:p>
            <a:pPr algn="just">
              <a:lnSpc>
                <a:spcPts val="4860"/>
              </a:lnSpc>
            </a:pPr>
            <a:r>
              <a:rPr lang="en-US" sz="2122">
                <a:solidFill>
                  <a:srgbClr val="070A10"/>
                </a:solidFill>
                <a:latin typeface="Arab Times"/>
                <a:ea typeface="Arab Times"/>
                <a:cs typeface="Arab Times"/>
                <a:sym typeface="Arab Times"/>
              </a:rPr>
              <a:t>● ● ● ● ● ● ● ● ● ●</a:t>
            </a:r>
          </a:p>
        </p:txBody>
      </p:sp>
      <p:sp>
        <p:nvSpPr>
          <p:cNvPr name="TextBox 4" id="4"/>
          <p:cNvSpPr txBox="true"/>
          <p:nvPr/>
        </p:nvSpPr>
        <p:spPr>
          <a:xfrm rot="0">
            <a:off x="1256343" y="2084765"/>
            <a:ext cx="11126576" cy="6113016"/>
          </a:xfrm>
          <a:prstGeom prst="rect">
            <a:avLst/>
          </a:prstGeom>
        </p:spPr>
        <p:txBody>
          <a:bodyPr anchor="t" rtlCol="false" tIns="0" lIns="0" bIns="0" rIns="0">
            <a:spAutoFit/>
          </a:bodyPr>
          <a:lstStyle/>
          <a:p>
            <a:pPr algn="l">
              <a:lnSpc>
                <a:spcPts val="4860"/>
              </a:lnSpc>
            </a:pPr>
            <a:r>
              <a:rPr lang="en-US" sz="2700" spc="2">
                <a:solidFill>
                  <a:srgbClr val="070A10"/>
                </a:solidFill>
                <a:latin typeface="IBM Plex Sans"/>
                <a:ea typeface="IBM Plex Sans"/>
                <a:cs typeface="IBM Plex Sans"/>
                <a:sym typeface="IBM Plex Sans"/>
              </a:rPr>
              <a:t>Manage and Mitigate Risk with a Safety Program. Ensure Electrical Safety at Construction Sites. Implement Strict Security and Safety Protocols. Ensure a Safe work Assessment Process in Place. Ensure Chemical Storage Safety Requirements are Strictly Followed. Ensure clear Display Signages at the Construction Site. Ensure induction before start the work. Sprinkling of water in the site areas to make the environment dust free. Minors are no allowed to enter the site premises. Adequate lighting equipment’s during night shifts. </a:t>
            </a:r>
          </a:p>
        </p:txBody>
      </p:sp>
      <p:grpSp>
        <p:nvGrpSpPr>
          <p:cNvPr name="Group 5" id="5"/>
          <p:cNvGrpSpPr/>
          <p:nvPr/>
        </p:nvGrpSpPr>
        <p:grpSpPr>
          <a:xfrm rot="0">
            <a:off x="-474832" y="9258300"/>
            <a:ext cx="20055435" cy="1119564"/>
            <a:chOff x="0" y="0"/>
            <a:chExt cx="5282090" cy="294864"/>
          </a:xfrm>
        </p:grpSpPr>
        <p:sp>
          <p:nvSpPr>
            <p:cNvPr name="Freeform 6" id="6"/>
            <p:cNvSpPr/>
            <p:nvPr/>
          </p:nvSpPr>
          <p:spPr>
            <a:xfrm flipH="false" flipV="false" rot="0">
              <a:off x="0" y="0"/>
              <a:ext cx="5282090" cy="294864"/>
            </a:xfrm>
            <a:custGeom>
              <a:avLst/>
              <a:gdLst/>
              <a:ahLst/>
              <a:cxnLst/>
              <a:rect r="r" b="b" t="t" l="l"/>
              <a:pathLst>
                <a:path h="294864" w="5282090">
                  <a:moveTo>
                    <a:pt x="38603" y="0"/>
                  </a:moveTo>
                  <a:lnTo>
                    <a:pt x="5243487" y="0"/>
                  </a:lnTo>
                  <a:cubicBezTo>
                    <a:pt x="5253725" y="0"/>
                    <a:pt x="5263544" y="4067"/>
                    <a:pt x="5270784" y="11306"/>
                  </a:cubicBezTo>
                  <a:cubicBezTo>
                    <a:pt x="5278023" y="18546"/>
                    <a:pt x="5282090" y="28365"/>
                    <a:pt x="5282090" y="38603"/>
                  </a:cubicBezTo>
                  <a:lnTo>
                    <a:pt x="5282090" y="256262"/>
                  </a:lnTo>
                  <a:cubicBezTo>
                    <a:pt x="5282090" y="266500"/>
                    <a:pt x="5278023" y="276319"/>
                    <a:pt x="5270784" y="283558"/>
                  </a:cubicBezTo>
                  <a:cubicBezTo>
                    <a:pt x="5263544" y="290797"/>
                    <a:pt x="5253725" y="294864"/>
                    <a:pt x="5243487" y="294864"/>
                  </a:cubicBezTo>
                  <a:lnTo>
                    <a:pt x="38603" y="294864"/>
                  </a:lnTo>
                  <a:cubicBezTo>
                    <a:pt x="28365" y="294864"/>
                    <a:pt x="18546" y="290797"/>
                    <a:pt x="11306" y="283558"/>
                  </a:cubicBezTo>
                  <a:cubicBezTo>
                    <a:pt x="4067" y="276319"/>
                    <a:pt x="0" y="266500"/>
                    <a:pt x="0" y="256262"/>
                  </a:cubicBezTo>
                  <a:lnTo>
                    <a:pt x="0" y="38603"/>
                  </a:lnTo>
                  <a:cubicBezTo>
                    <a:pt x="0" y="28365"/>
                    <a:pt x="4067" y="18546"/>
                    <a:pt x="11306" y="11306"/>
                  </a:cubicBezTo>
                  <a:cubicBezTo>
                    <a:pt x="18546" y="4067"/>
                    <a:pt x="28365" y="0"/>
                    <a:pt x="38603" y="0"/>
                  </a:cubicBezTo>
                  <a:close/>
                </a:path>
              </a:pathLst>
            </a:custGeom>
            <a:gradFill rotWithShape="true">
              <a:gsLst>
                <a:gs pos="0">
                  <a:srgbClr val="1B68C9">
                    <a:alpha val="100000"/>
                  </a:srgbClr>
                </a:gs>
                <a:gs pos="50000">
                  <a:srgbClr val="6797CC">
                    <a:alpha val="100000"/>
                  </a:srgbClr>
                </a:gs>
                <a:gs pos="100000">
                  <a:srgbClr val="FFFFFF">
                    <a:alpha val="100000"/>
                  </a:srgbClr>
                </a:gs>
              </a:gsLst>
              <a:lin ang="2700000"/>
            </a:gradFill>
          </p:spPr>
        </p:sp>
        <p:sp>
          <p:nvSpPr>
            <p:cNvPr name="TextBox 7" id="7"/>
            <p:cNvSpPr txBox="true"/>
            <p:nvPr/>
          </p:nvSpPr>
          <p:spPr>
            <a:xfrm>
              <a:off x="0" y="-38100"/>
              <a:ext cx="5282090" cy="332964"/>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1028700" y="9532112"/>
            <a:ext cx="5506238" cy="452501"/>
          </a:xfrm>
          <a:prstGeom prst="rect">
            <a:avLst/>
          </a:prstGeom>
        </p:spPr>
        <p:txBody>
          <a:bodyPr anchor="t" rtlCol="false" tIns="0" lIns="0" bIns="0" rIns="0">
            <a:spAutoFit/>
          </a:bodyPr>
          <a:lstStyle/>
          <a:p>
            <a:pPr algn="l">
              <a:lnSpc>
                <a:spcPts val="3471"/>
              </a:lnSpc>
            </a:pPr>
            <a:r>
              <a:rPr lang="en-US" sz="2799" b="true">
                <a:solidFill>
                  <a:srgbClr val="FFFFFF"/>
                </a:solidFill>
                <a:latin typeface="Roboto Bold"/>
                <a:ea typeface="Roboto Bold"/>
                <a:cs typeface="Roboto Bold"/>
                <a:sym typeface="Roboto Bold"/>
              </a:rPr>
              <a:t>www.cresentcare.in</a:t>
            </a:r>
          </a:p>
        </p:txBody>
      </p:sp>
      <p:sp>
        <p:nvSpPr>
          <p:cNvPr name="Freeform 9" id="9"/>
          <p:cNvSpPr/>
          <p:nvPr/>
        </p:nvSpPr>
        <p:spPr>
          <a:xfrm flipH="false" flipV="false" rot="0">
            <a:off x="15358022" y="0"/>
            <a:ext cx="2929978" cy="2307469"/>
          </a:xfrm>
          <a:custGeom>
            <a:avLst/>
            <a:gdLst/>
            <a:ahLst/>
            <a:cxnLst/>
            <a:rect r="r" b="b" t="t" l="l"/>
            <a:pathLst>
              <a:path h="2307469" w="2929978">
                <a:moveTo>
                  <a:pt x="0" y="0"/>
                </a:moveTo>
                <a:lnTo>
                  <a:pt x="2929978" y="0"/>
                </a:lnTo>
                <a:lnTo>
                  <a:pt x="2929978" y="2307469"/>
                </a:lnTo>
                <a:lnTo>
                  <a:pt x="0" y="2307469"/>
                </a:lnTo>
                <a:lnTo>
                  <a:pt x="0" y="0"/>
                </a:lnTo>
                <a:close/>
              </a:path>
            </a:pathLst>
          </a:custGeom>
          <a:blipFill>
            <a:blip r:embed="rId3"/>
            <a:stretch>
              <a:fillRect l="-365933" t="-228812" r="0" b="-5607"/>
            </a:stretch>
          </a:blipFill>
        </p:spPr>
      </p:sp>
      <p:sp>
        <p:nvSpPr>
          <p:cNvPr name="TextBox 10" id="10"/>
          <p:cNvSpPr txBox="true"/>
          <p:nvPr/>
        </p:nvSpPr>
        <p:spPr>
          <a:xfrm rot="0">
            <a:off x="825817" y="838200"/>
            <a:ext cx="6765080" cy="916115"/>
          </a:xfrm>
          <a:prstGeom prst="rect">
            <a:avLst/>
          </a:prstGeom>
        </p:spPr>
        <p:txBody>
          <a:bodyPr anchor="t" rtlCol="false" tIns="0" lIns="0" bIns="0" rIns="0">
            <a:spAutoFit/>
          </a:bodyPr>
          <a:lstStyle/>
          <a:p>
            <a:pPr algn="l">
              <a:lnSpc>
                <a:spcPts val="6730"/>
              </a:lnSpc>
            </a:pPr>
            <a:r>
              <a:rPr lang="en-US" b="true" sz="4807">
                <a:solidFill>
                  <a:srgbClr val="000000"/>
                </a:solidFill>
                <a:latin typeface="Arial MT Pro Bold"/>
                <a:ea typeface="Arial MT Pro Bold"/>
                <a:cs typeface="Arial MT Pro Bold"/>
                <a:sym typeface="Arial MT Pro Bold"/>
              </a:rPr>
              <a:t>Safety Guidline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74832" y="9258300"/>
            <a:ext cx="20055435" cy="1119564"/>
            <a:chOff x="0" y="0"/>
            <a:chExt cx="5282090" cy="294864"/>
          </a:xfrm>
        </p:grpSpPr>
        <p:sp>
          <p:nvSpPr>
            <p:cNvPr name="Freeform 3" id="3"/>
            <p:cNvSpPr/>
            <p:nvPr/>
          </p:nvSpPr>
          <p:spPr>
            <a:xfrm flipH="false" flipV="false" rot="0">
              <a:off x="0" y="0"/>
              <a:ext cx="5282090" cy="294864"/>
            </a:xfrm>
            <a:custGeom>
              <a:avLst/>
              <a:gdLst/>
              <a:ahLst/>
              <a:cxnLst/>
              <a:rect r="r" b="b" t="t" l="l"/>
              <a:pathLst>
                <a:path h="294864" w="5282090">
                  <a:moveTo>
                    <a:pt x="38603" y="0"/>
                  </a:moveTo>
                  <a:lnTo>
                    <a:pt x="5243487" y="0"/>
                  </a:lnTo>
                  <a:cubicBezTo>
                    <a:pt x="5253725" y="0"/>
                    <a:pt x="5263544" y="4067"/>
                    <a:pt x="5270784" y="11306"/>
                  </a:cubicBezTo>
                  <a:cubicBezTo>
                    <a:pt x="5278023" y="18546"/>
                    <a:pt x="5282090" y="28365"/>
                    <a:pt x="5282090" y="38603"/>
                  </a:cubicBezTo>
                  <a:lnTo>
                    <a:pt x="5282090" y="256262"/>
                  </a:lnTo>
                  <a:cubicBezTo>
                    <a:pt x="5282090" y="266500"/>
                    <a:pt x="5278023" y="276319"/>
                    <a:pt x="5270784" y="283558"/>
                  </a:cubicBezTo>
                  <a:cubicBezTo>
                    <a:pt x="5263544" y="290797"/>
                    <a:pt x="5253725" y="294864"/>
                    <a:pt x="5243487" y="294864"/>
                  </a:cubicBezTo>
                  <a:lnTo>
                    <a:pt x="38603" y="294864"/>
                  </a:lnTo>
                  <a:cubicBezTo>
                    <a:pt x="28365" y="294864"/>
                    <a:pt x="18546" y="290797"/>
                    <a:pt x="11306" y="283558"/>
                  </a:cubicBezTo>
                  <a:cubicBezTo>
                    <a:pt x="4067" y="276319"/>
                    <a:pt x="0" y="266500"/>
                    <a:pt x="0" y="256262"/>
                  </a:cubicBezTo>
                  <a:lnTo>
                    <a:pt x="0" y="38603"/>
                  </a:lnTo>
                  <a:cubicBezTo>
                    <a:pt x="0" y="28365"/>
                    <a:pt x="4067" y="18546"/>
                    <a:pt x="11306" y="11306"/>
                  </a:cubicBezTo>
                  <a:cubicBezTo>
                    <a:pt x="18546" y="4067"/>
                    <a:pt x="28365" y="0"/>
                    <a:pt x="38603" y="0"/>
                  </a:cubicBezTo>
                  <a:close/>
                </a:path>
              </a:pathLst>
            </a:custGeom>
            <a:gradFill rotWithShape="true">
              <a:gsLst>
                <a:gs pos="0">
                  <a:srgbClr val="1B68C9">
                    <a:alpha val="100000"/>
                  </a:srgbClr>
                </a:gs>
                <a:gs pos="50000">
                  <a:srgbClr val="6797CC">
                    <a:alpha val="100000"/>
                  </a:srgbClr>
                </a:gs>
                <a:gs pos="100000">
                  <a:srgbClr val="FFFFFF">
                    <a:alpha val="100000"/>
                  </a:srgbClr>
                </a:gs>
              </a:gsLst>
              <a:lin ang="2700000"/>
            </a:gradFill>
          </p:spPr>
        </p:sp>
        <p:sp>
          <p:nvSpPr>
            <p:cNvPr name="TextBox 4" id="4"/>
            <p:cNvSpPr txBox="true"/>
            <p:nvPr/>
          </p:nvSpPr>
          <p:spPr>
            <a:xfrm>
              <a:off x="0" y="-38100"/>
              <a:ext cx="5282090" cy="332964"/>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028700" y="9532112"/>
            <a:ext cx="5506238" cy="452501"/>
          </a:xfrm>
          <a:prstGeom prst="rect">
            <a:avLst/>
          </a:prstGeom>
        </p:spPr>
        <p:txBody>
          <a:bodyPr anchor="t" rtlCol="false" tIns="0" lIns="0" bIns="0" rIns="0">
            <a:spAutoFit/>
          </a:bodyPr>
          <a:lstStyle/>
          <a:p>
            <a:pPr algn="l">
              <a:lnSpc>
                <a:spcPts val="3471"/>
              </a:lnSpc>
            </a:pPr>
            <a:r>
              <a:rPr lang="en-US" sz="2799" b="true">
                <a:solidFill>
                  <a:srgbClr val="FFFFFF"/>
                </a:solidFill>
                <a:latin typeface="Roboto Bold"/>
                <a:ea typeface="Roboto Bold"/>
                <a:cs typeface="Roboto Bold"/>
                <a:sym typeface="Roboto Bold"/>
              </a:rPr>
              <a:t>www.reallygreatsite.com</a:t>
            </a:r>
          </a:p>
        </p:txBody>
      </p:sp>
      <p:grpSp>
        <p:nvGrpSpPr>
          <p:cNvPr name="Group 6" id="6"/>
          <p:cNvGrpSpPr/>
          <p:nvPr/>
        </p:nvGrpSpPr>
        <p:grpSpPr>
          <a:xfrm rot="0">
            <a:off x="5398639" y="-1243899"/>
            <a:ext cx="2272599" cy="2272599"/>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B68C9">
                    <a:alpha val="100000"/>
                  </a:srgbClr>
                </a:gs>
                <a:gs pos="50000">
                  <a:srgbClr val="6797CC">
                    <a:alpha val="100000"/>
                  </a:srgbClr>
                </a:gs>
                <a:gs pos="100000">
                  <a:srgbClr val="FFFFFF">
                    <a:alpha val="100000"/>
                  </a:srgbClr>
                </a:gs>
              </a:gsLst>
              <a:lin ang="2700000"/>
            </a:gra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17485444" y="1474579"/>
            <a:ext cx="1605111" cy="1605111"/>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B68C9">
                    <a:alpha val="100000"/>
                  </a:srgbClr>
                </a:gs>
                <a:gs pos="50000">
                  <a:srgbClr val="6797CC">
                    <a:alpha val="100000"/>
                  </a:srgbClr>
                </a:gs>
                <a:gs pos="100000">
                  <a:srgbClr val="FFFFFF">
                    <a:alpha val="100000"/>
                  </a:srgbClr>
                </a:gs>
              </a:gsLst>
              <a:lin ang="2700000"/>
            </a:gra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2" id="12"/>
          <p:cNvSpPr txBox="true"/>
          <p:nvPr/>
        </p:nvSpPr>
        <p:spPr>
          <a:xfrm rot="0">
            <a:off x="9144000" y="1693814"/>
            <a:ext cx="7355010" cy="1397880"/>
          </a:xfrm>
          <a:prstGeom prst="rect">
            <a:avLst/>
          </a:prstGeom>
        </p:spPr>
        <p:txBody>
          <a:bodyPr anchor="t" rtlCol="false" tIns="0" lIns="0" bIns="0" rIns="0">
            <a:spAutoFit/>
          </a:bodyPr>
          <a:lstStyle/>
          <a:p>
            <a:pPr algn="l">
              <a:lnSpc>
                <a:spcPts val="10607"/>
              </a:lnSpc>
            </a:pPr>
            <a:r>
              <a:rPr lang="en-US" sz="10199">
                <a:solidFill>
                  <a:srgbClr val="070A10"/>
                </a:solidFill>
                <a:latin typeface="Anton"/>
                <a:ea typeface="Anton"/>
                <a:cs typeface="Anton"/>
                <a:sym typeface="Anton"/>
              </a:rPr>
              <a:t>HOSPITAL</a:t>
            </a:r>
          </a:p>
        </p:txBody>
      </p:sp>
      <p:grpSp>
        <p:nvGrpSpPr>
          <p:cNvPr name="Group 13" id="13"/>
          <p:cNvGrpSpPr/>
          <p:nvPr/>
        </p:nvGrpSpPr>
        <p:grpSpPr>
          <a:xfrm rot="-10800000">
            <a:off x="9144000" y="0"/>
            <a:ext cx="13258839" cy="1119564"/>
            <a:chOff x="0" y="0"/>
            <a:chExt cx="3492040" cy="294864"/>
          </a:xfrm>
        </p:grpSpPr>
        <p:sp>
          <p:nvSpPr>
            <p:cNvPr name="Freeform 14" id="14"/>
            <p:cNvSpPr/>
            <p:nvPr/>
          </p:nvSpPr>
          <p:spPr>
            <a:xfrm flipH="false" flipV="false" rot="0">
              <a:off x="0" y="0"/>
              <a:ext cx="3492040" cy="294864"/>
            </a:xfrm>
            <a:custGeom>
              <a:avLst/>
              <a:gdLst/>
              <a:ahLst/>
              <a:cxnLst/>
              <a:rect r="r" b="b" t="t" l="l"/>
              <a:pathLst>
                <a:path h="294864" w="3492040">
                  <a:moveTo>
                    <a:pt x="58391" y="0"/>
                  </a:moveTo>
                  <a:lnTo>
                    <a:pt x="3433649" y="0"/>
                  </a:lnTo>
                  <a:cubicBezTo>
                    <a:pt x="3465898" y="0"/>
                    <a:pt x="3492040" y="26142"/>
                    <a:pt x="3492040" y="58391"/>
                  </a:cubicBezTo>
                  <a:lnTo>
                    <a:pt x="3492040" y="236474"/>
                  </a:lnTo>
                  <a:cubicBezTo>
                    <a:pt x="3492040" y="268722"/>
                    <a:pt x="3465898" y="294864"/>
                    <a:pt x="3433649" y="294864"/>
                  </a:cubicBezTo>
                  <a:lnTo>
                    <a:pt x="58391" y="294864"/>
                  </a:lnTo>
                  <a:cubicBezTo>
                    <a:pt x="42904" y="294864"/>
                    <a:pt x="28053" y="288713"/>
                    <a:pt x="17102" y="277762"/>
                  </a:cubicBezTo>
                  <a:cubicBezTo>
                    <a:pt x="6152" y="266812"/>
                    <a:pt x="0" y="251960"/>
                    <a:pt x="0" y="236474"/>
                  </a:cubicBezTo>
                  <a:lnTo>
                    <a:pt x="0" y="58391"/>
                  </a:lnTo>
                  <a:cubicBezTo>
                    <a:pt x="0" y="26142"/>
                    <a:pt x="26142" y="0"/>
                    <a:pt x="58391" y="0"/>
                  </a:cubicBezTo>
                  <a:close/>
                </a:path>
              </a:pathLst>
            </a:custGeom>
            <a:gradFill rotWithShape="true">
              <a:gsLst>
                <a:gs pos="0">
                  <a:srgbClr val="1B68C9">
                    <a:alpha val="100000"/>
                  </a:srgbClr>
                </a:gs>
                <a:gs pos="50000">
                  <a:srgbClr val="6797CC">
                    <a:alpha val="100000"/>
                  </a:srgbClr>
                </a:gs>
                <a:gs pos="100000">
                  <a:srgbClr val="FFFFFF">
                    <a:alpha val="100000"/>
                  </a:srgbClr>
                </a:gs>
              </a:gsLst>
              <a:lin ang="2700000"/>
            </a:gradFill>
          </p:spPr>
        </p:sp>
        <p:sp>
          <p:nvSpPr>
            <p:cNvPr name="TextBox 15" id="15"/>
            <p:cNvSpPr txBox="true"/>
            <p:nvPr/>
          </p:nvSpPr>
          <p:spPr>
            <a:xfrm>
              <a:off x="0" y="-38100"/>
              <a:ext cx="3492040" cy="332964"/>
            </a:xfrm>
            <a:prstGeom prst="rect">
              <a:avLst/>
            </a:prstGeom>
          </p:spPr>
          <p:txBody>
            <a:bodyPr anchor="ctr" rtlCol="false" tIns="50800" lIns="50800" bIns="50800" rIns="50800"/>
            <a:lstStyle/>
            <a:p>
              <a:pPr algn="ctr">
                <a:lnSpc>
                  <a:spcPts val="2659"/>
                </a:lnSpc>
              </a:pPr>
            </a:p>
          </p:txBody>
        </p:sp>
      </p:grpSp>
      <p:sp>
        <p:nvSpPr>
          <p:cNvPr name="Freeform 16" id="16"/>
          <p:cNvSpPr/>
          <p:nvPr/>
        </p:nvSpPr>
        <p:spPr>
          <a:xfrm flipH="false" flipV="false" rot="5400000">
            <a:off x="16084652" y="7305443"/>
            <a:ext cx="891758" cy="1038437"/>
          </a:xfrm>
          <a:custGeom>
            <a:avLst/>
            <a:gdLst/>
            <a:ahLst/>
            <a:cxnLst/>
            <a:rect r="r" b="b" t="t" l="l"/>
            <a:pathLst>
              <a:path h="1038437" w="891758">
                <a:moveTo>
                  <a:pt x="0" y="0"/>
                </a:moveTo>
                <a:lnTo>
                  <a:pt x="891758" y="0"/>
                </a:lnTo>
                <a:lnTo>
                  <a:pt x="891758" y="1038438"/>
                </a:lnTo>
                <a:lnTo>
                  <a:pt x="0" y="10384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7" id="17"/>
          <p:cNvSpPr txBox="true"/>
          <p:nvPr/>
        </p:nvSpPr>
        <p:spPr>
          <a:xfrm rot="0">
            <a:off x="9144000" y="3051116"/>
            <a:ext cx="6629420" cy="507619"/>
          </a:xfrm>
          <a:prstGeom prst="rect">
            <a:avLst/>
          </a:prstGeom>
        </p:spPr>
        <p:txBody>
          <a:bodyPr anchor="t" rtlCol="false" tIns="0" lIns="0" bIns="0" rIns="0">
            <a:spAutoFit/>
          </a:bodyPr>
          <a:lstStyle/>
          <a:p>
            <a:pPr algn="l">
              <a:lnSpc>
                <a:spcPts val="3968"/>
              </a:lnSpc>
            </a:pPr>
            <a:r>
              <a:rPr lang="en-US" sz="3200" b="true">
                <a:solidFill>
                  <a:srgbClr val="070A10"/>
                </a:solidFill>
                <a:latin typeface="Roboto Bold"/>
                <a:ea typeface="Roboto Bold"/>
                <a:cs typeface="Roboto Bold"/>
                <a:sym typeface="Roboto Bold"/>
              </a:rPr>
              <a:t>SH Hospital Rudrapur, Uttarakhand </a:t>
            </a:r>
          </a:p>
        </p:txBody>
      </p:sp>
      <p:sp>
        <p:nvSpPr>
          <p:cNvPr name="TextBox 18" id="18"/>
          <p:cNvSpPr txBox="true"/>
          <p:nvPr/>
        </p:nvSpPr>
        <p:spPr>
          <a:xfrm rot="0">
            <a:off x="9388797" y="5224610"/>
            <a:ext cx="3088100" cy="514160"/>
          </a:xfrm>
          <a:prstGeom prst="rect">
            <a:avLst/>
          </a:prstGeom>
        </p:spPr>
        <p:txBody>
          <a:bodyPr anchor="t" rtlCol="false" tIns="0" lIns="0" bIns="0" rIns="0">
            <a:spAutoFit/>
          </a:bodyPr>
          <a:lstStyle/>
          <a:p>
            <a:pPr algn="l">
              <a:lnSpc>
                <a:spcPts val="4210"/>
              </a:lnSpc>
            </a:pPr>
            <a:r>
              <a:rPr lang="en-US" b="true" sz="3007">
                <a:solidFill>
                  <a:srgbClr val="000000"/>
                </a:solidFill>
                <a:latin typeface="IBM Plex Sans Bold"/>
                <a:ea typeface="IBM Plex Sans Bold"/>
                <a:cs typeface="IBM Plex Sans Bold"/>
                <a:sym typeface="IBM Plex Sans Bold"/>
              </a:rPr>
              <a:t>Project Highlight</a:t>
            </a:r>
          </a:p>
        </p:txBody>
      </p:sp>
      <p:sp>
        <p:nvSpPr>
          <p:cNvPr name="TextBox 19" id="19"/>
          <p:cNvSpPr txBox="true"/>
          <p:nvPr/>
        </p:nvSpPr>
        <p:spPr>
          <a:xfrm rot="0">
            <a:off x="9784075" y="6000326"/>
            <a:ext cx="2478810" cy="1677695"/>
          </a:xfrm>
          <a:prstGeom prst="rect">
            <a:avLst/>
          </a:prstGeom>
        </p:spPr>
        <p:txBody>
          <a:bodyPr anchor="t" rtlCol="false" tIns="0" lIns="0" bIns="0" rIns="0">
            <a:spAutoFit/>
          </a:bodyPr>
          <a:lstStyle/>
          <a:p>
            <a:pPr algn="l">
              <a:lnSpc>
                <a:spcPts val="3304"/>
              </a:lnSpc>
            </a:pPr>
            <a:r>
              <a:rPr lang="en-US" sz="2700" spc="-21">
                <a:solidFill>
                  <a:srgbClr val="000000"/>
                </a:solidFill>
                <a:latin typeface="IBM Plex Sans"/>
                <a:ea typeface="IBM Plex Sans"/>
                <a:cs typeface="IBM Plex Sans"/>
                <a:sym typeface="IBM Plex Sans"/>
              </a:rPr>
              <a:t>Covered Area No. Of Beds Air-Conditioned Completion </a:t>
            </a:r>
          </a:p>
        </p:txBody>
      </p:sp>
      <p:sp>
        <p:nvSpPr>
          <p:cNvPr name="TextBox 20" id="20"/>
          <p:cNvSpPr txBox="true"/>
          <p:nvPr/>
        </p:nvSpPr>
        <p:spPr>
          <a:xfrm rot="0">
            <a:off x="12541563" y="6000326"/>
            <a:ext cx="2047442" cy="1258595"/>
          </a:xfrm>
          <a:prstGeom prst="rect">
            <a:avLst/>
          </a:prstGeom>
        </p:spPr>
        <p:txBody>
          <a:bodyPr anchor="t" rtlCol="false" tIns="0" lIns="0" bIns="0" rIns="0">
            <a:spAutoFit/>
          </a:bodyPr>
          <a:lstStyle/>
          <a:p>
            <a:pPr algn="l">
              <a:lnSpc>
                <a:spcPts val="3304"/>
              </a:lnSpc>
            </a:pPr>
            <a:r>
              <a:rPr lang="en-US" sz="2700" spc="-21">
                <a:solidFill>
                  <a:srgbClr val="000000"/>
                </a:solidFill>
                <a:latin typeface="IBM Plex Sans"/>
                <a:ea typeface="IBM Plex Sans"/>
                <a:cs typeface="IBM Plex Sans"/>
                <a:sym typeface="IBM Plex Sans"/>
              </a:rPr>
              <a:t>6,500 Sq. M. 75 Yes 24 Months </a:t>
            </a:r>
          </a:p>
        </p:txBody>
      </p:sp>
      <p:sp>
        <p:nvSpPr>
          <p:cNvPr name="TextBox 21" id="21"/>
          <p:cNvSpPr txBox="true"/>
          <p:nvPr/>
        </p:nvSpPr>
        <p:spPr>
          <a:xfrm rot="0">
            <a:off x="9353550" y="6079807"/>
            <a:ext cx="139417" cy="1706556"/>
          </a:xfrm>
          <a:prstGeom prst="rect">
            <a:avLst/>
          </a:prstGeom>
        </p:spPr>
        <p:txBody>
          <a:bodyPr anchor="t" rtlCol="false" tIns="0" lIns="0" bIns="0" rIns="0">
            <a:spAutoFit/>
          </a:bodyPr>
          <a:lstStyle/>
          <a:p>
            <a:pPr algn="just">
              <a:lnSpc>
                <a:spcPts val="3302"/>
              </a:lnSpc>
            </a:pPr>
            <a:r>
              <a:rPr lang="en-US" sz="3075">
                <a:solidFill>
                  <a:srgbClr val="000000"/>
                </a:solidFill>
                <a:latin typeface="Roboto"/>
                <a:ea typeface="Roboto"/>
                <a:cs typeface="Roboto"/>
                <a:sym typeface="Roboto"/>
              </a:rPr>
              <a:t>• • • •</a:t>
            </a:r>
          </a:p>
        </p:txBody>
      </p:sp>
      <p:sp>
        <p:nvSpPr>
          <p:cNvPr name="TextBox 22" id="22"/>
          <p:cNvSpPr txBox="true"/>
          <p:nvPr/>
        </p:nvSpPr>
        <p:spPr>
          <a:xfrm rot="0">
            <a:off x="9679300" y="8184816"/>
            <a:ext cx="3939621" cy="811340"/>
          </a:xfrm>
          <a:prstGeom prst="rect">
            <a:avLst/>
          </a:prstGeom>
        </p:spPr>
        <p:txBody>
          <a:bodyPr anchor="t" rtlCol="false" tIns="0" lIns="0" bIns="0" rIns="0">
            <a:spAutoFit/>
          </a:bodyPr>
          <a:lstStyle/>
          <a:p>
            <a:pPr algn="l">
              <a:lnSpc>
                <a:spcPts val="6730"/>
              </a:lnSpc>
            </a:pPr>
            <a:r>
              <a:rPr lang="en-US" b="true" sz="4807">
                <a:solidFill>
                  <a:srgbClr val="000000"/>
                </a:solidFill>
                <a:latin typeface="IBM Plex Sans Bold"/>
                <a:ea typeface="IBM Plex Sans Bold"/>
                <a:cs typeface="IBM Plex Sans Bold"/>
                <a:sym typeface="IBM Plex Sans Bold"/>
              </a:rPr>
              <a:t>COMPLETED</a:t>
            </a:r>
          </a:p>
        </p:txBody>
      </p:sp>
      <p:sp>
        <p:nvSpPr>
          <p:cNvPr name="Freeform 23" id="23"/>
          <p:cNvSpPr/>
          <p:nvPr/>
        </p:nvSpPr>
        <p:spPr>
          <a:xfrm flipH="false" flipV="false" rot="0">
            <a:off x="0" y="1709596"/>
            <a:ext cx="8677566" cy="7536936"/>
          </a:xfrm>
          <a:custGeom>
            <a:avLst/>
            <a:gdLst/>
            <a:ahLst/>
            <a:cxnLst/>
            <a:rect r="r" b="b" t="t" l="l"/>
            <a:pathLst>
              <a:path h="7536936" w="8677566">
                <a:moveTo>
                  <a:pt x="0" y="0"/>
                </a:moveTo>
                <a:lnTo>
                  <a:pt x="8677566" y="0"/>
                </a:lnTo>
                <a:lnTo>
                  <a:pt x="8677566" y="7536935"/>
                </a:lnTo>
                <a:lnTo>
                  <a:pt x="0" y="7536935"/>
                </a:lnTo>
                <a:lnTo>
                  <a:pt x="0" y="0"/>
                </a:lnTo>
                <a:close/>
              </a:path>
            </a:pathLst>
          </a:custGeom>
          <a:blipFill>
            <a:blip r:embed="rId4"/>
            <a:stretch>
              <a:fillRect l="0" t="-238" r="0" b="-364"/>
            </a:stretch>
          </a:blipFill>
        </p:spPr>
      </p:sp>
      <p:sp>
        <p:nvSpPr>
          <p:cNvPr name="Freeform 24" id="24"/>
          <p:cNvSpPr/>
          <p:nvPr/>
        </p:nvSpPr>
        <p:spPr>
          <a:xfrm flipH="false" flipV="false" rot="0">
            <a:off x="0" y="0"/>
            <a:ext cx="2170811" cy="1709596"/>
          </a:xfrm>
          <a:custGeom>
            <a:avLst/>
            <a:gdLst/>
            <a:ahLst/>
            <a:cxnLst/>
            <a:rect r="r" b="b" t="t" l="l"/>
            <a:pathLst>
              <a:path h="1709596" w="2170811">
                <a:moveTo>
                  <a:pt x="0" y="0"/>
                </a:moveTo>
                <a:lnTo>
                  <a:pt x="2170811" y="0"/>
                </a:lnTo>
                <a:lnTo>
                  <a:pt x="2170811" y="1709596"/>
                </a:lnTo>
                <a:lnTo>
                  <a:pt x="0" y="1709596"/>
                </a:lnTo>
                <a:lnTo>
                  <a:pt x="0" y="0"/>
                </a:lnTo>
                <a:close/>
              </a:path>
            </a:pathLst>
          </a:custGeom>
          <a:blipFill>
            <a:blip r:embed="rId5"/>
            <a:stretch>
              <a:fillRect l="-365933" t="-228812" r="0" b="-5607"/>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74832" y="9258300"/>
            <a:ext cx="20055435" cy="1119564"/>
            <a:chOff x="0" y="0"/>
            <a:chExt cx="5282090" cy="294864"/>
          </a:xfrm>
        </p:grpSpPr>
        <p:sp>
          <p:nvSpPr>
            <p:cNvPr name="Freeform 3" id="3"/>
            <p:cNvSpPr/>
            <p:nvPr/>
          </p:nvSpPr>
          <p:spPr>
            <a:xfrm flipH="false" flipV="false" rot="0">
              <a:off x="0" y="0"/>
              <a:ext cx="5282090" cy="294864"/>
            </a:xfrm>
            <a:custGeom>
              <a:avLst/>
              <a:gdLst/>
              <a:ahLst/>
              <a:cxnLst/>
              <a:rect r="r" b="b" t="t" l="l"/>
              <a:pathLst>
                <a:path h="294864" w="5282090">
                  <a:moveTo>
                    <a:pt x="38603" y="0"/>
                  </a:moveTo>
                  <a:lnTo>
                    <a:pt x="5243487" y="0"/>
                  </a:lnTo>
                  <a:cubicBezTo>
                    <a:pt x="5253725" y="0"/>
                    <a:pt x="5263544" y="4067"/>
                    <a:pt x="5270784" y="11306"/>
                  </a:cubicBezTo>
                  <a:cubicBezTo>
                    <a:pt x="5278023" y="18546"/>
                    <a:pt x="5282090" y="28365"/>
                    <a:pt x="5282090" y="38603"/>
                  </a:cubicBezTo>
                  <a:lnTo>
                    <a:pt x="5282090" y="256262"/>
                  </a:lnTo>
                  <a:cubicBezTo>
                    <a:pt x="5282090" y="266500"/>
                    <a:pt x="5278023" y="276319"/>
                    <a:pt x="5270784" y="283558"/>
                  </a:cubicBezTo>
                  <a:cubicBezTo>
                    <a:pt x="5263544" y="290797"/>
                    <a:pt x="5253725" y="294864"/>
                    <a:pt x="5243487" y="294864"/>
                  </a:cubicBezTo>
                  <a:lnTo>
                    <a:pt x="38603" y="294864"/>
                  </a:lnTo>
                  <a:cubicBezTo>
                    <a:pt x="28365" y="294864"/>
                    <a:pt x="18546" y="290797"/>
                    <a:pt x="11306" y="283558"/>
                  </a:cubicBezTo>
                  <a:cubicBezTo>
                    <a:pt x="4067" y="276319"/>
                    <a:pt x="0" y="266500"/>
                    <a:pt x="0" y="256262"/>
                  </a:cubicBezTo>
                  <a:lnTo>
                    <a:pt x="0" y="38603"/>
                  </a:lnTo>
                  <a:cubicBezTo>
                    <a:pt x="0" y="28365"/>
                    <a:pt x="4067" y="18546"/>
                    <a:pt x="11306" y="11306"/>
                  </a:cubicBezTo>
                  <a:cubicBezTo>
                    <a:pt x="18546" y="4067"/>
                    <a:pt x="28365" y="0"/>
                    <a:pt x="38603" y="0"/>
                  </a:cubicBezTo>
                  <a:close/>
                </a:path>
              </a:pathLst>
            </a:custGeom>
            <a:gradFill rotWithShape="true">
              <a:gsLst>
                <a:gs pos="0">
                  <a:srgbClr val="1B68C9">
                    <a:alpha val="100000"/>
                  </a:srgbClr>
                </a:gs>
                <a:gs pos="50000">
                  <a:srgbClr val="6797CC">
                    <a:alpha val="100000"/>
                  </a:srgbClr>
                </a:gs>
                <a:gs pos="100000">
                  <a:srgbClr val="FFFFFF">
                    <a:alpha val="100000"/>
                  </a:srgbClr>
                </a:gs>
              </a:gsLst>
              <a:lin ang="2700000"/>
            </a:gradFill>
          </p:spPr>
        </p:sp>
        <p:sp>
          <p:nvSpPr>
            <p:cNvPr name="TextBox 4" id="4"/>
            <p:cNvSpPr txBox="true"/>
            <p:nvPr/>
          </p:nvSpPr>
          <p:spPr>
            <a:xfrm>
              <a:off x="0" y="-38100"/>
              <a:ext cx="5282090" cy="332964"/>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5398639" y="-1243899"/>
            <a:ext cx="2272599" cy="2272599"/>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B68C9">
                    <a:alpha val="100000"/>
                  </a:srgbClr>
                </a:gs>
                <a:gs pos="50000">
                  <a:srgbClr val="6797CC">
                    <a:alpha val="100000"/>
                  </a:srgbClr>
                </a:gs>
                <a:gs pos="100000">
                  <a:srgbClr val="FFFFFF">
                    <a:alpha val="100000"/>
                  </a:srgbClr>
                </a:gs>
              </a:gsLst>
              <a:lin ang="2700000"/>
            </a:gra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7485444" y="2055039"/>
            <a:ext cx="1605111" cy="160511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B68C9">
                    <a:alpha val="100000"/>
                  </a:srgbClr>
                </a:gs>
                <a:gs pos="50000">
                  <a:srgbClr val="6797CC">
                    <a:alpha val="100000"/>
                  </a:srgbClr>
                </a:gs>
                <a:gs pos="100000">
                  <a:srgbClr val="FFFFFF">
                    <a:alpha val="100000"/>
                  </a:srgbClr>
                </a:gs>
              </a:gsLst>
              <a:lin ang="2700000"/>
            </a:gra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1" id="11"/>
          <p:cNvSpPr txBox="true"/>
          <p:nvPr/>
        </p:nvSpPr>
        <p:spPr>
          <a:xfrm rot="0">
            <a:off x="9756552" y="750839"/>
            <a:ext cx="7355010" cy="1397880"/>
          </a:xfrm>
          <a:prstGeom prst="rect">
            <a:avLst/>
          </a:prstGeom>
        </p:spPr>
        <p:txBody>
          <a:bodyPr anchor="t" rtlCol="false" tIns="0" lIns="0" bIns="0" rIns="0">
            <a:spAutoFit/>
          </a:bodyPr>
          <a:lstStyle/>
          <a:p>
            <a:pPr algn="l">
              <a:lnSpc>
                <a:spcPts val="10607"/>
              </a:lnSpc>
            </a:pPr>
            <a:r>
              <a:rPr lang="en-US" sz="10199">
                <a:solidFill>
                  <a:srgbClr val="070A10"/>
                </a:solidFill>
                <a:latin typeface="Anton"/>
                <a:ea typeface="Anton"/>
                <a:cs typeface="Anton"/>
                <a:sym typeface="Anton"/>
              </a:rPr>
              <a:t>HOSPITAL</a:t>
            </a:r>
          </a:p>
        </p:txBody>
      </p:sp>
      <p:sp>
        <p:nvSpPr>
          <p:cNvPr name="Freeform 12" id="12"/>
          <p:cNvSpPr/>
          <p:nvPr/>
        </p:nvSpPr>
        <p:spPr>
          <a:xfrm flipH="false" flipV="false" rot="5400000">
            <a:off x="16084652" y="7305443"/>
            <a:ext cx="891758" cy="1038437"/>
          </a:xfrm>
          <a:custGeom>
            <a:avLst/>
            <a:gdLst/>
            <a:ahLst/>
            <a:cxnLst/>
            <a:rect r="r" b="b" t="t" l="l"/>
            <a:pathLst>
              <a:path h="1038437" w="891758">
                <a:moveTo>
                  <a:pt x="0" y="0"/>
                </a:moveTo>
                <a:lnTo>
                  <a:pt x="891758" y="0"/>
                </a:lnTo>
                <a:lnTo>
                  <a:pt x="891758" y="1038438"/>
                </a:lnTo>
                <a:lnTo>
                  <a:pt x="0" y="10384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3" id="13"/>
          <p:cNvSpPr txBox="true"/>
          <p:nvPr/>
        </p:nvSpPr>
        <p:spPr>
          <a:xfrm rot="0">
            <a:off x="9756552" y="2108141"/>
            <a:ext cx="6629420" cy="1002919"/>
          </a:xfrm>
          <a:prstGeom prst="rect">
            <a:avLst/>
          </a:prstGeom>
        </p:spPr>
        <p:txBody>
          <a:bodyPr anchor="t" rtlCol="false" tIns="0" lIns="0" bIns="0" rIns="0">
            <a:spAutoFit/>
          </a:bodyPr>
          <a:lstStyle/>
          <a:p>
            <a:pPr algn="l">
              <a:lnSpc>
                <a:spcPts val="3968"/>
              </a:lnSpc>
            </a:pPr>
            <a:r>
              <a:rPr lang="en-US" sz="3200" b="true">
                <a:solidFill>
                  <a:srgbClr val="070A10"/>
                </a:solidFill>
                <a:latin typeface="Roboto Bold"/>
                <a:ea typeface="Roboto Bold"/>
                <a:cs typeface="Roboto Bold"/>
                <a:sym typeface="Roboto Bold"/>
              </a:rPr>
              <a:t>KALA Healthcare, Dehradun, Uttarakhand </a:t>
            </a:r>
          </a:p>
        </p:txBody>
      </p:sp>
      <p:sp>
        <p:nvSpPr>
          <p:cNvPr name="TextBox 14" id="14"/>
          <p:cNvSpPr txBox="true"/>
          <p:nvPr/>
        </p:nvSpPr>
        <p:spPr>
          <a:xfrm rot="0">
            <a:off x="9679300" y="8165766"/>
            <a:ext cx="3939621" cy="836224"/>
          </a:xfrm>
          <a:prstGeom prst="rect">
            <a:avLst/>
          </a:prstGeom>
        </p:spPr>
        <p:txBody>
          <a:bodyPr anchor="t" rtlCol="false" tIns="0" lIns="0" bIns="0" rIns="0">
            <a:spAutoFit/>
          </a:bodyPr>
          <a:lstStyle/>
          <a:p>
            <a:pPr algn="l">
              <a:lnSpc>
                <a:spcPts val="6730"/>
              </a:lnSpc>
            </a:pPr>
            <a:r>
              <a:rPr lang="en-US" b="true" sz="4807">
                <a:solidFill>
                  <a:srgbClr val="000000"/>
                </a:solidFill>
                <a:latin typeface="Helvetica World Bold"/>
                <a:ea typeface="Helvetica World Bold"/>
                <a:cs typeface="Helvetica World Bold"/>
                <a:sym typeface="Helvetica World Bold"/>
              </a:rPr>
              <a:t>COMPLETED</a:t>
            </a:r>
          </a:p>
        </p:txBody>
      </p:sp>
      <p:sp>
        <p:nvSpPr>
          <p:cNvPr name="Freeform 15" id="15"/>
          <p:cNvSpPr/>
          <p:nvPr/>
        </p:nvSpPr>
        <p:spPr>
          <a:xfrm flipH="false" flipV="false" rot="0">
            <a:off x="16173895" y="0"/>
            <a:ext cx="2170811" cy="1709596"/>
          </a:xfrm>
          <a:custGeom>
            <a:avLst/>
            <a:gdLst/>
            <a:ahLst/>
            <a:cxnLst/>
            <a:rect r="r" b="b" t="t" l="l"/>
            <a:pathLst>
              <a:path h="1709596" w="2170811">
                <a:moveTo>
                  <a:pt x="0" y="0"/>
                </a:moveTo>
                <a:lnTo>
                  <a:pt x="2170810" y="0"/>
                </a:lnTo>
                <a:lnTo>
                  <a:pt x="2170810" y="1709596"/>
                </a:lnTo>
                <a:lnTo>
                  <a:pt x="0" y="1709596"/>
                </a:lnTo>
                <a:lnTo>
                  <a:pt x="0" y="0"/>
                </a:lnTo>
                <a:close/>
              </a:path>
            </a:pathLst>
          </a:custGeom>
          <a:blipFill>
            <a:blip r:embed="rId4"/>
            <a:stretch>
              <a:fillRect l="-365933" t="-228812" r="0" b="-5607"/>
            </a:stretch>
          </a:blipFill>
        </p:spPr>
      </p:sp>
      <p:sp>
        <p:nvSpPr>
          <p:cNvPr name="Freeform 16" id="16"/>
          <p:cNvSpPr/>
          <p:nvPr/>
        </p:nvSpPr>
        <p:spPr>
          <a:xfrm flipH="false" flipV="false" rot="0">
            <a:off x="-7114450" y="0"/>
            <a:ext cx="16191775" cy="9258300"/>
          </a:xfrm>
          <a:custGeom>
            <a:avLst/>
            <a:gdLst/>
            <a:ahLst/>
            <a:cxnLst/>
            <a:rect r="r" b="b" t="t" l="l"/>
            <a:pathLst>
              <a:path h="9258300" w="16191775">
                <a:moveTo>
                  <a:pt x="0" y="0"/>
                </a:moveTo>
                <a:lnTo>
                  <a:pt x="16191775" y="0"/>
                </a:lnTo>
                <a:lnTo>
                  <a:pt x="16191775" y="9258300"/>
                </a:lnTo>
                <a:lnTo>
                  <a:pt x="0" y="9258300"/>
                </a:lnTo>
                <a:lnTo>
                  <a:pt x="0" y="0"/>
                </a:lnTo>
                <a:close/>
              </a:path>
            </a:pathLst>
          </a:custGeom>
          <a:blipFill>
            <a:blip r:embed="rId5"/>
            <a:stretch>
              <a:fillRect l="-735" t="0" r="-735" b="0"/>
            </a:stretch>
          </a:blipFill>
        </p:spPr>
      </p:sp>
      <p:sp>
        <p:nvSpPr>
          <p:cNvPr name="TextBox 17" id="17"/>
          <p:cNvSpPr txBox="true"/>
          <p:nvPr/>
        </p:nvSpPr>
        <p:spPr>
          <a:xfrm rot="0">
            <a:off x="9717400" y="3417554"/>
            <a:ext cx="6263274" cy="4672584"/>
          </a:xfrm>
          <a:prstGeom prst="rect">
            <a:avLst/>
          </a:prstGeom>
        </p:spPr>
        <p:txBody>
          <a:bodyPr anchor="t" rtlCol="false" tIns="0" lIns="0" bIns="0" rIns="0">
            <a:spAutoFit/>
          </a:bodyPr>
          <a:lstStyle/>
          <a:p>
            <a:pPr algn="l">
              <a:lnSpc>
                <a:spcPts val="4698"/>
              </a:lnSpc>
            </a:pPr>
            <a:r>
              <a:rPr lang="en-US" sz="2700">
                <a:solidFill>
                  <a:srgbClr val="000000"/>
                </a:solidFill>
                <a:latin typeface="IBM Plex Sans"/>
                <a:ea typeface="IBM Plex Sans"/>
                <a:cs typeface="IBM Plex Sans"/>
                <a:sym typeface="IBM Plex Sans"/>
              </a:rPr>
              <a:t>We are pleased to inform you that </a:t>
            </a:r>
          </a:p>
          <a:p>
            <a:pPr algn="l">
              <a:lnSpc>
                <a:spcPts val="4698"/>
              </a:lnSpc>
            </a:pPr>
            <a:r>
              <a:rPr lang="en-US" sz="2700">
                <a:solidFill>
                  <a:srgbClr val="000000"/>
                </a:solidFill>
                <a:latin typeface="IBM Plex Sans"/>
                <a:ea typeface="IBM Plex Sans"/>
                <a:cs typeface="IBM Plex Sans"/>
                <a:sym typeface="IBM Plex Sans"/>
              </a:rPr>
              <a:t>our company has recently </a:t>
            </a:r>
          </a:p>
          <a:p>
            <a:pPr algn="l">
              <a:lnSpc>
                <a:spcPts val="4698"/>
              </a:lnSpc>
            </a:pPr>
            <a:r>
              <a:rPr lang="en-US" sz="2700">
                <a:solidFill>
                  <a:srgbClr val="000000"/>
                </a:solidFill>
                <a:latin typeface="IBM Plex Sans"/>
                <a:ea typeface="IBM Plex Sans"/>
                <a:cs typeface="IBM Plex Sans"/>
                <a:sym typeface="IBM Plex Sans"/>
              </a:rPr>
              <a:t>completed two major projects for </a:t>
            </a:r>
          </a:p>
          <a:p>
            <a:pPr algn="l">
              <a:lnSpc>
                <a:spcPts val="4698"/>
              </a:lnSpc>
            </a:pPr>
            <a:r>
              <a:rPr lang="en-US" sz="2700">
                <a:solidFill>
                  <a:srgbClr val="000000"/>
                </a:solidFill>
                <a:latin typeface="IBM Plex Sans"/>
                <a:ea typeface="IBM Plex Sans"/>
                <a:cs typeface="IBM Plex Sans"/>
                <a:sym typeface="IBM Plex Sans"/>
              </a:rPr>
              <a:t>prestigious clients in the </a:t>
            </a:r>
          </a:p>
          <a:p>
            <a:pPr algn="l">
              <a:lnSpc>
                <a:spcPts val="4698"/>
              </a:lnSpc>
            </a:pPr>
            <a:r>
              <a:rPr lang="en-US" sz="2700">
                <a:solidFill>
                  <a:srgbClr val="000000"/>
                </a:solidFill>
                <a:latin typeface="IBM Plex Sans"/>
                <a:ea typeface="IBM Plex Sans"/>
                <a:cs typeface="IBM Plex Sans"/>
                <a:sym typeface="IBM Plex Sans"/>
              </a:rPr>
              <a:t>healthcare industry. We have </a:t>
            </a:r>
          </a:p>
          <a:p>
            <a:pPr algn="l">
              <a:lnSpc>
                <a:spcPts val="4698"/>
              </a:lnSpc>
            </a:pPr>
            <a:r>
              <a:rPr lang="en-US" sz="2700">
                <a:solidFill>
                  <a:srgbClr val="000000"/>
                </a:solidFill>
                <a:latin typeface="IBM Plex Sans"/>
                <a:ea typeface="IBM Plex Sans"/>
                <a:cs typeface="IBM Plex Sans"/>
                <a:sym typeface="IBM Plex Sans"/>
              </a:rPr>
              <a:t>successfully executed a work </a:t>
            </a:r>
          </a:p>
          <a:p>
            <a:pPr algn="l">
              <a:lnSpc>
                <a:spcPts val="4698"/>
              </a:lnSpc>
            </a:pPr>
            <a:r>
              <a:rPr lang="en-US" sz="2700">
                <a:solidFill>
                  <a:srgbClr val="000000"/>
                </a:solidFill>
                <a:latin typeface="IBM Plex Sans"/>
                <a:ea typeface="IBM Plex Sans"/>
                <a:cs typeface="IBM Plex Sans"/>
                <a:sym typeface="IBM Plex Sans"/>
              </a:rPr>
              <a:t>order worth 140 Million for Kala </a:t>
            </a:r>
          </a:p>
          <a:p>
            <a:pPr algn="l">
              <a:lnSpc>
                <a:spcPts val="4698"/>
              </a:lnSpc>
            </a:pPr>
            <a:r>
              <a:rPr lang="en-US" sz="2700">
                <a:solidFill>
                  <a:srgbClr val="000000"/>
                </a:solidFill>
                <a:latin typeface="IBM Plex Sans"/>
                <a:ea typeface="IBM Plex Sans"/>
                <a:cs typeface="IBM Plex Sans"/>
                <a:sym typeface="IBM Plex Sans"/>
              </a:rPr>
              <a:t>Hospital in Dehradun.</a:t>
            </a:r>
          </a:p>
        </p:txBody>
      </p:sp>
      <p:sp>
        <p:nvSpPr>
          <p:cNvPr name="TextBox 18" id="18"/>
          <p:cNvSpPr txBox="true"/>
          <p:nvPr/>
        </p:nvSpPr>
        <p:spPr>
          <a:xfrm rot="0">
            <a:off x="738470" y="9577544"/>
            <a:ext cx="5506238" cy="452501"/>
          </a:xfrm>
          <a:prstGeom prst="rect">
            <a:avLst/>
          </a:prstGeom>
        </p:spPr>
        <p:txBody>
          <a:bodyPr anchor="t" rtlCol="false" tIns="0" lIns="0" bIns="0" rIns="0">
            <a:spAutoFit/>
          </a:bodyPr>
          <a:lstStyle/>
          <a:p>
            <a:pPr algn="l">
              <a:lnSpc>
                <a:spcPts val="3471"/>
              </a:lnSpc>
            </a:pPr>
            <a:r>
              <a:rPr lang="en-US" sz="2799" b="true">
                <a:solidFill>
                  <a:srgbClr val="FFFFFF"/>
                </a:solidFill>
                <a:latin typeface="Roboto Bold"/>
                <a:ea typeface="Roboto Bold"/>
                <a:cs typeface="Roboto Bold"/>
                <a:sym typeface="Roboto Bold"/>
              </a:rPr>
              <a:t>www.cresentcare.in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sp>
        <p:nvSpPr>
          <p:cNvPr name="TextBox 3" id="3"/>
          <p:cNvSpPr txBox="true"/>
          <p:nvPr/>
        </p:nvSpPr>
        <p:spPr>
          <a:xfrm rot="0">
            <a:off x="616818" y="4288936"/>
            <a:ext cx="8778883" cy="1175175"/>
          </a:xfrm>
          <a:prstGeom prst="rect">
            <a:avLst/>
          </a:prstGeom>
        </p:spPr>
        <p:txBody>
          <a:bodyPr anchor="t" rtlCol="false" tIns="0" lIns="0" bIns="0" rIns="0">
            <a:spAutoFit/>
          </a:bodyPr>
          <a:lstStyle/>
          <a:p>
            <a:pPr algn="l">
              <a:lnSpc>
                <a:spcPts val="5040"/>
              </a:lnSpc>
            </a:pPr>
            <a:r>
              <a:rPr lang="en-US" b="true" sz="3600">
                <a:solidFill>
                  <a:srgbClr val="070A10"/>
                </a:solidFill>
                <a:latin typeface="Arial MT Pro Bold"/>
                <a:ea typeface="Arial MT Pro Bold"/>
                <a:cs typeface="Arial MT Pro Bold"/>
                <a:sym typeface="Arial MT Pro Bold"/>
              </a:rPr>
              <a:t>We are build Girils Hostels Buildings in </a:t>
            </a:r>
          </a:p>
          <a:p>
            <a:pPr algn="l">
              <a:lnSpc>
                <a:spcPts val="5040"/>
              </a:lnSpc>
            </a:pPr>
            <a:r>
              <a:rPr lang="en-US" sz="3600" spc="-39">
                <a:solidFill>
                  <a:srgbClr val="070A10"/>
                </a:solidFill>
                <a:latin typeface="IBM Plex Sans"/>
                <a:ea typeface="IBM Plex Sans"/>
                <a:cs typeface="IBM Plex Sans"/>
                <a:sym typeface="IBM Plex Sans"/>
              </a:rPr>
              <a:t>Kashmir</a:t>
            </a:r>
          </a:p>
        </p:txBody>
      </p:sp>
      <p:sp>
        <p:nvSpPr>
          <p:cNvPr name="TextBox 4" id="4"/>
          <p:cNvSpPr txBox="true"/>
          <p:nvPr/>
        </p:nvSpPr>
        <p:spPr>
          <a:xfrm rot="0">
            <a:off x="564426" y="2293930"/>
            <a:ext cx="12625249" cy="1180890"/>
          </a:xfrm>
          <a:prstGeom prst="rect">
            <a:avLst/>
          </a:prstGeom>
        </p:spPr>
        <p:txBody>
          <a:bodyPr anchor="t" rtlCol="false" tIns="0" lIns="0" bIns="0" rIns="0">
            <a:spAutoFit/>
          </a:bodyPr>
          <a:lstStyle/>
          <a:p>
            <a:pPr algn="l">
              <a:lnSpc>
                <a:spcPts val="5040"/>
              </a:lnSpc>
            </a:pPr>
            <a:r>
              <a:rPr lang="en-US" b="true" sz="3600" spc="10">
                <a:solidFill>
                  <a:srgbClr val="070A10"/>
                </a:solidFill>
                <a:latin typeface="Arial MT Pro Bold"/>
                <a:ea typeface="Arial MT Pro Bold"/>
                <a:cs typeface="Arial MT Pro Bold"/>
                <a:sym typeface="Arial MT Pro Bold"/>
              </a:rPr>
              <a:t>We are build a multispecial Hosptial KALA Healthcare in </a:t>
            </a:r>
          </a:p>
          <a:p>
            <a:pPr algn="l">
              <a:lnSpc>
                <a:spcPts val="5040"/>
              </a:lnSpc>
            </a:pPr>
            <a:r>
              <a:rPr lang="en-US" sz="3600" spc="7">
                <a:solidFill>
                  <a:srgbClr val="070A10"/>
                </a:solidFill>
                <a:latin typeface="IBM Plex Sans"/>
                <a:ea typeface="IBM Plex Sans"/>
                <a:cs typeface="IBM Plex Sans"/>
                <a:sym typeface="IBM Plex Sans"/>
              </a:rPr>
              <a:t>Dehradun, Uttarakhand.</a:t>
            </a:r>
          </a:p>
        </p:txBody>
      </p:sp>
      <p:sp>
        <p:nvSpPr>
          <p:cNvPr name="TextBox 5" id="5"/>
          <p:cNvSpPr txBox="true"/>
          <p:nvPr/>
        </p:nvSpPr>
        <p:spPr>
          <a:xfrm rot="0">
            <a:off x="9221708" y="4277816"/>
            <a:ext cx="3848267" cy="613410"/>
          </a:xfrm>
          <a:prstGeom prst="rect">
            <a:avLst/>
          </a:prstGeom>
        </p:spPr>
        <p:txBody>
          <a:bodyPr anchor="t" rtlCol="false" tIns="0" lIns="0" bIns="0" rIns="0">
            <a:spAutoFit/>
          </a:bodyPr>
          <a:lstStyle/>
          <a:p>
            <a:pPr algn="l">
              <a:lnSpc>
                <a:spcPts val="5040"/>
              </a:lnSpc>
            </a:pPr>
            <a:r>
              <a:rPr lang="en-US" sz="3600" spc="-39">
                <a:solidFill>
                  <a:srgbClr val="070A10"/>
                </a:solidFill>
                <a:latin typeface="IBM Plex Sans"/>
                <a:ea typeface="IBM Plex Sans"/>
                <a:cs typeface="IBM Plex Sans"/>
                <a:sym typeface="IBM Plex Sans"/>
              </a:rPr>
              <a:t>AIIMS Awantipora,</a:t>
            </a:r>
          </a:p>
        </p:txBody>
      </p:sp>
      <p:sp>
        <p:nvSpPr>
          <p:cNvPr name="TextBox 6" id="6"/>
          <p:cNvSpPr txBox="true"/>
          <p:nvPr/>
        </p:nvSpPr>
        <p:spPr>
          <a:xfrm rot="0">
            <a:off x="682540" y="6518791"/>
            <a:ext cx="15129362" cy="1287470"/>
          </a:xfrm>
          <a:prstGeom prst="rect">
            <a:avLst/>
          </a:prstGeom>
        </p:spPr>
        <p:txBody>
          <a:bodyPr anchor="t" rtlCol="false" tIns="0" lIns="0" bIns="0" rIns="0">
            <a:spAutoFit/>
          </a:bodyPr>
          <a:lstStyle/>
          <a:p>
            <a:pPr algn="l">
              <a:lnSpc>
                <a:spcPts val="5039"/>
              </a:lnSpc>
            </a:pPr>
            <a:r>
              <a:rPr lang="en-US" b="true" sz="4192" spc="4">
                <a:solidFill>
                  <a:srgbClr val="070A10"/>
                </a:solidFill>
                <a:latin typeface="Helvetica World Bold"/>
                <a:ea typeface="Helvetica World Bold"/>
                <a:cs typeface="Helvetica World Bold"/>
                <a:sym typeface="Helvetica World Bold"/>
              </a:rPr>
              <a:t>We are build our own Residential Buildings for Resaling in Dehradun, Uttarakhand.</a:t>
            </a:r>
          </a:p>
        </p:txBody>
      </p:sp>
      <p:grpSp>
        <p:nvGrpSpPr>
          <p:cNvPr name="Group 7" id="7"/>
          <p:cNvGrpSpPr/>
          <p:nvPr/>
        </p:nvGrpSpPr>
        <p:grpSpPr>
          <a:xfrm rot="0">
            <a:off x="512736" y="410732"/>
            <a:ext cx="6290001" cy="1235936"/>
            <a:chOff x="0" y="0"/>
            <a:chExt cx="1656626" cy="325514"/>
          </a:xfrm>
        </p:grpSpPr>
        <p:sp>
          <p:nvSpPr>
            <p:cNvPr name="Freeform 8" id="8"/>
            <p:cNvSpPr/>
            <p:nvPr/>
          </p:nvSpPr>
          <p:spPr>
            <a:xfrm flipH="false" flipV="false" rot="0">
              <a:off x="0" y="0"/>
              <a:ext cx="1656626" cy="325514"/>
            </a:xfrm>
            <a:custGeom>
              <a:avLst/>
              <a:gdLst/>
              <a:ahLst/>
              <a:cxnLst/>
              <a:rect r="r" b="b" t="t" l="l"/>
              <a:pathLst>
                <a:path h="325514" w="1656626">
                  <a:moveTo>
                    <a:pt x="123083" y="0"/>
                  </a:moveTo>
                  <a:lnTo>
                    <a:pt x="1533543" y="0"/>
                  </a:lnTo>
                  <a:cubicBezTo>
                    <a:pt x="1566186" y="0"/>
                    <a:pt x="1597493" y="12968"/>
                    <a:pt x="1620576" y="36050"/>
                  </a:cubicBezTo>
                  <a:cubicBezTo>
                    <a:pt x="1643658" y="59133"/>
                    <a:pt x="1656626" y="90439"/>
                    <a:pt x="1656626" y="123083"/>
                  </a:cubicBezTo>
                  <a:lnTo>
                    <a:pt x="1656626" y="202431"/>
                  </a:lnTo>
                  <a:cubicBezTo>
                    <a:pt x="1656626" y="270408"/>
                    <a:pt x="1601520" y="325514"/>
                    <a:pt x="1533543" y="325514"/>
                  </a:cubicBezTo>
                  <a:lnTo>
                    <a:pt x="123083" y="325514"/>
                  </a:lnTo>
                  <a:cubicBezTo>
                    <a:pt x="90439" y="325514"/>
                    <a:pt x="59133" y="312546"/>
                    <a:pt x="36050" y="289464"/>
                  </a:cubicBezTo>
                  <a:cubicBezTo>
                    <a:pt x="12968" y="266381"/>
                    <a:pt x="0" y="235075"/>
                    <a:pt x="0" y="202431"/>
                  </a:cubicBezTo>
                  <a:lnTo>
                    <a:pt x="0" y="123083"/>
                  </a:lnTo>
                  <a:cubicBezTo>
                    <a:pt x="0" y="55106"/>
                    <a:pt x="55106" y="0"/>
                    <a:pt x="123083" y="0"/>
                  </a:cubicBezTo>
                  <a:close/>
                </a:path>
              </a:pathLst>
            </a:custGeom>
            <a:gradFill rotWithShape="true">
              <a:gsLst>
                <a:gs pos="0">
                  <a:srgbClr val="1B68C9">
                    <a:alpha val="100000"/>
                  </a:srgbClr>
                </a:gs>
                <a:gs pos="50000">
                  <a:srgbClr val="6696CC">
                    <a:alpha val="100000"/>
                  </a:srgbClr>
                </a:gs>
                <a:gs pos="100000">
                  <a:srgbClr val="1B68C9">
                    <a:alpha val="100000"/>
                  </a:srgbClr>
                </a:gs>
              </a:gsLst>
              <a:lin ang="2700000"/>
            </a:gradFill>
          </p:spPr>
        </p:sp>
        <p:sp>
          <p:nvSpPr>
            <p:cNvPr name="TextBox 9" id="9"/>
            <p:cNvSpPr txBox="true"/>
            <p:nvPr/>
          </p:nvSpPr>
          <p:spPr>
            <a:xfrm>
              <a:off x="0" y="-38100"/>
              <a:ext cx="1656626" cy="363614"/>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697776" y="571619"/>
            <a:ext cx="5638690" cy="798385"/>
          </a:xfrm>
          <a:prstGeom prst="rect">
            <a:avLst/>
          </a:prstGeom>
        </p:spPr>
        <p:txBody>
          <a:bodyPr anchor="t" rtlCol="false" tIns="0" lIns="0" bIns="0" rIns="0">
            <a:spAutoFit/>
          </a:bodyPr>
          <a:lstStyle/>
          <a:p>
            <a:pPr algn="l">
              <a:lnSpc>
                <a:spcPts val="5869"/>
              </a:lnSpc>
            </a:pPr>
            <a:r>
              <a:rPr lang="en-US" b="true" sz="4192">
                <a:solidFill>
                  <a:srgbClr val="FFFFFF"/>
                </a:solidFill>
                <a:latin typeface="Arial MT Pro Bold"/>
                <a:ea typeface="Arial MT Pro Bold"/>
                <a:cs typeface="Arial MT Pro Bold"/>
                <a:sym typeface="Arial MT Pro Bold"/>
              </a:rPr>
              <a:t>Our Ongoing Projects</a:t>
            </a:r>
          </a:p>
        </p:txBody>
      </p:sp>
      <p:sp>
        <p:nvSpPr>
          <p:cNvPr name="Freeform 11" id="11"/>
          <p:cNvSpPr/>
          <p:nvPr/>
        </p:nvSpPr>
        <p:spPr>
          <a:xfrm flipH="false" flipV="false" rot="0">
            <a:off x="15250499" y="0"/>
            <a:ext cx="3094206" cy="2436805"/>
          </a:xfrm>
          <a:custGeom>
            <a:avLst/>
            <a:gdLst/>
            <a:ahLst/>
            <a:cxnLst/>
            <a:rect r="r" b="b" t="t" l="l"/>
            <a:pathLst>
              <a:path h="2436805" w="3094206">
                <a:moveTo>
                  <a:pt x="0" y="0"/>
                </a:moveTo>
                <a:lnTo>
                  <a:pt x="3094206" y="0"/>
                </a:lnTo>
                <a:lnTo>
                  <a:pt x="3094206" y="2436805"/>
                </a:lnTo>
                <a:lnTo>
                  <a:pt x="0" y="2436805"/>
                </a:lnTo>
                <a:lnTo>
                  <a:pt x="0" y="0"/>
                </a:lnTo>
                <a:close/>
              </a:path>
            </a:pathLst>
          </a:custGeom>
          <a:blipFill>
            <a:blip r:embed="rId3"/>
            <a:stretch>
              <a:fillRect l="-365933" t="-228812" r="0" b="-5607"/>
            </a:stretch>
          </a:blipFill>
        </p:spPr>
      </p:sp>
      <p:grpSp>
        <p:nvGrpSpPr>
          <p:cNvPr name="Group 12" id="12"/>
          <p:cNvGrpSpPr/>
          <p:nvPr/>
        </p:nvGrpSpPr>
        <p:grpSpPr>
          <a:xfrm rot="0">
            <a:off x="-474832" y="9258300"/>
            <a:ext cx="20055435" cy="1119564"/>
            <a:chOff x="0" y="0"/>
            <a:chExt cx="5282090" cy="294864"/>
          </a:xfrm>
        </p:grpSpPr>
        <p:sp>
          <p:nvSpPr>
            <p:cNvPr name="Freeform 13" id="13"/>
            <p:cNvSpPr/>
            <p:nvPr/>
          </p:nvSpPr>
          <p:spPr>
            <a:xfrm flipH="false" flipV="false" rot="0">
              <a:off x="0" y="0"/>
              <a:ext cx="5282090" cy="294864"/>
            </a:xfrm>
            <a:custGeom>
              <a:avLst/>
              <a:gdLst/>
              <a:ahLst/>
              <a:cxnLst/>
              <a:rect r="r" b="b" t="t" l="l"/>
              <a:pathLst>
                <a:path h="294864" w="5282090">
                  <a:moveTo>
                    <a:pt x="38603" y="0"/>
                  </a:moveTo>
                  <a:lnTo>
                    <a:pt x="5243487" y="0"/>
                  </a:lnTo>
                  <a:cubicBezTo>
                    <a:pt x="5253725" y="0"/>
                    <a:pt x="5263544" y="4067"/>
                    <a:pt x="5270784" y="11306"/>
                  </a:cubicBezTo>
                  <a:cubicBezTo>
                    <a:pt x="5278023" y="18546"/>
                    <a:pt x="5282090" y="28365"/>
                    <a:pt x="5282090" y="38603"/>
                  </a:cubicBezTo>
                  <a:lnTo>
                    <a:pt x="5282090" y="256262"/>
                  </a:lnTo>
                  <a:cubicBezTo>
                    <a:pt x="5282090" y="266500"/>
                    <a:pt x="5278023" y="276319"/>
                    <a:pt x="5270784" y="283558"/>
                  </a:cubicBezTo>
                  <a:cubicBezTo>
                    <a:pt x="5263544" y="290797"/>
                    <a:pt x="5253725" y="294864"/>
                    <a:pt x="5243487" y="294864"/>
                  </a:cubicBezTo>
                  <a:lnTo>
                    <a:pt x="38603" y="294864"/>
                  </a:lnTo>
                  <a:cubicBezTo>
                    <a:pt x="28365" y="294864"/>
                    <a:pt x="18546" y="290797"/>
                    <a:pt x="11306" y="283558"/>
                  </a:cubicBezTo>
                  <a:cubicBezTo>
                    <a:pt x="4067" y="276319"/>
                    <a:pt x="0" y="266500"/>
                    <a:pt x="0" y="256262"/>
                  </a:cubicBezTo>
                  <a:lnTo>
                    <a:pt x="0" y="38603"/>
                  </a:lnTo>
                  <a:cubicBezTo>
                    <a:pt x="0" y="28365"/>
                    <a:pt x="4067" y="18546"/>
                    <a:pt x="11306" y="11306"/>
                  </a:cubicBezTo>
                  <a:cubicBezTo>
                    <a:pt x="18546" y="4067"/>
                    <a:pt x="28365" y="0"/>
                    <a:pt x="38603" y="0"/>
                  </a:cubicBezTo>
                  <a:close/>
                </a:path>
              </a:pathLst>
            </a:custGeom>
            <a:gradFill rotWithShape="true">
              <a:gsLst>
                <a:gs pos="0">
                  <a:srgbClr val="1B68C9">
                    <a:alpha val="100000"/>
                  </a:srgbClr>
                </a:gs>
                <a:gs pos="50000">
                  <a:srgbClr val="6797CC">
                    <a:alpha val="100000"/>
                  </a:srgbClr>
                </a:gs>
                <a:gs pos="100000">
                  <a:srgbClr val="FFFFFF">
                    <a:alpha val="100000"/>
                  </a:srgbClr>
                </a:gs>
              </a:gsLst>
              <a:lin ang="2700000"/>
            </a:gradFill>
          </p:spPr>
        </p:sp>
        <p:sp>
          <p:nvSpPr>
            <p:cNvPr name="TextBox 14" id="14"/>
            <p:cNvSpPr txBox="true"/>
            <p:nvPr/>
          </p:nvSpPr>
          <p:spPr>
            <a:xfrm>
              <a:off x="0" y="-38100"/>
              <a:ext cx="5282090" cy="332964"/>
            </a:xfrm>
            <a:prstGeom prst="rect">
              <a:avLst/>
            </a:prstGeom>
          </p:spPr>
          <p:txBody>
            <a:bodyPr anchor="ctr" rtlCol="false" tIns="50800" lIns="50800" bIns="50800" rIns="50800"/>
            <a:lstStyle/>
            <a:p>
              <a:pPr algn="ctr">
                <a:lnSpc>
                  <a:spcPts val="2659"/>
                </a:lnSpc>
              </a:pPr>
            </a:p>
          </p:txBody>
        </p:sp>
      </p:grpSp>
      <p:sp>
        <p:nvSpPr>
          <p:cNvPr name="TextBox 15" id="15"/>
          <p:cNvSpPr txBox="true"/>
          <p:nvPr/>
        </p:nvSpPr>
        <p:spPr>
          <a:xfrm rot="0">
            <a:off x="1028700" y="9532112"/>
            <a:ext cx="5506238" cy="452501"/>
          </a:xfrm>
          <a:prstGeom prst="rect">
            <a:avLst/>
          </a:prstGeom>
        </p:spPr>
        <p:txBody>
          <a:bodyPr anchor="t" rtlCol="false" tIns="0" lIns="0" bIns="0" rIns="0">
            <a:spAutoFit/>
          </a:bodyPr>
          <a:lstStyle/>
          <a:p>
            <a:pPr algn="l">
              <a:lnSpc>
                <a:spcPts val="3471"/>
              </a:lnSpc>
            </a:pPr>
            <a:r>
              <a:rPr lang="en-US" sz="2799" b="true">
                <a:solidFill>
                  <a:srgbClr val="FFFFFF"/>
                </a:solidFill>
                <a:latin typeface="Roboto Bold"/>
                <a:ea typeface="Roboto Bold"/>
                <a:cs typeface="Roboto Bold"/>
                <a:sym typeface="Roboto Bold"/>
              </a:rPr>
              <a:t>www.cresentcare.in</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74832" y="9258300"/>
            <a:ext cx="20055435" cy="1119564"/>
            <a:chOff x="0" y="0"/>
            <a:chExt cx="5282090" cy="294864"/>
          </a:xfrm>
        </p:grpSpPr>
        <p:sp>
          <p:nvSpPr>
            <p:cNvPr name="Freeform 3" id="3"/>
            <p:cNvSpPr/>
            <p:nvPr/>
          </p:nvSpPr>
          <p:spPr>
            <a:xfrm flipH="false" flipV="false" rot="0">
              <a:off x="0" y="0"/>
              <a:ext cx="5282090" cy="294864"/>
            </a:xfrm>
            <a:custGeom>
              <a:avLst/>
              <a:gdLst/>
              <a:ahLst/>
              <a:cxnLst/>
              <a:rect r="r" b="b" t="t" l="l"/>
              <a:pathLst>
                <a:path h="294864" w="5282090">
                  <a:moveTo>
                    <a:pt x="38603" y="0"/>
                  </a:moveTo>
                  <a:lnTo>
                    <a:pt x="5243487" y="0"/>
                  </a:lnTo>
                  <a:cubicBezTo>
                    <a:pt x="5253725" y="0"/>
                    <a:pt x="5263544" y="4067"/>
                    <a:pt x="5270784" y="11306"/>
                  </a:cubicBezTo>
                  <a:cubicBezTo>
                    <a:pt x="5278023" y="18546"/>
                    <a:pt x="5282090" y="28365"/>
                    <a:pt x="5282090" y="38603"/>
                  </a:cubicBezTo>
                  <a:lnTo>
                    <a:pt x="5282090" y="256262"/>
                  </a:lnTo>
                  <a:cubicBezTo>
                    <a:pt x="5282090" y="266500"/>
                    <a:pt x="5278023" y="276319"/>
                    <a:pt x="5270784" y="283558"/>
                  </a:cubicBezTo>
                  <a:cubicBezTo>
                    <a:pt x="5263544" y="290797"/>
                    <a:pt x="5253725" y="294864"/>
                    <a:pt x="5243487" y="294864"/>
                  </a:cubicBezTo>
                  <a:lnTo>
                    <a:pt x="38603" y="294864"/>
                  </a:lnTo>
                  <a:cubicBezTo>
                    <a:pt x="28365" y="294864"/>
                    <a:pt x="18546" y="290797"/>
                    <a:pt x="11306" y="283558"/>
                  </a:cubicBezTo>
                  <a:cubicBezTo>
                    <a:pt x="4067" y="276319"/>
                    <a:pt x="0" y="266500"/>
                    <a:pt x="0" y="256262"/>
                  </a:cubicBezTo>
                  <a:lnTo>
                    <a:pt x="0" y="38603"/>
                  </a:lnTo>
                  <a:cubicBezTo>
                    <a:pt x="0" y="28365"/>
                    <a:pt x="4067" y="18546"/>
                    <a:pt x="11306" y="11306"/>
                  </a:cubicBezTo>
                  <a:cubicBezTo>
                    <a:pt x="18546" y="4067"/>
                    <a:pt x="28365" y="0"/>
                    <a:pt x="38603" y="0"/>
                  </a:cubicBezTo>
                  <a:close/>
                </a:path>
              </a:pathLst>
            </a:custGeom>
            <a:gradFill rotWithShape="true">
              <a:gsLst>
                <a:gs pos="0">
                  <a:srgbClr val="1B68C9">
                    <a:alpha val="100000"/>
                  </a:srgbClr>
                </a:gs>
                <a:gs pos="50000">
                  <a:srgbClr val="6797CC">
                    <a:alpha val="100000"/>
                  </a:srgbClr>
                </a:gs>
                <a:gs pos="100000">
                  <a:srgbClr val="FFFFFF">
                    <a:alpha val="100000"/>
                  </a:srgbClr>
                </a:gs>
              </a:gsLst>
              <a:lin ang="2700000"/>
            </a:gradFill>
          </p:spPr>
        </p:sp>
        <p:sp>
          <p:nvSpPr>
            <p:cNvPr name="TextBox 4" id="4"/>
            <p:cNvSpPr txBox="true"/>
            <p:nvPr/>
          </p:nvSpPr>
          <p:spPr>
            <a:xfrm>
              <a:off x="0" y="-38100"/>
              <a:ext cx="5282090" cy="332964"/>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5398639" y="-1243899"/>
            <a:ext cx="2272599" cy="2272599"/>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B68C9">
                    <a:alpha val="100000"/>
                  </a:srgbClr>
                </a:gs>
                <a:gs pos="50000">
                  <a:srgbClr val="6797CC">
                    <a:alpha val="100000"/>
                  </a:srgbClr>
                </a:gs>
                <a:gs pos="100000">
                  <a:srgbClr val="FFFFFF">
                    <a:alpha val="100000"/>
                  </a:srgbClr>
                </a:gs>
              </a:gsLst>
              <a:lin ang="2700000"/>
            </a:gra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7485444" y="2055039"/>
            <a:ext cx="1605111" cy="160511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B68C9">
                    <a:alpha val="100000"/>
                  </a:srgbClr>
                </a:gs>
                <a:gs pos="50000">
                  <a:srgbClr val="6797CC">
                    <a:alpha val="100000"/>
                  </a:srgbClr>
                </a:gs>
                <a:gs pos="100000">
                  <a:srgbClr val="FFFFFF">
                    <a:alpha val="100000"/>
                  </a:srgbClr>
                </a:gs>
              </a:gsLst>
              <a:lin ang="2700000"/>
            </a:gra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1" id="11"/>
          <p:cNvSpPr txBox="true"/>
          <p:nvPr/>
        </p:nvSpPr>
        <p:spPr>
          <a:xfrm rot="0">
            <a:off x="10562746" y="1009708"/>
            <a:ext cx="7355010" cy="1397880"/>
          </a:xfrm>
          <a:prstGeom prst="rect">
            <a:avLst/>
          </a:prstGeom>
        </p:spPr>
        <p:txBody>
          <a:bodyPr anchor="t" rtlCol="false" tIns="0" lIns="0" bIns="0" rIns="0">
            <a:spAutoFit/>
          </a:bodyPr>
          <a:lstStyle/>
          <a:p>
            <a:pPr algn="l">
              <a:lnSpc>
                <a:spcPts val="10607"/>
              </a:lnSpc>
            </a:pPr>
            <a:r>
              <a:rPr lang="en-US" sz="10199">
                <a:solidFill>
                  <a:srgbClr val="070A10"/>
                </a:solidFill>
                <a:latin typeface="Anton"/>
                <a:ea typeface="Anton"/>
                <a:cs typeface="Anton"/>
                <a:sym typeface="Anton"/>
              </a:rPr>
              <a:t>HOSPITAL</a:t>
            </a:r>
          </a:p>
        </p:txBody>
      </p:sp>
      <p:sp>
        <p:nvSpPr>
          <p:cNvPr name="Freeform 12" id="12"/>
          <p:cNvSpPr/>
          <p:nvPr/>
        </p:nvSpPr>
        <p:spPr>
          <a:xfrm flipH="false" flipV="false" rot="5400000">
            <a:off x="16084652" y="7305443"/>
            <a:ext cx="891758" cy="1038437"/>
          </a:xfrm>
          <a:custGeom>
            <a:avLst/>
            <a:gdLst/>
            <a:ahLst/>
            <a:cxnLst/>
            <a:rect r="r" b="b" t="t" l="l"/>
            <a:pathLst>
              <a:path h="1038437" w="891758">
                <a:moveTo>
                  <a:pt x="0" y="0"/>
                </a:moveTo>
                <a:lnTo>
                  <a:pt x="891758" y="0"/>
                </a:lnTo>
                <a:lnTo>
                  <a:pt x="891758" y="1038438"/>
                </a:lnTo>
                <a:lnTo>
                  <a:pt x="0" y="10384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3" id="13"/>
          <p:cNvSpPr txBox="true"/>
          <p:nvPr/>
        </p:nvSpPr>
        <p:spPr>
          <a:xfrm rot="0">
            <a:off x="10562746" y="2367010"/>
            <a:ext cx="6629420" cy="507619"/>
          </a:xfrm>
          <a:prstGeom prst="rect">
            <a:avLst/>
          </a:prstGeom>
        </p:spPr>
        <p:txBody>
          <a:bodyPr anchor="t" rtlCol="false" tIns="0" lIns="0" bIns="0" rIns="0">
            <a:spAutoFit/>
          </a:bodyPr>
          <a:lstStyle/>
          <a:p>
            <a:pPr algn="l">
              <a:lnSpc>
                <a:spcPts val="3968"/>
              </a:lnSpc>
            </a:pPr>
            <a:r>
              <a:rPr lang="en-US" sz="3200" b="true">
                <a:solidFill>
                  <a:srgbClr val="070A10"/>
                </a:solidFill>
                <a:latin typeface="Roboto Bold"/>
                <a:ea typeface="Roboto Bold"/>
                <a:cs typeface="Roboto Bold"/>
                <a:sym typeface="Roboto Bold"/>
              </a:rPr>
              <a:t>AIIMS Awantipora,</a:t>
            </a:r>
          </a:p>
        </p:txBody>
      </p:sp>
      <p:sp>
        <p:nvSpPr>
          <p:cNvPr name="Freeform 14" id="14"/>
          <p:cNvSpPr/>
          <p:nvPr/>
        </p:nvSpPr>
        <p:spPr>
          <a:xfrm flipH="false" flipV="false" rot="0">
            <a:off x="16173895" y="0"/>
            <a:ext cx="2170811" cy="1709596"/>
          </a:xfrm>
          <a:custGeom>
            <a:avLst/>
            <a:gdLst/>
            <a:ahLst/>
            <a:cxnLst/>
            <a:rect r="r" b="b" t="t" l="l"/>
            <a:pathLst>
              <a:path h="1709596" w="2170811">
                <a:moveTo>
                  <a:pt x="0" y="0"/>
                </a:moveTo>
                <a:lnTo>
                  <a:pt x="2170810" y="0"/>
                </a:lnTo>
                <a:lnTo>
                  <a:pt x="2170810" y="1709596"/>
                </a:lnTo>
                <a:lnTo>
                  <a:pt x="0" y="1709596"/>
                </a:lnTo>
                <a:lnTo>
                  <a:pt x="0" y="0"/>
                </a:lnTo>
                <a:close/>
              </a:path>
            </a:pathLst>
          </a:custGeom>
          <a:blipFill>
            <a:blip r:embed="rId4"/>
            <a:stretch>
              <a:fillRect l="-365933" t="-228812" r="0" b="-5607"/>
            </a:stretch>
          </a:blipFill>
        </p:spPr>
      </p:sp>
      <p:sp>
        <p:nvSpPr>
          <p:cNvPr name="TextBox 15" id="15"/>
          <p:cNvSpPr txBox="true"/>
          <p:nvPr/>
        </p:nvSpPr>
        <p:spPr>
          <a:xfrm rot="0">
            <a:off x="10562746" y="3416836"/>
            <a:ext cx="6263274" cy="4672584"/>
          </a:xfrm>
          <a:prstGeom prst="rect">
            <a:avLst/>
          </a:prstGeom>
        </p:spPr>
        <p:txBody>
          <a:bodyPr anchor="t" rtlCol="false" tIns="0" lIns="0" bIns="0" rIns="0">
            <a:spAutoFit/>
          </a:bodyPr>
          <a:lstStyle/>
          <a:p>
            <a:pPr algn="l">
              <a:lnSpc>
                <a:spcPts val="4698"/>
              </a:lnSpc>
            </a:pPr>
            <a:r>
              <a:rPr lang="en-US" sz="2700" spc="81">
                <a:solidFill>
                  <a:srgbClr val="000000"/>
                </a:solidFill>
                <a:latin typeface="IBM Plex Sans"/>
                <a:ea typeface="IBM Plex Sans"/>
                <a:cs typeface="IBM Plex Sans"/>
                <a:sym typeface="IBM Plex Sans"/>
              </a:rPr>
              <a:t>We are pleased to inform you that our </a:t>
            </a:r>
          </a:p>
          <a:p>
            <a:pPr algn="l">
              <a:lnSpc>
                <a:spcPts val="4698"/>
              </a:lnSpc>
            </a:pPr>
            <a:r>
              <a:rPr lang="en-US" sz="2700" spc="108">
                <a:solidFill>
                  <a:srgbClr val="000000"/>
                </a:solidFill>
                <a:latin typeface="IBM Plex Sans"/>
                <a:ea typeface="IBM Plex Sans"/>
                <a:cs typeface="IBM Plex Sans"/>
                <a:sym typeface="IBM Plex Sans"/>
              </a:rPr>
              <a:t>company has recently completed two </a:t>
            </a:r>
          </a:p>
          <a:p>
            <a:pPr algn="l">
              <a:lnSpc>
                <a:spcPts val="4698"/>
              </a:lnSpc>
            </a:pPr>
            <a:r>
              <a:rPr lang="en-US" sz="2700" spc="48">
                <a:solidFill>
                  <a:srgbClr val="000000"/>
                </a:solidFill>
                <a:latin typeface="IBM Plex Sans"/>
                <a:ea typeface="IBM Plex Sans"/>
                <a:cs typeface="IBM Plex Sans"/>
                <a:sym typeface="IBM Plex Sans"/>
              </a:rPr>
              <a:t>major projects for prestigious clients in </a:t>
            </a:r>
          </a:p>
          <a:p>
            <a:pPr algn="l">
              <a:lnSpc>
                <a:spcPts val="4698"/>
              </a:lnSpc>
            </a:pPr>
            <a:r>
              <a:rPr lang="en-US" sz="2700" spc="272">
                <a:solidFill>
                  <a:srgbClr val="000000"/>
                </a:solidFill>
                <a:latin typeface="IBM Plex Sans"/>
                <a:ea typeface="IBM Plex Sans"/>
                <a:cs typeface="IBM Plex Sans"/>
                <a:sym typeface="IBM Plex Sans"/>
              </a:rPr>
              <a:t>the healthcare industry. We have </a:t>
            </a:r>
          </a:p>
          <a:p>
            <a:pPr algn="l">
              <a:lnSpc>
                <a:spcPts val="4698"/>
              </a:lnSpc>
            </a:pPr>
            <a:r>
              <a:rPr lang="en-US" sz="2700" spc="180">
                <a:solidFill>
                  <a:srgbClr val="000000"/>
                </a:solidFill>
                <a:latin typeface="IBM Plex Sans"/>
                <a:ea typeface="IBM Plex Sans"/>
                <a:cs typeface="IBM Plex Sans"/>
                <a:sym typeface="IBM Plex Sans"/>
              </a:rPr>
              <a:t>successfully executed a work order </a:t>
            </a:r>
          </a:p>
          <a:p>
            <a:pPr algn="l">
              <a:lnSpc>
                <a:spcPts val="4698"/>
              </a:lnSpc>
            </a:pPr>
            <a:r>
              <a:rPr lang="en-US" sz="2700" spc="37">
                <a:solidFill>
                  <a:srgbClr val="000000"/>
                </a:solidFill>
                <a:latin typeface="IBM Plex Sans"/>
                <a:ea typeface="IBM Plex Sans"/>
                <a:cs typeface="IBM Plex Sans"/>
                <a:sym typeface="IBM Plex Sans"/>
              </a:rPr>
              <a:t>worth 160 Million for AIIMS Hospital in </a:t>
            </a:r>
          </a:p>
          <a:p>
            <a:pPr algn="l">
              <a:lnSpc>
                <a:spcPts val="4698"/>
              </a:lnSpc>
            </a:pPr>
            <a:r>
              <a:rPr lang="en-US" sz="2700" spc="-29">
                <a:solidFill>
                  <a:srgbClr val="000000"/>
                </a:solidFill>
                <a:latin typeface="IBM Plex Sans"/>
                <a:ea typeface="IBM Plex Sans"/>
                <a:cs typeface="IBM Plex Sans"/>
                <a:sym typeface="IBM Plex Sans"/>
              </a:rPr>
              <a:t>Awantipura.</a:t>
            </a:r>
          </a:p>
          <a:p>
            <a:pPr algn="l">
              <a:lnSpc>
                <a:spcPts val="4698"/>
              </a:lnSpc>
            </a:pPr>
          </a:p>
        </p:txBody>
      </p:sp>
      <p:sp>
        <p:nvSpPr>
          <p:cNvPr name="Freeform 16" id="16"/>
          <p:cNvSpPr/>
          <p:nvPr/>
        </p:nvSpPr>
        <p:spPr>
          <a:xfrm flipH="false" flipV="false" rot="0">
            <a:off x="0" y="-107600"/>
            <a:ext cx="10324782" cy="9365900"/>
          </a:xfrm>
          <a:custGeom>
            <a:avLst/>
            <a:gdLst/>
            <a:ahLst/>
            <a:cxnLst/>
            <a:rect r="r" b="b" t="t" l="l"/>
            <a:pathLst>
              <a:path h="9365900" w="10324782">
                <a:moveTo>
                  <a:pt x="0" y="0"/>
                </a:moveTo>
                <a:lnTo>
                  <a:pt x="10324782" y="0"/>
                </a:lnTo>
                <a:lnTo>
                  <a:pt x="10324782" y="9365900"/>
                </a:lnTo>
                <a:lnTo>
                  <a:pt x="0" y="9365900"/>
                </a:lnTo>
                <a:lnTo>
                  <a:pt x="0" y="0"/>
                </a:lnTo>
                <a:close/>
              </a:path>
            </a:pathLst>
          </a:custGeom>
          <a:blipFill>
            <a:blip r:embed="rId5"/>
            <a:stretch>
              <a:fillRect l="-286" t="0" r="-286" b="0"/>
            </a:stretch>
          </a:blipFill>
        </p:spPr>
      </p:sp>
      <p:sp>
        <p:nvSpPr>
          <p:cNvPr name="TextBox 17" id="17"/>
          <p:cNvSpPr txBox="true"/>
          <p:nvPr/>
        </p:nvSpPr>
        <p:spPr>
          <a:xfrm rot="0">
            <a:off x="10562746" y="7700837"/>
            <a:ext cx="3213959" cy="1319674"/>
          </a:xfrm>
          <a:prstGeom prst="rect">
            <a:avLst/>
          </a:prstGeom>
        </p:spPr>
        <p:txBody>
          <a:bodyPr anchor="t" rtlCol="false" tIns="0" lIns="0" bIns="0" rIns="0">
            <a:spAutoFit/>
          </a:bodyPr>
          <a:lstStyle/>
          <a:p>
            <a:pPr algn="l">
              <a:lnSpc>
                <a:spcPts val="4210"/>
              </a:lnSpc>
            </a:pPr>
            <a:r>
              <a:rPr lang="en-US" b="true" sz="3007">
                <a:solidFill>
                  <a:srgbClr val="070A10"/>
                </a:solidFill>
                <a:latin typeface="Arial MT Pro Bold"/>
                <a:ea typeface="Arial MT Pro Bold"/>
                <a:cs typeface="Arial MT Pro Bold"/>
                <a:sym typeface="Arial MT Pro Bold"/>
              </a:rPr>
              <a:t>Project Highlight </a:t>
            </a:r>
          </a:p>
          <a:p>
            <a:pPr algn="l">
              <a:lnSpc>
                <a:spcPts val="3038"/>
              </a:lnSpc>
            </a:pPr>
            <a:r>
              <a:rPr lang="en-US" sz="2392" spc="4">
                <a:solidFill>
                  <a:srgbClr val="070A10"/>
                </a:solidFill>
                <a:latin typeface="Arial MT Pro"/>
                <a:ea typeface="Arial MT Pro"/>
                <a:cs typeface="Arial MT Pro"/>
                <a:sym typeface="Arial MT Pro"/>
              </a:rPr>
              <a:t>• CoveredArea • No. Of Hostel Rooms</a:t>
            </a:r>
          </a:p>
        </p:txBody>
      </p:sp>
      <p:sp>
        <p:nvSpPr>
          <p:cNvPr name="Freeform 18" id="18"/>
          <p:cNvSpPr/>
          <p:nvPr/>
        </p:nvSpPr>
        <p:spPr>
          <a:xfrm flipH="false" flipV="false" rot="0">
            <a:off x="16751638" y="9258300"/>
            <a:ext cx="1467612" cy="953262"/>
          </a:xfrm>
          <a:custGeom>
            <a:avLst/>
            <a:gdLst/>
            <a:ahLst/>
            <a:cxnLst/>
            <a:rect r="r" b="b" t="t" l="l"/>
            <a:pathLst>
              <a:path h="953262" w="1467612">
                <a:moveTo>
                  <a:pt x="0" y="0"/>
                </a:moveTo>
                <a:lnTo>
                  <a:pt x="1467612" y="0"/>
                </a:lnTo>
                <a:lnTo>
                  <a:pt x="1467612" y="953262"/>
                </a:lnTo>
                <a:lnTo>
                  <a:pt x="0" y="953262"/>
                </a:lnTo>
                <a:lnTo>
                  <a:pt x="0" y="0"/>
                </a:lnTo>
                <a:close/>
              </a:path>
            </a:pathLst>
          </a:custGeom>
          <a:blipFill>
            <a:blip r:embed="rId6"/>
            <a:stretch>
              <a:fillRect l="0" t="0" r="0" b="0"/>
            </a:stretch>
          </a:blipFill>
        </p:spPr>
      </p:sp>
      <p:sp>
        <p:nvSpPr>
          <p:cNvPr name="TextBox 19" id="19"/>
          <p:cNvSpPr txBox="true"/>
          <p:nvPr/>
        </p:nvSpPr>
        <p:spPr>
          <a:xfrm rot="0">
            <a:off x="10562746" y="9566053"/>
            <a:ext cx="5236955" cy="365569"/>
          </a:xfrm>
          <a:prstGeom prst="rect">
            <a:avLst/>
          </a:prstGeom>
        </p:spPr>
        <p:txBody>
          <a:bodyPr anchor="t" rtlCol="false" tIns="0" lIns="0" bIns="0" rIns="0">
            <a:spAutoFit/>
          </a:bodyPr>
          <a:lstStyle/>
          <a:p>
            <a:pPr algn="l">
              <a:lnSpc>
                <a:spcPts val="2950"/>
              </a:lnSpc>
            </a:pPr>
            <a:r>
              <a:rPr lang="en-US" sz="2107">
                <a:solidFill>
                  <a:srgbClr val="FFFFFF"/>
                </a:solidFill>
                <a:latin typeface="Helvetica World"/>
                <a:ea typeface="Helvetica World"/>
                <a:cs typeface="Helvetica World"/>
                <a:sym typeface="Helvetica World"/>
              </a:rPr>
              <a:t>Please find attached PDF for more details:-</a:t>
            </a:r>
          </a:p>
        </p:txBody>
      </p:sp>
      <p:sp>
        <p:nvSpPr>
          <p:cNvPr name="TextBox 20" id="20"/>
          <p:cNvSpPr txBox="true"/>
          <p:nvPr/>
        </p:nvSpPr>
        <p:spPr>
          <a:xfrm rot="0">
            <a:off x="826375" y="9577544"/>
            <a:ext cx="5506238" cy="452501"/>
          </a:xfrm>
          <a:prstGeom prst="rect">
            <a:avLst/>
          </a:prstGeom>
        </p:spPr>
        <p:txBody>
          <a:bodyPr anchor="t" rtlCol="false" tIns="0" lIns="0" bIns="0" rIns="0">
            <a:spAutoFit/>
          </a:bodyPr>
          <a:lstStyle/>
          <a:p>
            <a:pPr algn="l">
              <a:lnSpc>
                <a:spcPts val="3471"/>
              </a:lnSpc>
            </a:pPr>
            <a:r>
              <a:rPr lang="en-US" sz="2799" b="true">
                <a:solidFill>
                  <a:srgbClr val="FFFFFF"/>
                </a:solidFill>
                <a:latin typeface="Roboto Bold"/>
                <a:ea typeface="Roboto Bold"/>
                <a:cs typeface="Roboto Bold"/>
                <a:sym typeface="Roboto Bold"/>
              </a:rPr>
              <a:t>www.cresentcare.in</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grpSp>
        <p:nvGrpSpPr>
          <p:cNvPr name="Group 3" id="3"/>
          <p:cNvGrpSpPr/>
          <p:nvPr/>
        </p:nvGrpSpPr>
        <p:grpSpPr>
          <a:xfrm rot="0">
            <a:off x="-474832" y="9258300"/>
            <a:ext cx="20055435" cy="1119564"/>
            <a:chOff x="0" y="0"/>
            <a:chExt cx="5282090" cy="294864"/>
          </a:xfrm>
        </p:grpSpPr>
        <p:sp>
          <p:nvSpPr>
            <p:cNvPr name="Freeform 4" id="4"/>
            <p:cNvSpPr/>
            <p:nvPr/>
          </p:nvSpPr>
          <p:spPr>
            <a:xfrm flipH="false" flipV="false" rot="0">
              <a:off x="0" y="0"/>
              <a:ext cx="5282090" cy="294864"/>
            </a:xfrm>
            <a:custGeom>
              <a:avLst/>
              <a:gdLst/>
              <a:ahLst/>
              <a:cxnLst/>
              <a:rect r="r" b="b" t="t" l="l"/>
              <a:pathLst>
                <a:path h="294864" w="5282090">
                  <a:moveTo>
                    <a:pt x="38603" y="0"/>
                  </a:moveTo>
                  <a:lnTo>
                    <a:pt x="5243487" y="0"/>
                  </a:lnTo>
                  <a:cubicBezTo>
                    <a:pt x="5253725" y="0"/>
                    <a:pt x="5263544" y="4067"/>
                    <a:pt x="5270784" y="11306"/>
                  </a:cubicBezTo>
                  <a:cubicBezTo>
                    <a:pt x="5278023" y="18546"/>
                    <a:pt x="5282090" y="28365"/>
                    <a:pt x="5282090" y="38603"/>
                  </a:cubicBezTo>
                  <a:lnTo>
                    <a:pt x="5282090" y="256262"/>
                  </a:lnTo>
                  <a:cubicBezTo>
                    <a:pt x="5282090" y="266500"/>
                    <a:pt x="5278023" y="276319"/>
                    <a:pt x="5270784" y="283558"/>
                  </a:cubicBezTo>
                  <a:cubicBezTo>
                    <a:pt x="5263544" y="290797"/>
                    <a:pt x="5253725" y="294864"/>
                    <a:pt x="5243487" y="294864"/>
                  </a:cubicBezTo>
                  <a:lnTo>
                    <a:pt x="38603" y="294864"/>
                  </a:lnTo>
                  <a:cubicBezTo>
                    <a:pt x="28365" y="294864"/>
                    <a:pt x="18546" y="290797"/>
                    <a:pt x="11306" y="283558"/>
                  </a:cubicBezTo>
                  <a:cubicBezTo>
                    <a:pt x="4067" y="276319"/>
                    <a:pt x="0" y="266500"/>
                    <a:pt x="0" y="256262"/>
                  </a:cubicBezTo>
                  <a:lnTo>
                    <a:pt x="0" y="38603"/>
                  </a:lnTo>
                  <a:cubicBezTo>
                    <a:pt x="0" y="28365"/>
                    <a:pt x="4067" y="18546"/>
                    <a:pt x="11306" y="11306"/>
                  </a:cubicBezTo>
                  <a:cubicBezTo>
                    <a:pt x="18546" y="4067"/>
                    <a:pt x="28365" y="0"/>
                    <a:pt x="38603" y="0"/>
                  </a:cubicBezTo>
                  <a:close/>
                </a:path>
              </a:pathLst>
            </a:custGeom>
            <a:gradFill rotWithShape="true">
              <a:gsLst>
                <a:gs pos="0">
                  <a:srgbClr val="1B68C9">
                    <a:alpha val="100000"/>
                  </a:srgbClr>
                </a:gs>
                <a:gs pos="50000">
                  <a:srgbClr val="6797CC">
                    <a:alpha val="100000"/>
                  </a:srgbClr>
                </a:gs>
                <a:gs pos="100000">
                  <a:srgbClr val="FFFFFF">
                    <a:alpha val="100000"/>
                  </a:srgbClr>
                </a:gs>
              </a:gsLst>
              <a:lin ang="2700000"/>
            </a:gradFill>
          </p:spPr>
        </p:sp>
        <p:sp>
          <p:nvSpPr>
            <p:cNvPr name="TextBox 5" id="5"/>
            <p:cNvSpPr txBox="true"/>
            <p:nvPr/>
          </p:nvSpPr>
          <p:spPr>
            <a:xfrm>
              <a:off x="0" y="-38100"/>
              <a:ext cx="5282090" cy="332964"/>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9902436" y="-206572"/>
            <a:ext cx="9518431" cy="6026407"/>
            <a:chOff x="0" y="0"/>
            <a:chExt cx="2506912" cy="1587202"/>
          </a:xfrm>
        </p:grpSpPr>
        <p:sp>
          <p:nvSpPr>
            <p:cNvPr name="Freeform 7" id="7"/>
            <p:cNvSpPr/>
            <p:nvPr/>
          </p:nvSpPr>
          <p:spPr>
            <a:xfrm flipH="false" flipV="false" rot="0">
              <a:off x="0" y="0"/>
              <a:ext cx="2506912" cy="1587202"/>
            </a:xfrm>
            <a:custGeom>
              <a:avLst/>
              <a:gdLst/>
              <a:ahLst/>
              <a:cxnLst/>
              <a:rect r="r" b="b" t="t" l="l"/>
              <a:pathLst>
                <a:path h="1587202" w="2506912">
                  <a:moveTo>
                    <a:pt x="81336" y="0"/>
                  </a:moveTo>
                  <a:lnTo>
                    <a:pt x="2425576" y="0"/>
                  </a:lnTo>
                  <a:cubicBezTo>
                    <a:pt x="2470496" y="0"/>
                    <a:pt x="2506912" y="36415"/>
                    <a:pt x="2506912" y="81336"/>
                  </a:cubicBezTo>
                  <a:lnTo>
                    <a:pt x="2506912" y="1505866"/>
                  </a:lnTo>
                  <a:cubicBezTo>
                    <a:pt x="2506912" y="1550786"/>
                    <a:pt x="2470496" y="1587202"/>
                    <a:pt x="2425576" y="1587202"/>
                  </a:cubicBezTo>
                  <a:lnTo>
                    <a:pt x="81336" y="1587202"/>
                  </a:lnTo>
                  <a:cubicBezTo>
                    <a:pt x="36415" y="1587202"/>
                    <a:pt x="0" y="1550786"/>
                    <a:pt x="0" y="1505866"/>
                  </a:cubicBezTo>
                  <a:lnTo>
                    <a:pt x="0" y="81336"/>
                  </a:lnTo>
                  <a:cubicBezTo>
                    <a:pt x="0" y="36415"/>
                    <a:pt x="36415" y="0"/>
                    <a:pt x="81336" y="0"/>
                  </a:cubicBezTo>
                  <a:close/>
                </a:path>
              </a:pathLst>
            </a:custGeom>
            <a:gradFill rotWithShape="true">
              <a:gsLst>
                <a:gs pos="0">
                  <a:srgbClr val="1B68C9">
                    <a:alpha val="100000"/>
                  </a:srgbClr>
                </a:gs>
                <a:gs pos="50000">
                  <a:srgbClr val="6797CC">
                    <a:alpha val="100000"/>
                  </a:srgbClr>
                </a:gs>
                <a:gs pos="100000">
                  <a:srgbClr val="FFFFFF">
                    <a:alpha val="100000"/>
                  </a:srgbClr>
                </a:gs>
              </a:gsLst>
              <a:lin ang="2700000"/>
            </a:gradFill>
          </p:spPr>
        </p:sp>
        <p:sp>
          <p:nvSpPr>
            <p:cNvPr name="TextBox 8" id="8"/>
            <p:cNvSpPr txBox="true"/>
            <p:nvPr/>
          </p:nvSpPr>
          <p:spPr>
            <a:xfrm>
              <a:off x="0" y="-38100"/>
              <a:ext cx="2506912" cy="1625302"/>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5400000">
            <a:off x="7377986" y="348243"/>
            <a:ext cx="891758" cy="1038437"/>
          </a:xfrm>
          <a:custGeom>
            <a:avLst/>
            <a:gdLst/>
            <a:ahLst/>
            <a:cxnLst/>
            <a:rect r="r" b="b" t="t" l="l"/>
            <a:pathLst>
              <a:path h="1038437" w="891758">
                <a:moveTo>
                  <a:pt x="0" y="0"/>
                </a:moveTo>
                <a:lnTo>
                  <a:pt x="891758" y="0"/>
                </a:lnTo>
                <a:lnTo>
                  <a:pt x="891758" y="1038437"/>
                </a:lnTo>
                <a:lnTo>
                  <a:pt x="0" y="10384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0" id="10"/>
          <p:cNvGrpSpPr/>
          <p:nvPr/>
        </p:nvGrpSpPr>
        <p:grpSpPr>
          <a:xfrm rot="-10800000">
            <a:off x="8839888" y="167142"/>
            <a:ext cx="8308969" cy="8812387"/>
            <a:chOff x="0" y="0"/>
            <a:chExt cx="2188370" cy="2320958"/>
          </a:xfrm>
        </p:grpSpPr>
        <p:sp>
          <p:nvSpPr>
            <p:cNvPr name="Freeform 11" id="11"/>
            <p:cNvSpPr/>
            <p:nvPr/>
          </p:nvSpPr>
          <p:spPr>
            <a:xfrm flipH="false" flipV="false" rot="0">
              <a:off x="0" y="0"/>
              <a:ext cx="2188370" cy="2320958"/>
            </a:xfrm>
            <a:custGeom>
              <a:avLst/>
              <a:gdLst/>
              <a:ahLst/>
              <a:cxnLst/>
              <a:rect r="r" b="b" t="t" l="l"/>
              <a:pathLst>
                <a:path h="2320958" w="2188370">
                  <a:moveTo>
                    <a:pt x="93175" y="0"/>
                  </a:moveTo>
                  <a:lnTo>
                    <a:pt x="2095195" y="0"/>
                  </a:lnTo>
                  <a:cubicBezTo>
                    <a:pt x="2146654" y="0"/>
                    <a:pt x="2188370" y="41716"/>
                    <a:pt x="2188370" y="93175"/>
                  </a:cubicBezTo>
                  <a:lnTo>
                    <a:pt x="2188370" y="2227782"/>
                  </a:lnTo>
                  <a:cubicBezTo>
                    <a:pt x="2188370" y="2279242"/>
                    <a:pt x="2146654" y="2320958"/>
                    <a:pt x="2095195" y="2320958"/>
                  </a:cubicBezTo>
                  <a:lnTo>
                    <a:pt x="93175" y="2320958"/>
                  </a:lnTo>
                  <a:cubicBezTo>
                    <a:pt x="41716" y="2320958"/>
                    <a:pt x="0" y="2279242"/>
                    <a:pt x="0" y="2227782"/>
                  </a:cubicBezTo>
                  <a:lnTo>
                    <a:pt x="0" y="93175"/>
                  </a:lnTo>
                  <a:cubicBezTo>
                    <a:pt x="0" y="41716"/>
                    <a:pt x="41716" y="0"/>
                    <a:pt x="93175" y="0"/>
                  </a:cubicBezTo>
                  <a:close/>
                </a:path>
              </a:pathLst>
            </a:custGeom>
            <a:solidFill>
              <a:srgbClr val="3C7CCB"/>
            </a:solidFill>
          </p:spPr>
        </p:sp>
        <p:sp>
          <p:nvSpPr>
            <p:cNvPr name="TextBox 12" id="12"/>
            <p:cNvSpPr txBox="true"/>
            <p:nvPr/>
          </p:nvSpPr>
          <p:spPr>
            <a:xfrm>
              <a:off x="0" y="-38100"/>
              <a:ext cx="2188370" cy="2359058"/>
            </a:xfrm>
            <a:prstGeom prst="rect">
              <a:avLst/>
            </a:prstGeom>
          </p:spPr>
          <p:txBody>
            <a:bodyPr anchor="ctr" rtlCol="false" tIns="50800" lIns="50800" bIns="50800" rIns="50800"/>
            <a:lstStyle/>
            <a:p>
              <a:pPr algn="ctr">
                <a:lnSpc>
                  <a:spcPts val="2659"/>
                </a:lnSpc>
              </a:pPr>
            </a:p>
          </p:txBody>
        </p:sp>
      </p:grpSp>
      <p:sp>
        <p:nvSpPr>
          <p:cNvPr name="TextBox 13" id="13"/>
          <p:cNvSpPr txBox="true"/>
          <p:nvPr/>
        </p:nvSpPr>
        <p:spPr>
          <a:xfrm rot="0">
            <a:off x="1028700" y="9532112"/>
            <a:ext cx="5506238" cy="452501"/>
          </a:xfrm>
          <a:prstGeom prst="rect">
            <a:avLst/>
          </a:prstGeom>
        </p:spPr>
        <p:txBody>
          <a:bodyPr anchor="t" rtlCol="false" tIns="0" lIns="0" bIns="0" rIns="0">
            <a:spAutoFit/>
          </a:bodyPr>
          <a:lstStyle/>
          <a:p>
            <a:pPr algn="l">
              <a:lnSpc>
                <a:spcPts val="3471"/>
              </a:lnSpc>
            </a:pPr>
            <a:r>
              <a:rPr lang="en-US" sz="2799" b="true">
                <a:solidFill>
                  <a:srgbClr val="FFFFFF"/>
                </a:solidFill>
                <a:latin typeface="Roboto Bold"/>
                <a:ea typeface="Roboto Bold"/>
                <a:cs typeface="Roboto Bold"/>
                <a:sym typeface="Roboto Bold"/>
              </a:rPr>
              <a:t>www.reallygreatsite.com</a:t>
            </a:r>
          </a:p>
        </p:txBody>
      </p:sp>
      <p:sp>
        <p:nvSpPr>
          <p:cNvPr name="TextBox 14" id="14"/>
          <p:cNvSpPr txBox="true"/>
          <p:nvPr/>
        </p:nvSpPr>
        <p:spPr>
          <a:xfrm rot="0">
            <a:off x="10316398" y="2869116"/>
            <a:ext cx="5416475" cy="998098"/>
          </a:xfrm>
          <a:prstGeom prst="rect">
            <a:avLst/>
          </a:prstGeom>
        </p:spPr>
        <p:txBody>
          <a:bodyPr anchor="t" rtlCol="false" tIns="0" lIns="0" bIns="0" rIns="0">
            <a:spAutoFit/>
          </a:bodyPr>
          <a:lstStyle/>
          <a:p>
            <a:pPr algn="l">
              <a:lnSpc>
                <a:spcPts val="7696"/>
              </a:lnSpc>
            </a:pPr>
            <a:r>
              <a:rPr lang="en-US" sz="7400">
                <a:solidFill>
                  <a:srgbClr val="FFFFFF"/>
                </a:solidFill>
                <a:latin typeface="Anton"/>
                <a:ea typeface="Anton"/>
                <a:cs typeface="Anton"/>
                <a:sym typeface="Anton"/>
              </a:rPr>
              <a:t>CONTACT US</a:t>
            </a:r>
          </a:p>
        </p:txBody>
      </p:sp>
      <p:grpSp>
        <p:nvGrpSpPr>
          <p:cNvPr name="Group 15" id="15"/>
          <p:cNvGrpSpPr/>
          <p:nvPr/>
        </p:nvGrpSpPr>
        <p:grpSpPr>
          <a:xfrm rot="0">
            <a:off x="10399136" y="4400613"/>
            <a:ext cx="538366" cy="511385"/>
            <a:chOff x="0" y="0"/>
            <a:chExt cx="165570" cy="157272"/>
          </a:xfrm>
        </p:grpSpPr>
        <p:sp>
          <p:nvSpPr>
            <p:cNvPr name="Freeform 16" id="16"/>
            <p:cNvSpPr/>
            <p:nvPr/>
          </p:nvSpPr>
          <p:spPr>
            <a:xfrm flipH="false" flipV="false" rot="0">
              <a:off x="0" y="0"/>
              <a:ext cx="165570" cy="157272"/>
            </a:xfrm>
            <a:custGeom>
              <a:avLst/>
              <a:gdLst/>
              <a:ahLst/>
              <a:cxnLst/>
              <a:rect r="r" b="b" t="t" l="l"/>
              <a:pathLst>
                <a:path h="157272" w="165570">
                  <a:moveTo>
                    <a:pt x="78636" y="0"/>
                  </a:moveTo>
                  <a:lnTo>
                    <a:pt x="86934" y="0"/>
                  </a:lnTo>
                  <a:cubicBezTo>
                    <a:pt x="107789" y="0"/>
                    <a:pt x="127791" y="8285"/>
                    <a:pt x="142538" y="23032"/>
                  </a:cubicBezTo>
                  <a:cubicBezTo>
                    <a:pt x="157285" y="37779"/>
                    <a:pt x="165570" y="57781"/>
                    <a:pt x="165570" y="78636"/>
                  </a:cubicBezTo>
                  <a:lnTo>
                    <a:pt x="165570" y="78636"/>
                  </a:lnTo>
                  <a:cubicBezTo>
                    <a:pt x="165570" y="99492"/>
                    <a:pt x="157285" y="119493"/>
                    <a:pt x="142538" y="134240"/>
                  </a:cubicBezTo>
                  <a:cubicBezTo>
                    <a:pt x="127791" y="148987"/>
                    <a:pt x="107789" y="157272"/>
                    <a:pt x="86934" y="157272"/>
                  </a:cubicBezTo>
                  <a:lnTo>
                    <a:pt x="78636" y="157272"/>
                  </a:lnTo>
                  <a:cubicBezTo>
                    <a:pt x="57781" y="157272"/>
                    <a:pt x="37779" y="148987"/>
                    <a:pt x="23032" y="134240"/>
                  </a:cubicBezTo>
                  <a:cubicBezTo>
                    <a:pt x="8285" y="119493"/>
                    <a:pt x="0" y="99492"/>
                    <a:pt x="0" y="78636"/>
                  </a:cubicBezTo>
                  <a:lnTo>
                    <a:pt x="0" y="78636"/>
                  </a:lnTo>
                  <a:cubicBezTo>
                    <a:pt x="0" y="57781"/>
                    <a:pt x="8285" y="37779"/>
                    <a:pt x="23032" y="23032"/>
                  </a:cubicBezTo>
                  <a:cubicBezTo>
                    <a:pt x="37779" y="8285"/>
                    <a:pt x="57781" y="0"/>
                    <a:pt x="78636" y="0"/>
                  </a:cubicBezTo>
                  <a:close/>
                </a:path>
              </a:pathLst>
            </a:custGeom>
            <a:solidFill>
              <a:srgbClr val="FFFFFF"/>
            </a:solidFill>
          </p:spPr>
        </p:sp>
        <p:sp>
          <p:nvSpPr>
            <p:cNvPr name="TextBox 17" id="17"/>
            <p:cNvSpPr txBox="true"/>
            <p:nvPr/>
          </p:nvSpPr>
          <p:spPr>
            <a:xfrm>
              <a:off x="0" y="-9525"/>
              <a:ext cx="165570" cy="166797"/>
            </a:xfrm>
            <a:prstGeom prst="rect">
              <a:avLst/>
            </a:prstGeom>
          </p:spPr>
          <p:txBody>
            <a:bodyPr anchor="ctr" rtlCol="false" tIns="50800" lIns="50800" bIns="50800" rIns="50800"/>
            <a:lstStyle/>
            <a:p>
              <a:pPr algn="ctr">
                <a:lnSpc>
                  <a:spcPts val="419"/>
                </a:lnSpc>
              </a:pPr>
            </a:p>
          </p:txBody>
        </p:sp>
      </p:grpSp>
      <p:sp>
        <p:nvSpPr>
          <p:cNvPr name="Freeform 18" id="18"/>
          <p:cNvSpPr/>
          <p:nvPr/>
        </p:nvSpPr>
        <p:spPr>
          <a:xfrm flipH="false" flipV="false" rot="0">
            <a:off x="10516408" y="4504394"/>
            <a:ext cx="303823" cy="303823"/>
          </a:xfrm>
          <a:custGeom>
            <a:avLst/>
            <a:gdLst/>
            <a:ahLst/>
            <a:cxnLst/>
            <a:rect r="r" b="b" t="t" l="l"/>
            <a:pathLst>
              <a:path h="303823" w="303823">
                <a:moveTo>
                  <a:pt x="0" y="0"/>
                </a:moveTo>
                <a:lnTo>
                  <a:pt x="303823" y="0"/>
                </a:lnTo>
                <a:lnTo>
                  <a:pt x="303823" y="303823"/>
                </a:lnTo>
                <a:lnTo>
                  <a:pt x="0" y="30382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9" id="19"/>
          <p:cNvGrpSpPr/>
          <p:nvPr/>
        </p:nvGrpSpPr>
        <p:grpSpPr>
          <a:xfrm rot="0">
            <a:off x="10399136" y="5247214"/>
            <a:ext cx="538366" cy="511385"/>
            <a:chOff x="0" y="0"/>
            <a:chExt cx="165570" cy="157272"/>
          </a:xfrm>
        </p:grpSpPr>
        <p:sp>
          <p:nvSpPr>
            <p:cNvPr name="Freeform 20" id="20"/>
            <p:cNvSpPr/>
            <p:nvPr/>
          </p:nvSpPr>
          <p:spPr>
            <a:xfrm flipH="false" flipV="false" rot="0">
              <a:off x="0" y="0"/>
              <a:ext cx="165570" cy="157272"/>
            </a:xfrm>
            <a:custGeom>
              <a:avLst/>
              <a:gdLst/>
              <a:ahLst/>
              <a:cxnLst/>
              <a:rect r="r" b="b" t="t" l="l"/>
              <a:pathLst>
                <a:path h="157272" w="165570">
                  <a:moveTo>
                    <a:pt x="78636" y="0"/>
                  </a:moveTo>
                  <a:lnTo>
                    <a:pt x="86934" y="0"/>
                  </a:lnTo>
                  <a:cubicBezTo>
                    <a:pt x="107789" y="0"/>
                    <a:pt x="127791" y="8285"/>
                    <a:pt x="142538" y="23032"/>
                  </a:cubicBezTo>
                  <a:cubicBezTo>
                    <a:pt x="157285" y="37779"/>
                    <a:pt x="165570" y="57781"/>
                    <a:pt x="165570" y="78636"/>
                  </a:cubicBezTo>
                  <a:lnTo>
                    <a:pt x="165570" y="78636"/>
                  </a:lnTo>
                  <a:cubicBezTo>
                    <a:pt x="165570" y="99492"/>
                    <a:pt x="157285" y="119493"/>
                    <a:pt x="142538" y="134240"/>
                  </a:cubicBezTo>
                  <a:cubicBezTo>
                    <a:pt x="127791" y="148987"/>
                    <a:pt x="107789" y="157272"/>
                    <a:pt x="86934" y="157272"/>
                  </a:cubicBezTo>
                  <a:lnTo>
                    <a:pt x="78636" y="157272"/>
                  </a:lnTo>
                  <a:cubicBezTo>
                    <a:pt x="57781" y="157272"/>
                    <a:pt x="37779" y="148987"/>
                    <a:pt x="23032" y="134240"/>
                  </a:cubicBezTo>
                  <a:cubicBezTo>
                    <a:pt x="8285" y="119493"/>
                    <a:pt x="0" y="99492"/>
                    <a:pt x="0" y="78636"/>
                  </a:cubicBezTo>
                  <a:lnTo>
                    <a:pt x="0" y="78636"/>
                  </a:lnTo>
                  <a:cubicBezTo>
                    <a:pt x="0" y="57781"/>
                    <a:pt x="8285" y="37779"/>
                    <a:pt x="23032" y="23032"/>
                  </a:cubicBezTo>
                  <a:cubicBezTo>
                    <a:pt x="37779" y="8285"/>
                    <a:pt x="57781" y="0"/>
                    <a:pt x="78636" y="0"/>
                  </a:cubicBezTo>
                  <a:close/>
                </a:path>
              </a:pathLst>
            </a:custGeom>
            <a:solidFill>
              <a:srgbClr val="FFFFFF"/>
            </a:solidFill>
          </p:spPr>
        </p:sp>
        <p:sp>
          <p:nvSpPr>
            <p:cNvPr name="TextBox 21" id="21"/>
            <p:cNvSpPr txBox="true"/>
            <p:nvPr/>
          </p:nvSpPr>
          <p:spPr>
            <a:xfrm>
              <a:off x="0" y="-9525"/>
              <a:ext cx="165570" cy="166797"/>
            </a:xfrm>
            <a:prstGeom prst="rect">
              <a:avLst/>
            </a:prstGeom>
          </p:spPr>
          <p:txBody>
            <a:bodyPr anchor="ctr" rtlCol="false" tIns="50800" lIns="50800" bIns="50800" rIns="50800"/>
            <a:lstStyle/>
            <a:p>
              <a:pPr algn="ctr">
                <a:lnSpc>
                  <a:spcPts val="419"/>
                </a:lnSpc>
              </a:pPr>
            </a:p>
          </p:txBody>
        </p:sp>
      </p:grpSp>
      <p:sp>
        <p:nvSpPr>
          <p:cNvPr name="Freeform 22" id="22"/>
          <p:cNvSpPr/>
          <p:nvPr/>
        </p:nvSpPr>
        <p:spPr>
          <a:xfrm flipH="false" flipV="false" rot="0">
            <a:off x="10539648" y="5339088"/>
            <a:ext cx="257344" cy="327637"/>
          </a:xfrm>
          <a:custGeom>
            <a:avLst/>
            <a:gdLst/>
            <a:ahLst/>
            <a:cxnLst/>
            <a:rect r="r" b="b" t="t" l="l"/>
            <a:pathLst>
              <a:path h="327637" w="257344">
                <a:moveTo>
                  <a:pt x="0" y="0"/>
                </a:moveTo>
                <a:lnTo>
                  <a:pt x="257343" y="0"/>
                </a:lnTo>
                <a:lnTo>
                  <a:pt x="257343" y="327637"/>
                </a:lnTo>
                <a:lnTo>
                  <a:pt x="0" y="32763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23" id="23"/>
          <p:cNvGrpSpPr/>
          <p:nvPr/>
        </p:nvGrpSpPr>
        <p:grpSpPr>
          <a:xfrm rot="0">
            <a:off x="10399136" y="6090981"/>
            <a:ext cx="538366" cy="511385"/>
            <a:chOff x="0" y="0"/>
            <a:chExt cx="165570" cy="157272"/>
          </a:xfrm>
        </p:grpSpPr>
        <p:sp>
          <p:nvSpPr>
            <p:cNvPr name="Freeform 24" id="24"/>
            <p:cNvSpPr/>
            <p:nvPr/>
          </p:nvSpPr>
          <p:spPr>
            <a:xfrm flipH="false" flipV="false" rot="0">
              <a:off x="0" y="0"/>
              <a:ext cx="165570" cy="157272"/>
            </a:xfrm>
            <a:custGeom>
              <a:avLst/>
              <a:gdLst/>
              <a:ahLst/>
              <a:cxnLst/>
              <a:rect r="r" b="b" t="t" l="l"/>
              <a:pathLst>
                <a:path h="157272" w="165570">
                  <a:moveTo>
                    <a:pt x="78636" y="0"/>
                  </a:moveTo>
                  <a:lnTo>
                    <a:pt x="86934" y="0"/>
                  </a:lnTo>
                  <a:cubicBezTo>
                    <a:pt x="107789" y="0"/>
                    <a:pt x="127791" y="8285"/>
                    <a:pt x="142538" y="23032"/>
                  </a:cubicBezTo>
                  <a:cubicBezTo>
                    <a:pt x="157285" y="37779"/>
                    <a:pt x="165570" y="57781"/>
                    <a:pt x="165570" y="78636"/>
                  </a:cubicBezTo>
                  <a:lnTo>
                    <a:pt x="165570" y="78636"/>
                  </a:lnTo>
                  <a:cubicBezTo>
                    <a:pt x="165570" y="99492"/>
                    <a:pt x="157285" y="119493"/>
                    <a:pt x="142538" y="134240"/>
                  </a:cubicBezTo>
                  <a:cubicBezTo>
                    <a:pt x="127791" y="148987"/>
                    <a:pt x="107789" y="157272"/>
                    <a:pt x="86934" y="157272"/>
                  </a:cubicBezTo>
                  <a:lnTo>
                    <a:pt x="78636" y="157272"/>
                  </a:lnTo>
                  <a:cubicBezTo>
                    <a:pt x="57781" y="157272"/>
                    <a:pt x="37779" y="148987"/>
                    <a:pt x="23032" y="134240"/>
                  </a:cubicBezTo>
                  <a:cubicBezTo>
                    <a:pt x="8285" y="119493"/>
                    <a:pt x="0" y="99492"/>
                    <a:pt x="0" y="78636"/>
                  </a:cubicBezTo>
                  <a:lnTo>
                    <a:pt x="0" y="78636"/>
                  </a:lnTo>
                  <a:cubicBezTo>
                    <a:pt x="0" y="57781"/>
                    <a:pt x="8285" y="37779"/>
                    <a:pt x="23032" y="23032"/>
                  </a:cubicBezTo>
                  <a:cubicBezTo>
                    <a:pt x="37779" y="8285"/>
                    <a:pt x="57781" y="0"/>
                    <a:pt x="78636" y="0"/>
                  </a:cubicBezTo>
                  <a:close/>
                </a:path>
              </a:pathLst>
            </a:custGeom>
            <a:solidFill>
              <a:srgbClr val="FFFFFF"/>
            </a:solidFill>
          </p:spPr>
        </p:sp>
        <p:sp>
          <p:nvSpPr>
            <p:cNvPr name="TextBox 25" id="25"/>
            <p:cNvSpPr txBox="true"/>
            <p:nvPr/>
          </p:nvSpPr>
          <p:spPr>
            <a:xfrm>
              <a:off x="0" y="-9525"/>
              <a:ext cx="165570" cy="166797"/>
            </a:xfrm>
            <a:prstGeom prst="rect">
              <a:avLst/>
            </a:prstGeom>
          </p:spPr>
          <p:txBody>
            <a:bodyPr anchor="ctr" rtlCol="false" tIns="50800" lIns="50800" bIns="50800" rIns="50800"/>
            <a:lstStyle/>
            <a:p>
              <a:pPr algn="ctr">
                <a:lnSpc>
                  <a:spcPts val="419"/>
                </a:lnSpc>
              </a:pPr>
            </a:p>
          </p:txBody>
        </p:sp>
      </p:grpSp>
      <p:sp>
        <p:nvSpPr>
          <p:cNvPr name="Freeform 26" id="26"/>
          <p:cNvSpPr/>
          <p:nvPr/>
        </p:nvSpPr>
        <p:spPr>
          <a:xfrm flipH="false" flipV="false" rot="0">
            <a:off x="10488069" y="6228364"/>
            <a:ext cx="360500" cy="236619"/>
          </a:xfrm>
          <a:custGeom>
            <a:avLst/>
            <a:gdLst/>
            <a:ahLst/>
            <a:cxnLst/>
            <a:rect r="r" b="b" t="t" l="l"/>
            <a:pathLst>
              <a:path h="236619" w="360500">
                <a:moveTo>
                  <a:pt x="0" y="0"/>
                </a:moveTo>
                <a:lnTo>
                  <a:pt x="360501" y="0"/>
                </a:lnTo>
                <a:lnTo>
                  <a:pt x="360501" y="236620"/>
                </a:lnTo>
                <a:lnTo>
                  <a:pt x="0" y="23662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27" id="27"/>
          <p:cNvGrpSpPr/>
          <p:nvPr/>
        </p:nvGrpSpPr>
        <p:grpSpPr>
          <a:xfrm rot="0">
            <a:off x="10399136" y="6936166"/>
            <a:ext cx="538366" cy="511385"/>
            <a:chOff x="0" y="0"/>
            <a:chExt cx="165570" cy="157272"/>
          </a:xfrm>
        </p:grpSpPr>
        <p:sp>
          <p:nvSpPr>
            <p:cNvPr name="Freeform 28" id="28"/>
            <p:cNvSpPr/>
            <p:nvPr/>
          </p:nvSpPr>
          <p:spPr>
            <a:xfrm flipH="false" flipV="false" rot="0">
              <a:off x="0" y="0"/>
              <a:ext cx="165570" cy="157272"/>
            </a:xfrm>
            <a:custGeom>
              <a:avLst/>
              <a:gdLst/>
              <a:ahLst/>
              <a:cxnLst/>
              <a:rect r="r" b="b" t="t" l="l"/>
              <a:pathLst>
                <a:path h="157272" w="165570">
                  <a:moveTo>
                    <a:pt x="78636" y="0"/>
                  </a:moveTo>
                  <a:lnTo>
                    <a:pt x="86934" y="0"/>
                  </a:lnTo>
                  <a:cubicBezTo>
                    <a:pt x="107789" y="0"/>
                    <a:pt x="127791" y="8285"/>
                    <a:pt x="142538" y="23032"/>
                  </a:cubicBezTo>
                  <a:cubicBezTo>
                    <a:pt x="157285" y="37779"/>
                    <a:pt x="165570" y="57781"/>
                    <a:pt x="165570" y="78636"/>
                  </a:cubicBezTo>
                  <a:lnTo>
                    <a:pt x="165570" y="78636"/>
                  </a:lnTo>
                  <a:cubicBezTo>
                    <a:pt x="165570" y="99492"/>
                    <a:pt x="157285" y="119493"/>
                    <a:pt x="142538" y="134240"/>
                  </a:cubicBezTo>
                  <a:cubicBezTo>
                    <a:pt x="127791" y="148987"/>
                    <a:pt x="107789" y="157272"/>
                    <a:pt x="86934" y="157272"/>
                  </a:cubicBezTo>
                  <a:lnTo>
                    <a:pt x="78636" y="157272"/>
                  </a:lnTo>
                  <a:cubicBezTo>
                    <a:pt x="57781" y="157272"/>
                    <a:pt x="37779" y="148987"/>
                    <a:pt x="23032" y="134240"/>
                  </a:cubicBezTo>
                  <a:cubicBezTo>
                    <a:pt x="8285" y="119493"/>
                    <a:pt x="0" y="99492"/>
                    <a:pt x="0" y="78636"/>
                  </a:cubicBezTo>
                  <a:lnTo>
                    <a:pt x="0" y="78636"/>
                  </a:lnTo>
                  <a:cubicBezTo>
                    <a:pt x="0" y="57781"/>
                    <a:pt x="8285" y="37779"/>
                    <a:pt x="23032" y="23032"/>
                  </a:cubicBezTo>
                  <a:cubicBezTo>
                    <a:pt x="37779" y="8285"/>
                    <a:pt x="57781" y="0"/>
                    <a:pt x="78636" y="0"/>
                  </a:cubicBezTo>
                  <a:close/>
                </a:path>
              </a:pathLst>
            </a:custGeom>
            <a:solidFill>
              <a:srgbClr val="FFFFFF"/>
            </a:solidFill>
          </p:spPr>
        </p:sp>
        <p:sp>
          <p:nvSpPr>
            <p:cNvPr name="TextBox 29" id="29"/>
            <p:cNvSpPr txBox="true"/>
            <p:nvPr/>
          </p:nvSpPr>
          <p:spPr>
            <a:xfrm>
              <a:off x="0" y="-9525"/>
              <a:ext cx="165570" cy="166797"/>
            </a:xfrm>
            <a:prstGeom prst="rect">
              <a:avLst/>
            </a:prstGeom>
          </p:spPr>
          <p:txBody>
            <a:bodyPr anchor="ctr" rtlCol="false" tIns="50800" lIns="50800" bIns="50800" rIns="50800"/>
            <a:lstStyle/>
            <a:p>
              <a:pPr algn="ctr">
                <a:lnSpc>
                  <a:spcPts val="419"/>
                </a:lnSpc>
              </a:pPr>
            </a:p>
          </p:txBody>
        </p:sp>
      </p:grpSp>
      <p:sp>
        <p:nvSpPr>
          <p:cNvPr name="Freeform 30" id="30"/>
          <p:cNvSpPr/>
          <p:nvPr/>
        </p:nvSpPr>
        <p:spPr>
          <a:xfrm flipH="false" flipV="false" rot="0">
            <a:off x="10509721" y="7033260"/>
            <a:ext cx="317196" cy="317196"/>
          </a:xfrm>
          <a:custGeom>
            <a:avLst/>
            <a:gdLst/>
            <a:ahLst/>
            <a:cxnLst/>
            <a:rect r="r" b="b" t="t" l="l"/>
            <a:pathLst>
              <a:path h="317196" w="317196">
                <a:moveTo>
                  <a:pt x="0" y="0"/>
                </a:moveTo>
                <a:lnTo>
                  <a:pt x="317197" y="0"/>
                </a:lnTo>
                <a:lnTo>
                  <a:pt x="317197" y="317196"/>
                </a:lnTo>
                <a:lnTo>
                  <a:pt x="0" y="31719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31" id="31"/>
          <p:cNvSpPr txBox="true"/>
          <p:nvPr/>
        </p:nvSpPr>
        <p:spPr>
          <a:xfrm rot="0">
            <a:off x="11286971" y="4405562"/>
            <a:ext cx="4592262" cy="506436"/>
          </a:xfrm>
          <a:prstGeom prst="rect">
            <a:avLst/>
          </a:prstGeom>
        </p:spPr>
        <p:txBody>
          <a:bodyPr anchor="t" rtlCol="false" tIns="0" lIns="0" bIns="0" rIns="0">
            <a:spAutoFit/>
          </a:bodyPr>
          <a:lstStyle/>
          <a:p>
            <a:pPr algn="l">
              <a:lnSpc>
                <a:spcPts val="4111"/>
              </a:lnSpc>
            </a:pPr>
            <a:r>
              <a:rPr lang="en-US" sz="2936">
                <a:solidFill>
                  <a:srgbClr val="FFFFFF"/>
                </a:solidFill>
                <a:latin typeface="Roboto"/>
                <a:ea typeface="Roboto"/>
                <a:cs typeface="Roboto"/>
                <a:sym typeface="Roboto"/>
              </a:rPr>
              <a:t>+123-456-7890</a:t>
            </a:r>
          </a:p>
        </p:txBody>
      </p:sp>
      <p:sp>
        <p:nvSpPr>
          <p:cNvPr name="TextBox 32" id="32"/>
          <p:cNvSpPr txBox="true"/>
          <p:nvPr/>
        </p:nvSpPr>
        <p:spPr>
          <a:xfrm rot="0">
            <a:off x="11286971" y="5252163"/>
            <a:ext cx="4592262" cy="506436"/>
          </a:xfrm>
          <a:prstGeom prst="rect">
            <a:avLst/>
          </a:prstGeom>
        </p:spPr>
        <p:txBody>
          <a:bodyPr anchor="t" rtlCol="false" tIns="0" lIns="0" bIns="0" rIns="0">
            <a:spAutoFit/>
          </a:bodyPr>
          <a:lstStyle/>
          <a:p>
            <a:pPr algn="l">
              <a:lnSpc>
                <a:spcPts val="4111"/>
              </a:lnSpc>
            </a:pPr>
            <a:r>
              <a:rPr lang="en-US" sz="2936">
                <a:solidFill>
                  <a:srgbClr val="FFFFFF"/>
                </a:solidFill>
                <a:latin typeface="Roboto"/>
                <a:ea typeface="Roboto"/>
                <a:cs typeface="Roboto"/>
                <a:sym typeface="Roboto"/>
              </a:rPr>
              <a:t>123 Anywhere St., Any City</a:t>
            </a:r>
          </a:p>
        </p:txBody>
      </p:sp>
      <p:sp>
        <p:nvSpPr>
          <p:cNvPr name="TextBox 33" id="33"/>
          <p:cNvSpPr txBox="true"/>
          <p:nvPr/>
        </p:nvSpPr>
        <p:spPr>
          <a:xfrm rot="0">
            <a:off x="11286971" y="6941114"/>
            <a:ext cx="4592262" cy="506436"/>
          </a:xfrm>
          <a:prstGeom prst="rect">
            <a:avLst/>
          </a:prstGeom>
        </p:spPr>
        <p:txBody>
          <a:bodyPr anchor="t" rtlCol="false" tIns="0" lIns="0" bIns="0" rIns="0">
            <a:spAutoFit/>
          </a:bodyPr>
          <a:lstStyle/>
          <a:p>
            <a:pPr algn="l">
              <a:lnSpc>
                <a:spcPts val="4111"/>
              </a:lnSpc>
            </a:pPr>
            <a:r>
              <a:rPr lang="en-US" sz="2936">
                <a:solidFill>
                  <a:srgbClr val="FFFFFF"/>
                </a:solidFill>
                <a:latin typeface="Roboto"/>
                <a:ea typeface="Roboto"/>
                <a:cs typeface="Roboto"/>
                <a:sym typeface="Roboto"/>
              </a:rPr>
              <a:t>www.reallygreatsite.com</a:t>
            </a:r>
          </a:p>
        </p:txBody>
      </p:sp>
      <p:sp>
        <p:nvSpPr>
          <p:cNvPr name="TextBox 34" id="34"/>
          <p:cNvSpPr txBox="true"/>
          <p:nvPr/>
        </p:nvSpPr>
        <p:spPr>
          <a:xfrm rot="0">
            <a:off x="11286971" y="6095930"/>
            <a:ext cx="4592262" cy="506436"/>
          </a:xfrm>
          <a:prstGeom prst="rect">
            <a:avLst/>
          </a:prstGeom>
        </p:spPr>
        <p:txBody>
          <a:bodyPr anchor="t" rtlCol="false" tIns="0" lIns="0" bIns="0" rIns="0">
            <a:spAutoFit/>
          </a:bodyPr>
          <a:lstStyle/>
          <a:p>
            <a:pPr algn="l">
              <a:lnSpc>
                <a:spcPts val="4111"/>
              </a:lnSpc>
            </a:pPr>
            <a:r>
              <a:rPr lang="en-US" sz="2936">
                <a:solidFill>
                  <a:srgbClr val="FFFFFF"/>
                </a:solidFill>
                <a:latin typeface="Roboto"/>
                <a:ea typeface="Roboto"/>
                <a:cs typeface="Roboto"/>
                <a:sym typeface="Roboto"/>
              </a:rPr>
              <a:t>hello@reallygreatsite.com</a:t>
            </a:r>
          </a:p>
        </p:txBody>
      </p:sp>
      <p:sp>
        <p:nvSpPr>
          <p:cNvPr name="Freeform 35" id="35"/>
          <p:cNvSpPr/>
          <p:nvPr/>
        </p:nvSpPr>
        <p:spPr>
          <a:xfrm flipH="false" flipV="false" rot="0">
            <a:off x="9902436" y="552231"/>
            <a:ext cx="8235877" cy="8066028"/>
          </a:xfrm>
          <a:custGeom>
            <a:avLst/>
            <a:gdLst/>
            <a:ahLst/>
            <a:cxnLst/>
            <a:rect r="r" b="b" t="t" l="l"/>
            <a:pathLst>
              <a:path h="8066028" w="8235877">
                <a:moveTo>
                  <a:pt x="0" y="0"/>
                </a:moveTo>
                <a:lnTo>
                  <a:pt x="8235877" y="0"/>
                </a:lnTo>
                <a:lnTo>
                  <a:pt x="8235877" y="8066028"/>
                </a:lnTo>
                <a:lnTo>
                  <a:pt x="0" y="8066028"/>
                </a:lnTo>
                <a:lnTo>
                  <a:pt x="0" y="0"/>
                </a:lnTo>
                <a:close/>
              </a:path>
            </a:pathLst>
          </a:custGeom>
          <a:blipFill>
            <a:blip r:embed="rId13"/>
            <a:stretch>
              <a:fillRect l="-73029" t="0" r="0" b="0"/>
            </a:stretch>
          </a:blipFill>
        </p:spPr>
      </p:sp>
      <p:sp>
        <p:nvSpPr>
          <p:cNvPr name="TextBox 36" id="36"/>
          <p:cNvSpPr txBox="true"/>
          <p:nvPr/>
        </p:nvSpPr>
        <p:spPr>
          <a:xfrm rot="0">
            <a:off x="319811" y="2369946"/>
            <a:ext cx="8324172" cy="6632058"/>
          </a:xfrm>
          <a:prstGeom prst="rect">
            <a:avLst/>
          </a:prstGeom>
        </p:spPr>
        <p:txBody>
          <a:bodyPr anchor="t" rtlCol="false" tIns="0" lIns="0" bIns="0" rIns="0">
            <a:spAutoFit/>
          </a:bodyPr>
          <a:lstStyle/>
          <a:p>
            <a:pPr algn="just">
              <a:lnSpc>
                <a:spcPts val="3272"/>
              </a:lnSpc>
            </a:pPr>
            <a:r>
              <a:rPr lang="en-US" sz="2478" spc="173">
                <a:solidFill>
                  <a:srgbClr val="545454"/>
                </a:solidFill>
                <a:latin typeface="Roboto"/>
                <a:ea typeface="Roboto"/>
                <a:cs typeface="Roboto"/>
                <a:sym typeface="Roboto"/>
              </a:rPr>
              <a:t>As we continue to expand our services in the healthcare industry, we would be honored to be considered for any upcoming projects. We believe that our experience and expertise make us a valuable partner in achieving your goals.</a:t>
            </a:r>
          </a:p>
          <a:p>
            <a:pPr algn="just">
              <a:lnSpc>
                <a:spcPts val="3272"/>
              </a:lnSpc>
            </a:pPr>
            <a:r>
              <a:rPr lang="en-US" sz="2478" spc="173">
                <a:solidFill>
                  <a:srgbClr val="545454"/>
                </a:solidFill>
                <a:latin typeface="Roboto"/>
                <a:ea typeface="Roboto"/>
                <a:cs typeface="Roboto"/>
                <a:sym typeface="Roboto"/>
              </a:rPr>
              <a:t>We are pleased to inform you that our company has recently completed two major projects for prestigious clients in the healthcare industry. We have successfully executed a work order worth 140 Million for Kala Hospital in Dehradun.</a:t>
            </a:r>
          </a:p>
          <a:p>
            <a:pPr algn="just">
              <a:lnSpc>
                <a:spcPts val="3272"/>
              </a:lnSpc>
            </a:pPr>
            <a:r>
              <a:rPr lang="en-US" sz="2478" spc="173">
                <a:solidFill>
                  <a:srgbClr val="545454"/>
                </a:solidFill>
                <a:latin typeface="Roboto"/>
                <a:ea typeface="Roboto"/>
                <a:cs typeface="Roboto"/>
                <a:sym typeface="Roboto"/>
              </a:rPr>
              <a:t>We take immense pride in delivering high-</a:t>
            </a:r>
          </a:p>
          <a:p>
            <a:pPr algn="just">
              <a:lnSpc>
                <a:spcPts val="3272"/>
              </a:lnSpc>
            </a:pPr>
            <a:r>
              <a:rPr lang="en-US" sz="2478" spc="173">
                <a:solidFill>
                  <a:srgbClr val="545454"/>
                </a:solidFill>
                <a:latin typeface="Roboto"/>
                <a:ea typeface="Roboto"/>
                <a:cs typeface="Roboto"/>
                <a:sym typeface="Roboto"/>
              </a:rPr>
              <a:t>quality work and meeting project deadlines </a:t>
            </a:r>
          </a:p>
          <a:p>
            <a:pPr algn="just">
              <a:lnSpc>
                <a:spcPts val="3272"/>
              </a:lnSpc>
            </a:pPr>
            <a:r>
              <a:rPr lang="en-US" sz="2478" spc="173">
                <a:solidFill>
                  <a:srgbClr val="545454"/>
                </a:solidFill>
                <a:latin typeface="Roboto"/>
                <a:ea typeface="Roboto"/>
                <a:cs typeface="Roboto"/>
                <a:sym typeface="Roboto"/>
              </a:rPr>
              <a:t>within budget. Our team of skilled </a:t>
            </a:r>
          </a:p>
          <a:p>
            <a:pPr algn="just">
              <a:lnSpc>
                <a:spcPts val="3272"/>
              </a:lnSpc>
            </a:pPr>
            <a:r>
              <a:rPr lang="en-US" sz="2478" spc="173">
                <a:solidFill>
                  <a:srgbClr val="545454"/>
                </a:solidFill>
                <a:latin typeface="Roboto"/>
                <a:ea typeface="Roboto"/>
                <a:cs typeface="Roboto"/>
                <a:sym typeface="Roboto"/>
              </a:rPr>
              <a:t>professionals is dedicated to providing </a:t>
            </a:r>
          </a:p>
          <a:p>
            <a:pPr algn="just">
              <a:lnSpc>
                <a:spcPts val="3272"/>
              </a:lnSpc>
            </a:pPr>
            <a:r>
              <a:rPr lang="en-US" sz="2478" spc="173">
                <a:solidFill>
                  <a:srgbClr val="545454"/>
                </a:solidFill>
                <a:latin typeface="Roboto"/>
                <a:ea typeface="Roboto"/>
                <a:cs typeface="Roboto"/>
                <a:sym typeface="Roboto"/>
              </a:rPr>
              <a:t>exceptional service and ensuring customer </a:t>
            </a:r>
          </a:p>
          <a:p>
            <a:pPr algn="just">
              <a:lnSpc>
                <a:spcPts val="3272"/>
              </a:lnSpc>
            </a:pPr>
            <a:r>
              <a:rPr lang="en-US" sz="2478" spc="173">
                <a:solidFill>
                  <a:srgbClr val="545454"/>
                </a:solidFill>
                <a:latin typeface="Roboto"/>
                <a:ea typeface="Roboto"/>
                <a:cs typeface="Roboto"/>
                <a:sym typeface="Roboto"/>
              </a:rPr>
              <a:t>satisfaction.</a:t>
            </a:r>
          </a:p>
        </p:txBody>
      </p:sp>
      <p:sp>
        <p:nvSpPr>
          <p:cNvPr name="TextBox 37" id="37"/>
          <p:cNvSpPr txBox="true"/>
          <p:nvPr/>
        </p:nvSpPr>
        <p:spPr>
          <a:xfrm rot="0">
            <a:off x="1028700" y="1067752"/>
            <a:ext cx="6540442" cy="1340294"/>
          </a:xfrm>
          <a:prstGeom prst="rect">
            <a:avLst/>
          </a:prstGeom>
        </p:spPr>
        <p:txBody>
          <a:bodyPr anchor="t" rtlCol="false" tIns="0" lIns="0" bIns="0" rIns="0">
            <a:spAutoFit/>
          </a:bodyPr>
          <a:lstStyle/>
          <a:p>
            <a:pPr algn="l">
              <a:lnSpc>
                <a:spcPts val="9906"/>
              </a:lnSpc>
            </a:pPr>
            <a:r>
              <a:rPr lang="en-US" b="true" sz="7076">
                <a:solidFill>
                  <a:srgbClr val="000000"/>
                </a:solidFill>
                <a:latin typeface="Arial MT Pro Bold"/>
                <a:ea typeface="Arial MT Pro Bold"/>
                <a:cs typeface="Arial MT Pro Bold"/>
                <a:sym typeface="Arial MT Pro Bold"/>
              </a:rPr>
              <a:t>Work Order:</a:t>
            </a:r>
          </a:p>
        </p:txBody>
      </p:sp>
      <p:sp>
        <p:nvSpPr>
          <p:cNvPr name="Freeform 38" id="38"/>
          <p:cNvSpPr/>
          <p:nvPr/>
        </p:nvSpPr>
        <p:spPr>
          <a:xfrm flipH="false" flipV="false" rot="0">
            <a:off x="0" y="0"/>
            <a:ext cx="1706556" cy="1343977"/>
          </a:xfrm>
          <a:custGeom>
            <a:avLst/>
            <a:gdLst/>
            <a:ahLst/>
            <a:cxnLst/>
            <a:rect r="r" b="b" t="t" l="l"/>
            <a:pathLst>
              <a:path h="1343977" w="1706556">
                <a:moveTo>
                  <a:pt x="0" y="0"/>
                </a:moveTo>
                <a:lnTo>
                  <a:pt x="1706556" y="0"/>
                </a:lnTo>
                <a:lnTo>
                  <a:pt x="1706556" y="1343977"/>
                </a:lnTo>
                <a:lnTo>
                  <a:pt x="0" y="1343977"/>
                </a:lnTo>
                <a:lnTo>
                  <a:pt x="0" y="0"/>
                </a:lnTo>
                <a:close/>
              </a:path>
            </a:pathLst>
          </a:custGeom>
          <a:blipFill>
            <a:blip r:embed="rId14"/>
            <a:stretch>
              <a:fillRect l="-365933" t="-228812" r="0" b="-5607"/>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sp>
        <p:nvSpPr>
          <p:cNvPr name="Freeform 3" id="3"/>
          <p:cNvSpPr/>
          <p:nvPr/>
        </p:nvSpPr>
        <p:spPr>
          <a:xfrm flipH="false" flipV="false" rot="0">
            <a:off x="9838790" y="-152201"/>
            <a:ext cx="8449210" cy="9593996"/>
          </a:xfrm>
          <a:custGeom>
            <a:avLst/>
            <a:gdLst/>
            <a:ahLst/>
            <a:cxnLst/>
            <a:rect r="r" b="b" t="t" l="l"/>
            <a:pathLst>
              <a:path h="9593996" w="8449210">
                <a:moveTo>
                  <a:pt x="0" y="0"/>
                </a:moveTo>
                <a:lnTo>
                  <a:pt x="8449210" y="0"/>
                </a:lnTo>
                <a:lnTo>
                  <a:pt x="8449210" y="9593996"/>
                </a:lnTo>
                <a:lnTo>
                  <a:pt x="0" y="9593996"/>
                </a:lnTo>
                <a:lnTo>
                  <a:pt x="0" y="0"/>
                </a:lnTo>
                <a:close/>
              </a:path>
            </a:pathLst>
          </a:custGeom>
          <a:blipFill>
            <a:blip r:embed="rId3"/>
            <a:stretch>
              <a:fillRect l="0" t="0" r="0" b="-178"/>
            </a:stretch>
          </a:blipFill>
        </p:spPr>
      </p:sp>
      <p:sp>
        <p:nvSpPr>
          <p:cNvPr name="Freeform 4" id="4"/>
          <p:cNvSpPr/>
          <p:nvPr/>
        </p:nvSpPr>
        <p:spPr>
          <a:xfrm flipH="false" flipV="false" rot="0">
            <a:off x="-111257" y="174493"/>
            <a:ext cx="3564631" cy="956305"/>
          </a:xfrm>
          <a:custGeom>
            <a:avLst/>
            <a:gdLst/>
            <a:ahLst/>
            <a:cxnLst/>
            <a:rect r="r" b="b" t="t" l="l"/>
            <a:pathLst>
              <a:path h="956305" w="3564631">
                <a:moveTo>
                  <a:pt x="0" y="0"/>
                </a:moveTo>
                <a:lnTo>
                  <a:pt x="3564631" y="0"/>
                </a:lnTo>
                <a:lnTo>
                  <a:pt x="3564631" y="956305"/>
                </a:lnTo>
                <a:lnTo>
                  <a:pt x="0" y="95630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431011" y="363693"/>
            <a:ext cx="2247710" cy="574267"/>
          </a:xfrm>
          <a:prstGeom prst="rect">
            <a:avLst/>
          </a:prstGeom>
        </p:spPr>
        <p:txBody>
          <a:bodyPr anchor="t" rtlCol="false" tIns="0" lIns="0" bIns="0" rIns="0">
            <a:spAutoFit/>
          </a:bodyPr>
          <a:lstStyle/>
          <a:p>
            <a:pPr algn="l">
              <a:lnSpc>
                <a:spcPts val="4210"/>
              </a:lnSpc>
            </a:pPr>
            <a:r>
              <a:rPr lang="en-US" b="true" sz="3007">
                <a:solidFill>
                  <a:srgbClr val="FFFFFF"/>
                </a:solidFill>
                <a:latin typeface="Arial MT Pro Bold"/>
                <a:ea typeface="Arial MT Pro Bold"/>
                <a:cs typeface="Arial MT Pro Bold"/>
                <a:sym typeface="Arial MT Pro Bold"/>
              </a:rPr>
              <a:t>Work Order:</a:t>
            </a:r>
          </a:p>
        </p:txBody>
      </p:sp>
      <p:sp>
        <p:nvSpPr>
          <p:cNvPr name="Freeform 6" id="6"/>
          <p:cNvSpPr/>
          <p:nvPr/>
        </p:nvSpPr>
        <p:spPr>
          <a:xfrm flipH="false" flipV="false" rot="0">
            <a:off x="0" y="937960"/>
            <a:ext cx="7841312" cy="8206925"/>
          </a:xfrm>
          <a:custGeom>
            <a:avLst/>
            <a:gdLst/>
            <a:ahLst/>
            <a:cxnLst/>
            <a:rect r="r" b="b" t="t" l="l"/>
            <a:pathLst>
              <a:path h="8206925" w="7841312">
                <a:moveTo>
                  <a:pt x="0" y="0"/>
                </a:moveTo>
                <a:lnTo>
                  <a:pt x="7841312" y="0"/>
                </a:lnTo>
                <a:lnTo>
                  <a:pt x="7841312" y="8206925"/>
                </a:lnTo>
                <a:lnTo>
                  <a:pt x="0" y="8206925"/>
                </a:lnTo>
                <a:lnTo>
                  <a:pt x="0" y="0"/>
                </a:lnTo>
                <a:close/>
              </a:path>
            </a:pathLst>
          </a:custGeom>
          <a:blipFill>
            <a:blip r:embed="rId6"/>
            <a:stretch>
              <a:fillRect l="-28409" t="0" r="-48807" b="-12810"/>
            </a:stretch>
          </a:blipFill>
        </p:spPr>
      </p:sp>
      <p:sp>
        <p:nvSpPr>
          <p:cNvPr name="TextBox 7" id="7"/>
          <p:cNvSpPr txBox="true"/>
          <p:nvPr/>
        </p:nvSpPr>
        <p:spPr>
          <a:xfrm rot="0">
            <a:off x="431011" y="1132590"/>
            <a:ext cx="8009130" cy="5194983"/>
          </a:xfrm>
          <a:prstGeom prst="rect">
            <a:avLst/>
          </a:prstGeom>
        </p:spPr>
        <p:txBody>
          <a:bodyPr anchor="t" rtlCol="false" tIns="0" lIns="0" bIns="0" rIns="0">
            <a:spAutoFit/>
          </a:bodyPr>
          <a:lstStyle/>
          <a:p>
            <a:pPr algn="just">
              <a:lnSpc>
                <a:spcPts val="2990"/>
              </a:lnSpc>
            </a:pPr>
            <a:r>
              <a:rPr lang="en-US" b="true" sz="2392" spc="246">
                <a:solidFill>
                  <a:srgbClr val="070A10"/>
                </a:solidFill>
                <a:latin typeface="IBM Plex Sans Bold"/>
                <a:ea typeface="IBM Plex Sans Bold"/>
                <a:cs typeface="IBM Plex Sans Bold"/>
                <a:sym typeface="IBM Plex Sans Bold"/>
              </a:rPr>
              <a:t>We are pleased to inform you that our company has recently completed two major projects for prestigious clients in the healthcare industry. We have successfully executed a work order worth 160 Million for AIIMS Hospital in Awantipura.</a:t>
            </a:r>
          </a:p>
          <a:p>
            <a:pPr algn="just">
              <a:lnSpc>
                <a:spcPts val="2990"/>
              </a:lnSpc>
            </a:pPr>
            <a:r>
              <a:rPr lang="en-US" b="true" sz="2392" spc="246">
                <a:solidFill>
                  <a:srgbClr val="070A10"/>
                </a:solidFill>
                <a:latin typeface="IBM Plex Sans Bold"/>
                <a:ea typeface="IBM Plex Sans Bold"/>
                <a:cs typeface="IBM Plex Sans Bold"/>
                <a:sym typeface="IBM Plex Sans Bold"/>
              </a:rPr>
              <a:t>We take immense pride in delivering high-quality work </a:t>
            </a:r>
          </a:p>
          <a:p>
            <a:pPr algn="just">
              <a:lnSpc>
                <a:spcPts val="2990"/>
              </a:lnSpc>
            </a:pPr>
            <a:r>
              <a:rPr lang="en-US" b="true" sz="2392" spc="246">
                <a:solidFill>
                  <a:srgbClr val="070A10"/>
                </a:solidFill>
                <a:latin typeface="IBM Plex Sans Bold"/>
                <a:ea typeface="IBM Plex Sans Bold"/>
                <a:cs typeface="IBM Plex Sans Bold"/>
                <a:sym typeface="IBM Plex Sans Bold"/>
              </a:rPr>
              <a:t>and meeting project deadlines within budget. Our team </a:t>
            </a:r>
          </a:p>
          <a:p>
            <a:pPr algn="just">
              <a:lnSpc>
                <a:spcPts val="2990"/>
              </a:lnSpc>
            </a:pPr>
            <a:r>
              <a:rPr lang="en-US" b="true" sz="2392" spc="246">
                <a:solidFill>
                  <a:srgbClr val="070A10"/>
                </a:solidFill>
                <a:latin typeface="IBM Plex Sans Bold"/>
                <a:ea typeface="IBM Plex Sans Bold"/>
                <a:cs typeface="IBM Plex Sans Bold"/>
                <a:sym typeface="IBM Plex Sans Bold"/>
              </a:rPr>
              <a:t>of skilled professionals is dedicated to providing </a:t>
            </a:r>
          </a:p>
          <a:p>
            <a:pPr algn="just">
              <a:lnSpc>
                <a:spcPts val="2990"/>
              </a:lnSpc>
            </a:pPr>
            <a:r>
              <a:rPr lang="en-US" b="true" sz="2392" spc="246">
                <a:solidFill>
                  <a:srgbClr val="070A10"/>
                </a:solidFill>
                <a:latin typeface="IBM Plex Sans Bold"/>
                <a:ea typeface="IBM Plex Sans Bold"/>
                <a:cs typeface="IBM Plex Sans Bold"/>
                <a:sym typeface="IBM Plex Sans Bold"/>
              </a:rPr>
              <a:t>exceptional service and ensuring customer satisfaction.</a:t>
            </a:r>
          </a:p>
        </p:txBody>
      </p:sp>
      <p:sp>
        <p:nvSpPr>
          <p:cNvPr name="TextBox 8" id="8"/>
          <p:cNvSpPr txBox="true"/>
          <p:nvPr/>
        </p:nvSpPr>
        <p:spPr>
          <a:xfrm rot="0">
            <a:off x="431011" y="6974400"/>
            <a:ext cx="7735038" cy="2170485"/>
          </a:xfrm>
          <a:prstGeom prst="rect">
            <a:avLst/>
          </a:prstGeom>
        </p:spPr>
        <p:txBody>
          <a:bodyPr anchor="t" rtlCol="false" tIns="0" lIns="0" bIns="0" rIns="0">
            <a:spAutoFit/>
          </a:bodyPr>
          <a:lstStyle/>
          <a:p>
            <a:pPr algn="just">
              <a:lnSpc>
                <a:spcPts val="2880"/>
              </a:lnSpc>
            </a:pPr>
            <a:r>
              <a:rPr lang="en-US" b="true" sz="2392" spc="241">
                <a:solidFill>
                  <a:srgbClr val="070A10"/>
                </a:solidFill>
                <a:latin typeface="IBM Plex Sans Bold"/>
                <a:ea typeface="IBM Plex Sans Bold"/>
                <a:cs typeface="IBM Plex Sans Bold"/>
                <a:sym typeface="IBM Plex Sans Bold"/>
              </a:rPr>
              <a:t>As we continue to expand our services in the healthcare industry, we would be honored to be considered for any upcoming projects. We believe that our experience and expertise make us a valuable partner in achieving your goals.</a:t>
            </a:r>
          </a:p>
        </p:txBody>
      </p:sp>
      <p:grpSp>
        <p:nvGrpSpPr>
          <p:cNvPr name="Group 9" id="9"/>
          <p:cNvGrpSpPr/>
          <p:nvPr/>
        </p:nvGrpSpPr>
        <p:grpSpPr>
          <a:xfrm rot="0">
            <a:off x="-474832" y="9258300"/>
            <a:ext cx="20055435" cy="1119564"/>
            <a:chOff x="0" y="0"/>
            <a:chExt cx="5282090" cy="294864"/>
          </a:xfrm>
        </p:grpSpPr>
        <p:sp>
          <p:nvSpPr>
            <p:cNvPr name="Freeform 10" id="10"/>
            <p:cNvSpPr/>
            <p:nvPr/>
          </p:nvSpPr>
          <p:spPr>
            <a:xfrm flipH="false" flipV="false" rot="0">
              <a:off x="0" y="0"/>
              <a:ext cx="5282090" cy="294864"/>
            </a:xfrm>
            <a:custGeom>
              <a:avLst/>
              <a:gdLst/>
              <a:ahLst/>
              <a:cxnLst/>
              <a:rect r="r" b="b" t="t" l="l"/>
              <a:pathLst>
                <a:path h="294864" w="5282090">
                  <a:moveTo>
                    <a:pt x="38603" y="0"/>
                  </a:moveTo>
                  <a:lnTo>
                    <a:pt x="5243487" y="0"/>
                  </a:lnTo>
                  <a:cubicBezTo>
                    <a:pt x="5253725" y="0"/>
                    <a:pt x="5263544" y="4067"/>
                    <a:pt x="5270784" y="11306"/>
                  </a:cubicBezTo>
                  <a:cubicBezTo>
                    <a:pt x="5278023" y="18546"/>
                    <a:pt x="5282090" y="28365"/>
                    <a:pt x="5282090" y="38603"/>
                  </a:cubicBezTo>
                  <a:lnTo>
                    <a:pt x="5282090" y="256262"/>
                  </a:lnTo>
                  <a:cubicBezTo>
                    <a:pt x="5282090" y="266500"/>
                    <a:pt x="5278023" y="276319"/>
                    <a:pt x="5270784" y="283558"/>
                  </a:cubicBezTo>
                  <a:cubicBezTo>
                    <a:pt x="5263544" y="290797"/>
                    <a:pt x="5253725" y="294864"/>
                    <a:pt x="5243487" y="294864"/>
                  </a:cubicBezTo>
                  <a:lnTo>
                    <a:pt x="38603" y="294864"/>
                  </a:lnTo>
                  <a:cubicBezTo>
                    <a:pt x="28365" y="294864"/>
                    <a:pt x="18546" y="290797"/>
                    <a:pt x="11306" y="283558"/>
                  </a:cubicBezTo>
                  <a:cubicBezTo>
                    <a:pt x="4067" y="276319"/>
                    <a:pt x="0" y="266500"/>
                    <a:pt x="0" y="256262"/>
                  </a:cubicBezTo>
                  <a:lnTo>
                    <a:pt x="0" y="38603"/>
                  </a:lnTo>
                  <a:cubicBezTo>
                    <a:pt x="0" y="28365"/>
                    <a:pt x="4067" y="18546"/>
                    <a:pt x="11306" y="11306"/>
                  </a:cubicBezTo>
                  <a:cubicBezTo>
                    <a:pt x="18546" y="4067"/>
                    <a:pt x="28365" y="0"/>
                    <a:pt x="38603" y="0"/>
                  </a:cubicBezTo>
                  <a:close/>
                </a:path>
              </a:pathLst>
            </a:custGeom>
            <a:gradFill rotWithShape="true">
              <a:gsLst>
                <a:gs pos="0">
                  <a:srgbClr val="1B68C9">
                    <a:alpha val="100000"/>
                  </a:srgbClr>
                </a:gs>
                <a:gs pos="50000">
                  <a:srgbClr val="6797CC">
                    <a:alpha val="100000"/>
                  </a:srgbClr>
                </a:gs>
                <a:gs pos="100000">
                  <a:srgbClr val="FFFFFF">
                    <a:alpha val="100000"/>
                  </a:srgbClr>
                </a:gs>
              </a:gsLst>
              <a:lin ang="2700000"/>
            </a:gradFill>
          </p:spPr>
        </p:sp>
        <p:sp>
          <p:nvSpPr>
            <p:cNvPr name="TextBox 11" id="11"/>
            <p:cNvSpPr txBox="true"/>
            <p:nvPr/>
          </p:nvSpPr>
          <p:spPr>
            <a:xfrm>
              <a:off x="0" y="-38100"/>
              <a:ext cx="5282090" cy="332964"/>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028700" y="9532112"/>
            <a:ext cx="5506238" cy="452501"/>
          </a:xfrm>
          <a:prstGeom prst="rect">
            <a:avLst/>
          </a:prstGeom>
        </p:spPr>
        <p:txBody>
          <a:bodyPr anchor="t" rtlCol="false" tIns="0" lIns="0" bIns="0" rIns="0">
            <a:spAutoFit/>
          </a:bodyPr>
          <a:lstStyle/>
          <a:p>
            <a:pPr algn="l">
              <a:lnSpc>
                <a:spcPts val="3471"/>
              </a:lnSpc>
            </a:pPr>
            <a:r>
              <a:rPr lang="en-US" sz="2799" b="true">
                <a:solidFill>
                  <a:srgbClr val="FFFFFF"/>
                </a:solidFill>
                <a:latin typeface="Roboto Bold"/>
                <a:ea typeface="Roboto Bold"/>
                <a:cs typeface="Roboto Bold"/>
                <a:sym typeface="Roboto Bold"/>
              </a:rPr>
              <a:t>www.cresentcare.in</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3825" y="16759"/>
            <a:ext cx="3550915" cy="814573"/>
          </a:xfrm>
          <a:custGeom>
            <a:avLst/>
            <a:gdLst/>
            <a:ahLst/>
            <a:cxnLst/>
            <a:rect r="r" b="b" t="t" l="l"/>
            <a:pathLst>
              <a:path h="814573" w="3550915">
                <a:moveTo>
                  <a:pt x="0" y="0"/>
                </a:moveTo>
                <a:lnTo>
                  <a:pt x="3550915" y="0"/>
                </a:lnTo>
                <a:lnTo>
                  <a:pt x="3550915" y="814573"/>
                </a:lnTo>
                <a:lnTo>
                  <a:pt x="0" y="8145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83767" y="831332"/>
            <a:ext cx="8575042" cy="8177848"/>
          </a:xfrm>
          <a:prstGeom prst="rect">
            <a:avLst/>
          </a:prstGeom>
        </p:spPr>
        <p:txBody>
          <a:bodyPr anchor="t" rtlCol="false" tIns="0" lIns="0" bIns="0" rIns="0">
            <a:spAutoFit/>
          </a:bodyPr>
          <a:lstStyle/>
          <a:p>
            <a:pPr algn="l">
              <a:lnSpc>
                <a:spcPts val="2460"/>
              </a:lnSpc>
            </a:pPr>
            <a:r>
              <a:rPr lang="en-US" sz="2050" spc="198">
                <a:solidFill>
                  <a:srgbClr val="070A10"/>
                </a:solidFill>
                <a:latin typeface="Helvetica World"/>
                <a:ea typeface="Helvetica World"/>
                <a:cs typeface="Helvetica World"/>
                <a:sym typeface="Helvetica World"/>
              </a:rPr>
              <a:t>We are a construction firm specializing in healthcare construction, committed to delivering high-quality projects to our clients.</a:t>
            </a:r>
          </a:p>
          <a:p>
            <a:pPr algn="l">
              <a:lnSpc>
                <a:spcPts val="5125"/>
              </a:lnSpc>
            </a:pPr>
            <a:r>
              <a:rPr lang="en-US" sz="2050" spc="14">
                <a:solidFill>
                  <a:srgbClr val="070A10"/>
                </a:solidFill>
                <a:latin typeface="Helvetica World"/>
                <a:ea typeface="Helvetica World"/>
                <a:cs typeface="Helvetica World"/>
                <a:sym typeface="Helvetica World"/>
              </a:rPr>
              <a:t>One of our proudest achievements is our constantly increasing </a:t>
            </a:r>
          </a:p>
          <a:p>
            <a:pPr algn="l">
              <a:lnSpc>
                <a:spcPts val="1025"/>
              </a:lnSpc>
            </a:pPr>
            <a:r>
              <a:rPr lang="en-US" sz="2050" spc="49">
                <a:solidFill>
                  <a:srgbClr val="070A10"/>
                </a:solidFill>
                <a:latin typeface="Helvetica World"/>
                <a:ea typeface="Helvetica World"/>
                <a:cs typeface="Helvetica World"/>
                <a:sym typeface="Helvetica World"/>
              </a:rPr>
              <a:t>turnover year by year. In the year of 2019-2020, our turnover </a:t>
            </a:r>
          </a:p>
          <a:p>
            <a:pPr algn="l">
              <a:lnSpc>
                <a:spcPts val="3936"/>
              </a:lnSpc>
            </a:pPr>
            <a:r>
              <a:rPr lang="en-US" sz="2050" spc="47">
                <a:solidFill>
                  <a:srgbClr val="070A10"/>
                </a:solidFill>
                <a:latin typeface="Helvetica World"/>
                <a:ea typeface="Helvetica World"/>
                <a:cs typeface="Helvetica World"/>
                <a:sym typeface="Helvetica World"/>
              </a:rPr>
              <a:t>was </a:t>
            </a:r>
            <a:r>
              <a:rPr lang="en-US" b="true" sz="2050" spc="47">
                <a:solidFill>
                  <a:srgbClr val="070A10"/>
                </a:solidFill>
                <a:latin typeface="Helvetica World Bold"/>
                <a:ea typeface="Helvetica World Bold"/>
                <a:cs typeface="Helvetica World Bold"/>
                <a:sym typeface="Helvetica World Bold"/>
              </a:rPr>
              <a:t>9.65</a:t>
            </a:r>
            <a:r>
              <a:rPr lang="en-US" sz="2050" spc="47">
                <a:solidFill>
                  <a:srgbClr val="070A10"/>
                </a:solidFill>
                <a:latin typeface="Helvetica World"/>
                <a:ea typeface="Helvetica World"/>
                <a:cs typeface="Helvetica World"/>
                <a:sym typeface="Helvetica World"/>
              </a:rPr>
              <a:t> crore, which increased to</a:t>
            </a:r>
            <a:r>
              <a:rPr lang="en-US" b="true" sz="2050" spc="47">
                <a:solidFill>
                  <a:srgbClr val="070A10"/>
                </a:solidFill>
                <a:latin typeface="Helvetica World Bold"/>
                <a:ea typeface="Helvetica World Bold"/>
                <a:cs typeface="Helvetica World Bold"/>
                <a:sym typeface="Helvetica World Bold"/>
              </a:rPr>
              <a:t> 12.66</a:t>
            </a:r>
            <a:r>
              <a:rPr lang="en-US" sz="2050" spc="47">
                <a:solidFill>
                  <a:srgbClr val="070A10"/>
                </a:solidFill>
                <a:latin typeface="Helvetica World"/>
                <a:ea typeface="Helvetica World"/>
                <a:cs typeface="Helvetica World"/>
                <a:sym typeface="Helvetica World"/>
              </a:rPr>
              <a:t> crore in the year of </a:t>
            </a:r>
          </a:p>
          <a:p>
            <a:pPr algn="l">
              <a:lnSpc>
                <a:spcPts val="1025"/>
              </a:lnSpc>
            </a:pPr>
            <a:r>
              <a:rPr lang="en-US" sz="2050" spc="14">
                <a:solidFill>
                  <a:srgbClr val="070A10"/>
                </a:solidFill>
                <a:latin typeface="Helvetica World"/>
                <a:ea typeface="Helvetica World"/>
                <a:cs typeface="Helvetica World"/>
                <a:sym typeface="Helvetica World"/>
              </a:rPr>
              <a:t>2020-2021. We are thrilled to report this growth and attribute it </a:t>
            </a:r>
          </a:p>
          <a:p>
            <a:pPr algn="l">
              <a:lnSpc>
                <a:spcPts val="3895"/>
              </a:lnSpc>
            </a:pPr>
            <a:r>
              <a:rPr lang="en-US" sz="2050" spc="120">
                <a:solidFill>
                  <a:srgbClr val="070A10"/>
                </a:solidFill>
                <a:latin typeface="Helvetica World"/>
                <a:ea typeface="Helvetica World"/>
                <a:cs typeface="Helvetica World"/>
                <a:sym typeface="Helvetica World"/>
              </a:rPr>
              <a:t>to our team's dedication, hard work, and commitment to </a:t>
            </a:r>
          </a:p>
          <a:p>
            <a:pPr algn="l">
              <a:lnSpc>
                <a:spcPts val="1025"/>
              </a:lnSpc>
            </a:pPr>
            <a:r>
              <a:rPr lang="en-US" sz="2050">
                <a:solidFill>
                  <a:srgbClr val="070A10"/>
                </a:solidFill>
                <a:latin typeface="Helvetica World"/>
                <a:ea typeface="Helvetica World"/>
                <a:cs typeface="Helvetica World"/>
                <a:sym typeface="Helvetica World"/>
              </a:rPr>
              <a:t>excellence.</a:t>
            </a:r>
          </a:p>
          <a:p>
            <a:pPr algn="l">
              <a:lnSpc>
                <a:spcPts val="5125"/>
              </a:lnSpc>
            </a:pPr>
            <a:r>
              <a:rPr lang="en-US" sz="2050" spc="12">
                <a:solidFill>
                  <a:srgbClr val="070A10"/>
                </a:solidFill>
                <a:latin typeface="Helvetica World"/>
                <a:ea typeface="Helvetica World"/>
                <a:cs typeface="Helvetica World"/>
                <a:sym typeface="Helvetica World"/>
              </a:rPr>
              <a:t>At Crescent Care, we pride ourselves on delivering exceptional </a:t>
            </a:r>
          </a:p>
          <a:p>
            <a:pPr algn="l">
              <a:lnSpc>
                <a:spcPts val="1025"/>
              </a:lnSpc>
            </a:pPr>
            <a:r>
              <a:rPr lang="en-US" sz="2050">
                <a:solidFill>
                  <a:srgbClr val="070A10"/>
                </a:solidFill>
                <a:latin typeface="Helvetica World"/>
                <a:ea typeface="Helvetica World"/>
                <a:cs typeface="Helvetica World"/>
                <a:sym typeface="Helvetica World"/>
              </a:rPr>
              <a:t>results for our clients. Our team consists of highly skil led </a:t>
            </a:r>
          </a:p>
          <a:p>
            <a:pPr algn="l">
              <a:lnSpc>
                <a:spcPts val="4114"/>
              </a:lnSpc>
            </a:pPr>
            <a:r>
              <a:rPr lang="en-US" sz="2050">
                <a:solidFill>
                  <a:srgbClr val="070A10"/>
                </a:solidFill>
                <a:latin typeface="Helvetica World"/>
                <a:ea typeface="Helvetica World"/>
                <a:cs typeface="Helvetica World"/>
                <a:sym typeface="Helvetica World"/>
              </a:rPr>
              <a:t>professionals who are committed to providing innovat ive </a:t>
            </a:r>
          </a:p>
          <a:p>
            <a:pPr algn="l">
              <a:lnSpc>
                <a:spcPts val="1025"/>
              </a:lnSpc>
            </a:pPr>
            <a:r>
              <a:rPr lang="en-US" sz="2050" spc="108">
                <a:solidFill>
                  <a:srgbClr val="070A10"/>
                </a:solidFill>
                <a:latin typeface="Helvetica World"/>
                <a:ea typeface="Helvetica World"/>
                <a:cs typeface="Helvetica World"/>
                <a:sym typeface="Helvetica World"/>
              </a:rPr>
              <a:t>solutions and top-notch service to ensure every project's </a:t>
            </a:r>
          </a:p>
          <a:p>
            <a:pPr algn="l">
              <a:lnSpc>
                <a:spcPts val="3895"/>
              </a:lnSpc>
            </a:pPr>
            <a:r>
              <a:rPr lang="en-US" sz="2050" spc="63">
                <a:solidFill>
                  <a:srgbClr val="070A10"/>
                </a:solidFill>
                <a:latin typeface="Helvetica World"/>
                <a:ea typeface="Helvetica World"/>
                <a:cs typeface="Helvetica World"/>
                <a:sym typeface="Helvetica World"/>
              </a:rPr>
              <a:t>success. We work closely with our clients to ensure that we </a:t>
            </a:r>
          </a:p>
          <a:p>
            <a:pPr algn="l">
              <a:lnSpc>
                <a:spcPts val="1025"/>
              </a:lnSpc>
            </a:pPr>
            <a:r>
              <a:rPr lang="en-US" sz="2050">
                <a:solidFill>
                  <a:srgbClr val="070A10"/>
                </a:solidFill>
                <a:latin typeface="Helvetica World"/>
                <a:ea typeface="Helvetica World"/>
                <a:cs typeface="Helvetica World"/>
                <a:sym typeface="Helvetica World"/>
              </a:rPr>
              <a:t>understand their unique needs and requirements, and we strive </a:t>
            </a:r>
          </a:p>
          <a:p>
            <a:pPr algn="l">
              <a:lnSpc>
                <a:spcPts val="3895"/>
              </a:lnSpc>
            </a:pPr>
            <a:r>
              <a:rPr lang="en-US" sz="2050">
                <a:solidFill>
                  <a:srgbClr val="070A10"/>
                </a:solidFill>
                <a:latin typeface="Helvetica World"/>
                <a:ea typeface="Helvetica World"/>
                <a:cs typeface="Helvetica World"/>
                <a:sym typeface="Helvetica World"/>
              </a:rPr>
              <a:t>to exceed their expectations at every step of the way.</a:t>
            </a:r>
          </a:p>
          <a:p>
            <a:pPr algn="l">
              <a:lnSpc>
                <a:spcPts val="5125"/>
              </a:lnSpc>
            </a:pPr>
            <a:r>
              <a:rPr lang="en-US" sz="2050" spc="26">
                <a:solidFill>
                  <a:srgbClr val="070A10"/>
                </a:solidFill>
                <a:latin typeface="Helvetica World"/>
                <a:ea typeface="Helvetica World"/>
                <a:cs typeface="Helvetica World"/>
                <a:sym typeface="Helvetica World"/>
              </a:rPr>
              <a:t>As a construction specialist, we understand the importance of </a:t>
            </a:r>
          </a:p>
          <a:p>
            <a:pPr algn="l">
              <a:lnSpc>
                <a:spcPts val="1025"/>
              </a:lnSpc>
            </a:pPr>
            <a:r>
              <a:rPr lang="en-US" sz="2050" spc="55">
                <a:solidFill>
                  <a:srgbClr val="070A10"/>
                </a:solidFill>
                <a:latin typeface="Helvetica World"/>
                <a:ea typeface="Helvetica World"/>
                <a:cs typeface="Helvetica World"/>
                <a:sym typeface="Helvetica World"/>
              </a:rPr>
              <a:t>creating safe and secure environments that promote healing </a:t>
            </a:r>
          </a:p>
          <a:p>
            <a:pPr algn="l">
              <a:lnSpc>
                <a:spcPts val="3895"/>
              </a:lnSpc>
            </a:pPr>
            <a:r>
              <a:rPr lang="en-US" sz="2050" spc="22">
                <a:solidFill>
                  <a:srgbClr val="070A10"/>
                </a:solidFill>
                <a:latin typeface="Helvetica World"/>
                <a:ea typeface="Helvetica World"/>
                <a:cs typeface="Helvetica World"/>
                <a:sym typeface="Helvetica World"/>
              </a:rPr>
              <a:t>and well-being. We have extensive experience in this field and </a:t>
            </a:r>
          </a:p>
          <a:p>
            <a:pPr algn="l">
              <a:lnSpc>
                <a:spcPts val="1025"/>
              </a:lnSpc>
            </a:pPr>
            <a:r>
              <a:rPr lang="en-US" sz="2050">
                <a:solidFill>
                  <a:srgbClr val="070A10"/>
                </a:solidFill>
                <a:latin typeface="Helvetica World"/>
                <a:ea typeface="Helvetica World"/>
                <a:cs typeface="Helvetica World"/>
                <a:sym typeface="Helvetica World"/>
              </a:rPr>
              <a:t>have worked on numerous projects, including hospitals, clinics, </a:t>
            </a:r>
          </a:p>
          <a:p>
            <a:pPr algn="l">
              <a:lnSpc>
                <a:spcPts val="3895"/>
              </a:lnSpc>
            </a:pPr>
            <a:r>
              <a:rPr lang="en-US" sz="2050">
                <a:solidFill>
                  <a:srgbClr val="070A10"/>
                </a:solidFill>
                <a:latin typeface="Helvetica World"/>
                <a:ea typeface="Helvetica World"/>
                <a:cs typeface="Helvetica World"/>
                <a:sym typeface="Helvetica World"/>
              </a:rPr>
              <a:t>and other healthcare facilities.</a:t>
            </a:r>
          </a:p>
          <a:p>
            <a:pPr algn="l">
              <a:lnSpc>
                <a:spcPts val="5125"/>
              </a:lnSpc>
            </a:pPr>
            <a:r>
              <a:rPr lang="en-US" sz="2050" spc="24">
                <a:solidFill>
                  <a:srgbClr val="070A10"/>
                </a:solidFill>
                <a:latin typeface="Helvetica World"/>
                <a:ea typeface="Helvetica World"/>
                <a:cs typeface="Helvetica World"/>
                <a:sym typeface="Helvetica World"/>
              </a:rPr>
              <a:t>In summary, at Crescent Care, we are committed to delivering </a:t>
            </a:r>
          </a:p>
          <a:p>
            <a:pPr algn="l">
              <a:lnSpc>
                <a:spcPts val="1025"/>
              </a:lnSpc>
            </a:pPr>
            <a:r>
              <a:rPr lang="en-US" sz="2050" spc="30">
                <a:solidFill>
                  <a:srgbClr val="070A10"/>
                </a:solidFill>
                <a:latin typeface="Helvetica World"/>
                <a:ea typeface="Helvetica World"/>
                <a:cs typeface="Helvetica World"/>
                <a:sym typeface="Helvetica World"/>
              </a:rPr>
              <a:t>high-quality projects and achieving exceptional results for our </a:t>
            </a:r>
          </a:p>
        </p:txBody>
      </p:sp>
      <p:sp>
        <p:nvSpPr>
          <p:cNvPr name="TextBox 4" id="4"/>
          <p:cNvSpPr txBox="true"/>
          <p:nvPr/>
        </p:nvSpPr>
        <p:spPr>
          <a:xfrm rot="0">
            <a:off x="473874" y="106518"/>
            <a:ext cx="2459950" cy="574267"/>
          </a:xfrm>
          <a:prstGeom prst="rect">
            <a:avLst/>
          </a:prstGeom>
        </p:spPr>
        <p:txBody>
          <a:bodyPr anchor="t" rtlCol="false" tIns="0" lIns="0" bIns="0" rIns="0">
            <a:spAutoFit/>
          </a:bodyPr>
          <a:lstStyle/>
          <a:p>
            <a:pPr algn="l">
              <a:lnSpc>
                <a:spcPts val="4210"/>
              </a:lnSpc>
            </a:pPr>
            <a:r>
              <a:rPr lang="en-US" b="true" sz="3007">
                <a:solidFill>
                  <a:srgbClr val="FFFFFF"/>
                </a:solidFill>
                <a:latin typeface="Arial MT Pro Bold"/>
                <a:ea typeface="Arial MT Pro Bold"/>
                <a:cs typeface="Arial MT Pro Bold"/>
                <a:sym typeface="Arial MT Pro Bold"/>
              </a:rPr>
              <a:t>Our Turnover</a:t>
            </a:r>
          </a:p>
        </p:txBody>
      </p:sp>
      <p:grpSp>
        <p:nvGrpSpPr>
          <p:cNvPr name="Group 5" id="5"/>
          <p:cNvGrpSpPr/>
          <p:nvPr/>
        </p:nvGrpSpPr>
        <p:grpSpPr>
          <a:xfrm rot="0">
            <a:off x="-474832" y="9258300"/>
            <a:ext cx="20055435" cy="1119564"/>
            <a:chOff x="0" y="0"/>
            <a:chExt cx="5282090" cy="294864"/>
          </a:xfrm>
        </p:grpSpPr>
        <p:sp>
          <p:nvSpPr>
            <p:cNvPr name="Freeform 6" id="6"/>
            <p:cNvSpPr/>
            <p:nvPr/>
          </p:nvSpPr>
          <p:spPr>
            <a:xfrm flipH="false" flipV="false" rot="0">
              <a:off x="0" y="0"/>
              <a:ext cx="5282090" cy="294864"/>
            </a:xfrm>
            <a:custGeom>
              <a:avLst/>
              <a:gdLst/>
              <a:ahLst/>
              <a:cxnLst/>
              <a:rect r="r" b="b" t="t" l="l"/>
              <a:pathLst>
                <a:path h="294864" w="5282090">
                  <a:moveTo>
                    <a:pt x="38603" y="0"/>
                  </a:moveTo>
                  <a:lnTo>
                    <a:pt x="5243487" y="0"/>
                  </a:lnTo>
                  <a:cubicBezTo>
                    <a:pt x="5253725" y="0"/>
                    <a:pt x="5263544" y="4067"/>
                    <a:pt x="5270784" y="11306"/>
                  </a:cubicBezTo>
                  <a:cubicBezTo>
                    <a:pt x="5278023" y="18546"/>
                    <a:pt x="5282090" y="28365"/>
                    <a:pt x="5282090" y="38603"/>
                  </a:cubicBezTo>
                  <a:lnTo>
                    <a:pt x="5282090" y="256262"/>
                  </a:lnTo>
                  <a:cubicBezTo>
                    <a:pt x="5282090" y="266500"/>
                    <a:pt x="5278023" y="276319"/>
                    <a:pt x="5270784" y="283558"/>
                  </a:cubicBezTo>
                  <a:cubicBezTo>
                    <a:pt x="5263544" y="290797"/>
                    <a:pt x="5253725" y="294864"/>
                    <a:pt x="5243487" y="294864"/>
                  </a:cubicBezTo>
                  <a:lnTo>
                    <a:pt x="38603" y="294864"/>
                  </a:lnTo>
                  <a:cubicBezTo>
                    <a:pt x="28365" y="294864"/>
                    <a:pt x="18546" y="290797"/>
                    <a:pt x="11306" y="283558"/>
                  </a:cubicBezTo>
                  <a:cubicBezTo>
                    <a:pt x="4067" y="276319"/>
                    <a:pt x="0" y="266500"/>
                    <a:pt x="0" y="256262"/>
                  </a:cubicBezTo>
                  <a:lnTo>
                    <a:pt x="0" y="38603"/>
                  </a:lnTo>
                  <a:cubicBezTo>
                    <a:pt x="0" y="28365"/>
                    <a:pt x="4067" y="18546"/>
                    <a:pt x="11306" y="11306"/>
                  </a:cubicBezTo>
                  <a:cubicBezTo>
                    <a:pt x="18546" y="4067"/>
                    <a:pt x="28365" y="0"/>
                    <a:pt x="38603" y="0"/>
                  </a:cubicBezTo>
                  <a:close/>
                </a:path>
              </a:pathLst>
            </a:custGeom>
            <a:gradFill rotWithShape="true">
              <a:gsLst>
                <a:gs pos="0">
                  <a:srgbClr val="1B68C9">
                    <a:alpha val="100000"/>
                  </a:srgbClr>
                </a:gs>
                <a:gs pos="50000">
                  <a:srgbClr val="6797CC">
                    <a:alpha val="100000"/>
                  </a:srgbClr>
                </a:gs>
                <a:gs pos="100000">
                  <a:srgbClr val="FFFFFF">
                    <a:alpha val="100000"/>
                  </a:srgbClr>
                </a:gs>
              </a:gsLst>
              <a:lin ang="2700000"/>
            </a:gradFill>
          </p:spPr>
        </p:sp>
        <p:sp>
          <p:nvSpPr>
            <p:cNvPr name="TextBox 7" id="7"/>
            <p:cNvSpPr txBox="true"/>
            <p:nvPr/>
          </p:nvSpPr>
          <p:spPr>
            <a:xfrm>
              <a:off x="0" y="-38100"/>
              <a:ext cx="5282090" cy="332964"/>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1028700" y="9532112"/>
            <a:ext cx="5506238" cy="452501"/>
          </a:xfrm>
          <a:prstGeom prst="rect">
            <a:avLst/>
          </a:prstGeom>
        </p:spPr>
        <p:txBody>
          <a:bodyPr anchor="t" rtlCol="false" tIns="0" lIns="0" bIns="0" rIns="0">
            <a:spAutoFit/>
          </a:bodyPr>
          <a:lstStyle/>
          <a:p>
            <a:pPr algn="l">
              <a:lnSpc>
                <a:spcPts val="3471"/>
              </a:lnSpc>
            </a:pPr>
            <a:r>
              <a:rPr lang="en-US" sz="2799" b="true">
                <a:solidFill>
                  <a:srgbClr val="FFFFFF"/>
                </a:solidFill>
                <a:latin typeface="Roboto Bold"/>
                <a:ea typeface="Roboto Bold"/>
                <a:cs typeface="Roboto Bold"/>
                <a:sym typeface="Roboto Bold"/>
              </a:rPr>
              <a:t>www.cresentcare.in</a:t>
            </a:r>
          </a:p>
        </p:txBody>
      </p:sp>
      <p:sp>
        <p:nvSpPr>
          <p:cNvPr name="Freeform 9" id="9"/>
          <p:cNvSpPr/>
          <p:nvPr/>
        </p:nvSpPr>
        <p:spPr>
          <a:xfrm flipH="false" flipV="false" rot="0">
            <a:off x="13890523" y="3571512"/>
            <a:ext cx="1544813" cy="130424"/>
          </a:xfrm>
          <a:custGeom>
            <a:avLst/>
            <a:gdLst/>
            <a:ahLst/>
            <a:cxnLst/>
            <a:rect r="r" b="b" t="t" l="l"/>
            <a:pathLst>
              <a:path h="130424" w="1544813">
                <a:moveTo>
                  <a:pt x="0" y="0"/>
                </a:moveTo>
                <a:lnTo>
                  <a:pt x="1544812" y="0"/>
                </a:lnTo>
                <a:lnTo>
                  <a:pt x="1544812" y="130424"/>
                </a:lnTo>
                <a:lnTo>
                  <a:pt x="0" y="130424"/>
                </a:lnTo>
                <a:lnTo>
                  <a:pt x="0" y="0"/>
                </a:lnTo>
                <a:close/>
              </a:path>
            </a:pathLst>
          </a:custGeom>
          <a:blipFill>
            <a:blip r:embed="rId4"/>
            <a:stretch>
              <a:fillRect l="-15456" t="-4474194" r="-230887" b="-1017588"/>
            </a:stretch>
          </a:blipFill>
        </p:spPr>
      </p:sp>
      <p:sp>
        <p:nvSpPr>
          <p:cNvPr name="Freeform 10" id="10"/>
          <p:cNvSpPr/>
          <p:nvPr/>
        </p:nvSpPr>
        <p:spPr>
          <a:xfrm flipH="false" flipV="false" rot="0">
            <a:off x="10307408" y="230343"/>
            <a:ext cx="6623163" cy="9027957"/>
          </a:xfrm>
          <a:custGeom>
            <a:avLst/>
            <a:gdLst/>
            <a:ahLst/>
            <a:cxnLst/>
            <a:rect r="r" b="b" t="t" l="l"/>
            <a:pathLst>
              <a:path h="9027957" w="6623163">
                <a:moveTo>
                  <a:pt x="0" y="0"/>
                </a:moveTo>
                <a:lnTo>
                  <a:pt x="6623163" y="0"/>
                </a:lnTo>
                <a:lnTo>
                  <a:pt x="6623163" y="9027957"/>
                </a:lnTo>
                <a:lnTo>
                  <a:pt x="0" y="9027957"/>
                </a:lnTo>
                <a:lnTo>
                  <a:pt x="0" y="0"/>
                </a:lnTo>
                <a:close/>
              </a:path>
            </a:pathLst>
          </a:custGeom>
          <a:blipFill>
            <a:blip r:embed="rId4"/>
            <a:stretch>
              <a:fillRect l="0" t="0" r="0" b="0"/>
            </a:stretch>
          </a:blipFill>
        </p:spPr>
      </p:sp>
      <p:sp>
        <p:nvSpPr>
          <p:cNvPr name="Freeform 11" id="11"/>
          <p:cNvSpPr/>
          <p:nvPr/>
        </p:nvSpPr>
        <p:spPr>
          <a:xfrm flipH="false" flipV="false" rot="0">
            <a:off x="13257239" y="3658035"/>
            <a:ext cx="1481967" cy="127225"/>
          </a:xfrm>
          <a:custGeom>
            <a:avLst/>
            <a:gdLst/>
            <a:ahLst/>
            <a:cxnLst/>
            <a:rect r="r" b="b" t="t" l="l"/>
            <a:pathLst>
              <a:path h="127225" w="1481967">
                <a:moveTo>
                  <a:pt x="0" y="0"/>
                </a:moveTo>
                <a:lnTo>
                  <a:pt x="1481967" y="0"/>
                </a:lnTo>
                <a:lnTo>
                  <a:pt x="1481967" y="127224"/>
                </a:lnTo>
                <a:lnTo>
                  <a:pt x="0" y="127224"/>
                </a:lnTo>
                <a:lnTo>
                  <a:pt x="0" y="0"/>
                </a:lnTo>
                <a:close/>
              </a:path>
            </a:pathLst>
          </a:custGeom>
          <a:blipFill>
            <a:blip r:embed="rId4"/>
            <a:stretch>
              <a:fillRect l="-15716" t="-4474194" r="-236459" b="-1017588"/>
            </a:stretch>
          </a:blipFill>
        </p:spPr>
      </p:sp>
      <p:sp>
        <p:nvSpPr>
          <p:cNvPr name="TextBox 12" id="12"/>
          <p:cNvSpPr txBox="true"/>
          <p:nvPr/>
        </p:nvSpPr>
        <p:spPr>
          <a:xfrm rot="0">
            <a:off x="13257239" y="3607952"/>
            <a:ext cx="1286171" cy="199998"/>
          </a:xfrm>
          <a:prstGeom prst="rect">
            <a:avLst/>
          </a:prstGeom>
        </p:spPr>
        <p:txBody>
          <a:bodyPr anchor="t" rtlCol="false" tIns="0" lIns="0" bIns="0" rIns="0">
            <a:spAutoFit/>
          </a:bodyPr>
          <a:lstStyle/>
          <a:p>
            <a:pPr algn="l">
              <a:lnSpc>
                <a:spcPts val="1595"/>
              </a:lnSpc>
            </a:pPr>
            <a:r>
              <a:rPr lang="en-US" sz="1139" spc="6">
                <a:solidFill>
                  <a:srgbClr val="000000"/>
                </a:solidFill>
                <a:latin typeface="Times New Roman"/>
                <a:ea typeface="Times New Roman"/>
                <a:cs typeface="Times New Roman"/>
                <a:sym typeface="Times New Roman"/>
              </a:rPr>
              <a:t>Rs.7,84,83,458</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grpSp>
        <p:nvGrpSpPr>
          <p:cNvPr name="Group 3" id="3"/>
          <p:cNvGrpSpPr/>
          <p:nvPr/>
        </p:nvGrpSpPr>
        <p:grpSpPr>
          <a:xfrm rot="0">
            <a:off x="16561212" y="0"/>
            <a:ext cx="3453575" cy="3453575"/>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B68C9">
                    <a:alpha val="100000"/>
                  </a:srgbClr>
                </a:gs>
                <a:gs pos="50000">
                  <a:srgbClr val="6797CC">
                    <a:alpha val="100000"/>
                  </a:srgbClr>
                </a:gs>
                <a:gs pos="100000">
                  <a:srgbClr val="FFFFFF">
                    <a:alpha val="100000"/>
                  </a:srgbClr>
                </a:gs>
              </a:gsLst>
              <a:lin ang="2700000"/>
            </a:gra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5372514" y="450594"/>
            <a:ext cx="1086931" cy="108693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B68C9">
                    <a:alpha val="100000"/>
                  </a:srgbClr>
                </a:gs>
                <a:gs pos="50000">
                  <a:srgbClr val="6797CC">
                    <a:alpha val="100000"/>
                  </a:srgbClr>
                </a:gs>
                <a:gs pos="100000">
                  <a:srgbClr val="FFFFFF">
                    <a:alpha val="100000"/>
                  </a:srgbClr>
                </a:gs>
              </a:gsLst>
              <a:lin ang="2700000"/>
            </a:gra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17515759" y="3725239"/>
            <a:ext cx="976487" cy="976487"/>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B68C9">
                    <a:alpha val="100000"/>
                  </a:srgbClr>
                </a:gs>
                <a:gs pos="50000">
                  <a:srgbClr val="6797CC">
                    <a:alpha val="100000"/>
                  </a:srgbClr>
                </a:gs>
                <a:gs pos="100000">
                  <a:srgbClr val="FFFFFF">
                    <a:alpha val="100000"/>
                  </a:srgbClr>
                </a:gs>
              </a:gsLst>
              <a:lin ang="2700000"/>
            </a:gra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474832" y="9258300"/>
            <a:ext cx="19237663" cy="1028700"/>
            <a:chOff x="0" y="0"/>
            <a:chExt cx="5066710" cy="270933"/>
          </a:xfrm>
        </p:grpSpPr>
        <p:sp>
          <p:nvSpPr>
            <p:cNvPr name="Freeform 13" id="13"/>
            <p:cNvSpPr/>
            <p:nvPr/>
          </p:nvSpPr>
          <p:spPr>
            <a:xfrm flipH="false" flipV="false" rot="0">
              <a:off x="0" y="0"/>
              <a:ext cx="5066710" cy="270933"/>
            </a:xfrm>
            <a:custGeom>
              <a:avLst/>
              <a:gdLst/>
              <a:ahLst/>
              <a:cxnLst/>
              <a:rect r="r" b="b" t="t" l="l"/>
              <a:pathLst>
                <a:path h="270933" w="5066710">
                  <a:moveTo>
                    <a:pt x="0" y="0"/>
                  </a:moveTo>
                  <a:lnTo>
                    <a:pt x="5066710" y="0"/>
                  </a:lnTo>
                  <a:lnTo>
                    <a:pt x="5066710" y="270933"/>
                  </a:lnTo>
                  <a:lnTo>
                    <a:pt x="0" y="270933"/>
                  </a:lnTo>
                  <a:close/>
                </a:path>
              </a:pathLst>
            </a:custGeom>
            <a:gradFill rotWithShape="true">
              <a:gsLst>
                <a:gs pos="0">
                  <a:srgbClr val="1B68C9">
                    <a:alpha val="100000"/>
                  </a:srgbClr>
                </a:gs>
                <a:gs pos="50000">
                  <a:srgbClr val="6797CC">
                    <a:alpha val="100000"/>
                  </a:srgbClr>
                </a:gs>
                <a:gs pos="100000">
                  <a:srgbClr val="FFFFFF">
                    <a:alpha val="100000"/>
                  </a:srgbClr>
                </a:gs>
              </a:gsLst>
              <a:lin ang="2700000"/>
            </a:gradFill>
          </p:spPr>
        </p:sp>
        <p:sp>
          <p:nvSpPr>
            <p:cNvPr name="TextBox 14" id="14"/>
            <p:cNvSpPr txBox="true"/>
            <p:nvPr/>
          </p:nvSpPr>
          <p:spPr>
            <a:xfrm>
              <a:off x="0" y="-38100"/>
              <a:ext cx="5066710" cy="309033"/>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5372514" y="7449554"/>
            <a:ext cx="3887460" cy="3887460"/>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B68C9">
                    <a:alpha val="100000"/>
                  </a:srgbClr>
                </a:gs>
                <a:gs pos="50000">
                  <a:srgbClr val="6797CC">
                    <a:alpha val="100000"/>
                  </a:srgbClr>
                </a:gs>
                <a:gs pos="100000">
                  <a:srgbClr val="FFFFFF">
                    <a:alpha val="100000"/>
                  </a:srgbClr>
                </a:gs>
              </a:gsLst>
              <a:lin ang="2700000"/>
            </a:gra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8" id="18"/>
          <p:cNvGrpSpPr/>
          <p:nvPr/>
        </p:nvGrpSpPr>
        <p:grpSpPr>
          <a:xfrm rot="0">
            <a:off x="13982798" y="9121983"/>
            <a:ext cx="976487" cy="976487"/>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B68C9">
                    <a:alpha val="100000"/>
                  </a:srgbClr>
                </a:gs>
                <a:gs pos="50000">
                  <a:srgbClr val="6797CC">
                    <a:alpha val="100000"/>
                  </a:srgbClr>
                </a:gs>
                <a:gs pos="100000">
                  <a:srgbClr val="FFFFFF">
                    <a:alpha val="100000"/>
                  </a:srgbClr>
                </a:gs>
              </a:gsLst>
              <a:lin ang="2700000"/>
            </a:gradFill>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21" id="21"/>
          <p:cNvGrpSpPr/>
          <p:nvPr/>
        </p:nvGrpSpPr>
        <p:grpSpPr>
          <a:xfrm rot="0">
            <a:off x="1028700" y="6132730"/>
            <a:ext cx="8903315" cy="751011"/>
            <a:chOff x="0" y="0"/>
            <a:chExt cx="2344906" cy="197797"/>
          </a:xfrm>
        </p:grpSpPr>
        <p:sp>
          <p:nvSpPr>
            <p:cNvPr name="Freeform 22" id="22"/>
            <p:cNvSpPr/>
            <p:nvPr/>
          </p:nvSpPr>
          <p:spPr>
            <a:xfrm flipH="false" flipV="false" rot="0">
              <a:off x="0" y="0"/>
              <a:ext cx="2344906" cy="197797"/>
            </a:xfrm>
            <a:custGeom>
              <a:avLst/>
              <a:gdLst/>
              <a:ahLst/>
              <a:cxnLst/>
              <a:rect r="r" b="b" t="t" l="l"/>
              <a:pathLst>
                <a:path h="197797" w="2344906">
                  <a:moveTo>
                    <a:pt x="86955" y="0"/>
                  </a:moveTo>
                  <a:lnTo>
                    <a:pt x="2257950" y="0"/>
                  </a:lnTo>
                  <a:cubicBezTo>
                    <a:pt x="2305975" y="0"/>
                    <a:pt x="2344906" y="38931"/>
                    <a:pt x="2344906" y="86955"/>
                  </a:cubicBezTo>
                  <a:lnTo>
                    <a:pt x="2344906" y="110842"/>
                  </a:lnTo>
                  <a:cubicBezTo>
                    <a:pt x="2344906" y="158866"/>
                    <a:pt x="2305975" y="197797"/>
                    <a:pt x="2257950" y="197797"/>
                  </a:cubicBezTo>
                  <a:lnTo>
                    <a:pt x="86955" y="197797"/>
                  </a:lnTo>
                  <a:cubicBezTo>
                    <a:pt x="38931" y="197797"/>
                    <a:pt x="0" y="158866"/>
                    <a:pt x="0" y="110842"/>
                  </a:cubicBezTo>
                  <a:lnTo>
                    <a:pt x="0" y="86955"/>
                  </a:lnTo>
                  <a:cubicBezTo>
                    <a:pt x="0" y="38931"/>
                    <a:pt x="38931" y="0"/>
                    <a:pt x="86955" y="0"/>
                  </a:cubicBezTo>
                  <a:close/>
                </a:path>
              </a:pathLst>
            </a:custGeom>
            <a:gradFill rotWithShape="true">
              <a:gsLst>
                <a:gs pos="0">
                  <a:srgbClr val="1B68C9">
                    <a:alpha val="100000"/>
                  </a:srgbClr>
                </a:gs>
                <a:gs pos="50000">
                  <a:srgbClr val="6696CC">
                    <a:alpha val="100000"/>
                  </a:srgbClr>
                </a:gs>
                <a:gs pos="100000">
                  <a:srgbClr val="1B68C9">
                    <a:alpha val="100000"/>
                  </a:srgbClr>
                </a:gs>
              </a:gsLst>
              <a:lin ang="2700000"/>
            </a:gradFill>
          </p:spPr>
        </p:sp>
        <p:sp>
          <p:nvSpPr>
            <p:cNvPr name="TextBox 23" id="23"/>
            <p:cNvSpPr txBox="true"/>
            <p:nvPr/>
          </p:nvSpPr>
          <p:spPr>
            <a:xfrm>
              <a:off x="0" y="-38100"/>
              <a:ext cx="2344906" cy="235897"/>
            </a:xfrm>
            <a:prstGeom prst="rect">
              <a:avLst/>
            </a:prstGeom>
          </p:spPr>
          <p:txBody>
            <a:bodyPr anchor="ctr" rtlCol="false" tIns="50800" lIns="50800" bIns="50800" rIns="50800"/>
            <a:lstStyle/>
            <a:p>
              <a:pPr algn="ctr">
                <a:lnSpc>
                  <a:spcPts val="2659"/>
                </a:lnSpc>
              </a:pPr>
            </a:p>
          </p:txBody>
        </p:sp>
      </p:grpSp>
      <p:sp>
        <p:nvSpPr>
          <p:cNvPr name="Freeform 24" id="24"/>
          <p:cNvSpPr/>
          <p:nvPr/>
        </p:nvSpPr>
        <p:spPr>
          <a:xfrm flipH="false" flipV="false" rot="5400000">
            <a:off x="8830364" y="1067763"/>
            <a:ext cx="891758" cy="1038437"/>
          </a:xfrm>
          <a:custGeom>
            <a:avLst/>
            <a:gdLst/>
            <a:ahLst/>
            <a:cxnLst/>
            <a:rect r="r" b="b" t="t" l="l"/>
            <a:pathLst>
              <a:path h="1038437" w="891758">
                <a:moveTo>
                  <a:pt x="0" y="0"/>
                </a:moveTo>
                <a:lnTo>
                  <a:pt x="891758" y="0"/>
                </a:lnTo>
                <a:lnTo>
                  <a:pt x="891758" y="1038438"/>
                </a:lnTo>
                <a:lnTo>
                  <a:pt x="0" y="103843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5" id="25"/>
          <p:cNvSpPr txBox="true"/>
          <p:nvPr/>
        </p:nvSpPr>
        <p:spPr>
          <a:xfrm rot="0">
            <a:off x="1028700" y="3649655"/>
            <a:ext cx="8766762" cy="2447633"/>
          </a:xfrm>
          <a:prstGeom prst="rect">
            <a:avLst/>
          </a:prstGeom>
        </p:spPr>
        <p:txBody>
          <a:bodyPr anchor="t" rtlCol="false" tIns="0" lIns="0" bIns="0" rIns="0">
            <a:spAutoFit/>
          </a:bodyPr>
          <a:lstStyle/>
          <a:p>
            <a:pPr algn="l">
              <a:lnSpc>
                <a:spcPts val="19096"/>
              </a:lnSpc>
            </a:pPr>
            <a:r>
              <a:rPr lang="en-US" sz="16751">
                <a:solidFill>
                  <a:srgbClr val="070A10"/>
                </a:solidFill>
                <a:latin typeface="Anton"/>
                <a:ea typeface="Anton"/>
                <a:cs typeface="Anton"/>
                <a:sym typeface="Anton"/>
              </a:rPr>
              <a:t>THANK YOU</a:t>
            </a:r>
          </a:p>
        </p:txBody>
      </p:sp>
      <p:sp>
        <p:nvSpPr>
          <p:cNvPr name="TextBox 26" id="26"/>
          <p:cNvSpPr txBox="true"/>
          <p:nvPr/>
        </p:nvSpPr>
        <p:spPr>
          <a:xfrm rot="0">
            <a:off x="1165253" y="6309798"/>
            <a:ext cx="8630209" cy="387350"/>
          </a:xfrm>
          <a:prstGeom prst="rect">
            <a:avLst/>
          </a:prstGeom>
        </p:spPr>
        <p:txBody>
          <a:bodyPr anchor="t" rtlCol="false" tIns="0" lIns="0" bIns="0" rIns="0">
            <a:spAutoFit/>
          </a:bodyPr>
          <a:lstStyle/>
          <a:p>
            <a:pPr algn="ctr">
              <a:lnSpc>
                <a:spcPts val="3099"/>
              </a:lnSpc>
            </a:pPr>
            <a:r>
              <a:rPr lang="en-US" sz="2499" b="true">
                <a:solidFill>
                  <a:srgbClr val="FFFFFF"/>
                </a:solidFill>
                <a:latin typeface="Roboto Bold"/>
                <a:ea typeface="Roboto Bold"/>
                <a:cs typeface="Roboto Bold"/>
                <a:sym typeface="Roboto Bold"/>
              </a:rPr>
              <a:t>Get to know our company through this short presentation</a:t>
            </a:r>
          </a:p>
        </p:txBody>
      </p:sp>
      <p:sp>
        <p:nvSpPr>
          <p:cNvPr name="TextBox 27" id="27"/>
          <p:cNvSpPr txBox="true"/>
          <p:nvPr/>
        </p:nvSpPr>
        <p:spPr>
          <a:xfrm rot="0">
            <a:off x="1028700" y="9532112"/>
            <a:ext cx="5506238" cy="452501"/>
          </a:xfrm>
          <a:prstGeom prst="rect">
            <a:avLst/>
          </a:prstGeom>
        </p:spPr>
        <p:txBody>
          <a:bodyPr anchor="t" rtlCol="false" tIns="0" lIns="0" bIns="0" rIns="0">
            <a:spAutoFit/>
          </a:bodyPr>
          <a:lstStyle/>
          <a:p>
            <a:pPr algn="l">
              <a:lnSpc>
                <a:spcPts val="3471"/>
              </a:lnSpc>
            </a:pPr>
            <a:r>
              <a:rPr lang="en-US" sz="2799" b="true">
                <a:solidFill>
                  <a:srgbClr val="FFFFFF"/>
                </a:solidFill>
                <a:latin typeface="Roboto Bold"/>
                <a:ea typeface="Roboto Bold"/>
                <a:cs typeface="Roboto Bold"/>
                <a:sym typeface="Roboto Bold"/>
              </a:rPr>
              <a:t>www.reallygreatsite.com</a:t>
            </a:r>
          </a:p>
        </p:txBody>
      </p:sp>
      <p:grpSp>
        <p:nvGrpSpPr>
          <p:cNvPr name="Group 28" id="28"/>
          <p:cNvGrpSpPr/>
          <p:nvPr/>
        </p:nvGrpSpPr>
        <p:grpSpPr>
          <a:xfrm rot="0">
            <a:off x="10474207" y="1908735"/>
            <a:ext cx="6842037" cy="6842037"/>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B68C9">
                    <a:alpha val="100000"/>
                  </a:srgbClr>
                </a:gs>
                <a:gs pos="50000">
                  <a:srgbClr val="6797CC">
                    <a:alpha val="100000"/>
                  </a:srgbClr>
                </a:gs>
                <a:gs pos="100000">
                  <a:srgbClr val="FFFFFF">
                    <a:alpha val="100000"/>
                  </a:srgbClr>
                </a:gs>
              </a:gsLst>
              <a:lin ang="2700000"/>
            </a:gradFill>
          </p:spPr>
        </p:sp>
        <p:sp>
          <p:nvSpPr>
            <p:cNvPr name="TextBox 30" id="3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31" id="31"/>
          <p:cNvGrpSpPr/>
          <p:nvPr/>
        </p:nvGrpSpPr>
        <p:grpSpPr>
          <a:xfrm rot="0">
            <a:off x="10703450" y="2137162"/>
            <a:ext cx="6384367" cy="6384367"/>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25046" t="0" r="-25046" b="0"/>
              </a:stretch>
            </a:blipFill>
            <a:ln w="114300" cap="sq">
              <a:solidFill>
                <a:srgbClr val="FFFFFF"/>
              </a:solidFill>
              <a:prstDash val="solid"/>
              <a:miter/>
            </a:ln>
          </p:spPr>
        </p:sp>
      </p:grpSp>
      <p:sp>
        <p:nvSpPr>
          <p:cNvPr name="Freeform 33" id="33"/>
          <p:cNvSpPr/>
          <p:nvPr/>
        </p:nvSpPr>
        <p:spPr>
          <a:xfrm flipH="false" flipV="false" rot="0">
            <a:off x="93516" y="7717322"/>
            <a:ext cx="697330" cy="623035"/>
          </a:xfrm>
          <a:custGeom>
            <a:avLst/>
            <a:gdLst/>
            <a:ahLst/>
            <a:cxnLst/>
            <a:rect r="r" b="b" t="t" l="l"/>
            <a:pathLst>
              <a:path h="623035" w="697330">
                <a:moveTo>
                  <a:pt x="0" y="0"/>
                </a:moveTo>
                <a:lnTo>
                  <a:pt x="697330" y="0"/>
                </a:lnTo>
                <a:lnTo>
                  <a:pt x="697330" y="623035"/>
                </a:lnTo>
                <a:lnTo>
                  <a:pt x="0" y="62303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4" id="34"/>
          <p:cNvSpPr/>
          <p:nvPr/>
        </p:nvSpPr>
        <p:spPr>
          <a:xfrm flipH="false" flipV="false" rot="0">
            <a:off x="217146" y="8017359"/>
            <a:ext cx="557784" cy="297180"/>
          </a:xfrm>
          <a:custGeom>
            <a:avLst/>
            <a:gdLst/>
            <a:ahLst/>
            <a:cxnLst/>
            <a:rect r="r" b="b" t="t" l="l"/>
            <a:pathLst>
              <a:path h="297180" w="557784">
                <a:moveTo>
                  <a:pt x="0" y="0"/>
                </a:moveTo>
                <a:lnTo>
                  <a:pt x="557784" y="0"/>
                </a:lnTo>
                <a:lnTo>
                  <a:pt x="557784" y="297180"/>
                </a:lnTo>
                <a:lnTo>
                  <a:pt x="0" y="297180"/>
                </a:lnTo>
                <a:lnTo>
                  <a:pt x="0" y="0"/>
                </a:lnTo>
                <a:close/>
              </a:path>
            </a:pathLst>
          </a:custGeom>
          <a:blipFill>
            <a:blip r:embed="rId8"/>
            <a:stretch>
              <a:fillRect l="0" t="0" r="0" b="0"/>
            </a:stretch>
          </a:blipFill>
        </p:spPr>
      </p:sp>
      <p:sp>
        <p:nvSpPr>
          <p:cNvPr name="Freeform 35" id="35"/>
          <p:cNvSpPr/>
          <p:nvPr/>
        </p:nvSpPr>
        <p:spPr>
          <a:xfrm flipH="false" flipV="false" rot="0">
            <a:off x="765500" y="7733152"/>
            <a:ext cx="54293" cy="581316"/>
          </a:xfrm>
          <a:custGeom>
            <a:avLst/>
            <a:gdLst/>
            <a:ahLst/>
            <a:cxnLst/>
            <a:rect r="r" b="b" t="t" l="l"/>
            <a:pathLst>
              <a:path h="581316" w="54293">
                <a:moveTo>
                  <a:pt x="0" y="0"/>
                </a:moveTo>
                <a:lnTo>
                  <a:pt x="54293" y="0"/>
                </a:lnTo>
                <a:lnTo>
                  <a:pt x="54293" y="581316"/>
                </a:lnTo>
                <a:lnTo>
                  <a:pt x="0" y="58131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36" id="36"/>
          <p:cNvSpPr/>
          <p:nvPr/>
        </p:nvSpPr>
        <p:spPr>
          <a:xfrm flipH="false" flipV="false" rot="0">
            <a:off x="137136" y="7594449"/>
            <a:ext cx="662940" cy="539496"/>
          </a:xfrm>
          <a:custGeom>
            <a:avLst/>
            <a:gdLst/>
            <a:ahLst/>
            <a:cxnLst/>
            <a:rect r="r" b="b" t="t" l="l"/>
            <a:pathLst>
              <a:path h="539496" w="662940">
                <a:moveTo>
                  <a:pt x="0" y="0"/>
                </a:moveTo>
                <a:lnTo>
                  <a:pt x="662940" y="0"/>
                </a:lnTo>
                <a:lnTo>
                  <a:pt x="662940" y="539496"/>
                </a:lnTo>
                <a:lnTo>
                  <a:pt x="0" y="539496"/>
                </a:lnTo>
                <a:lnTo>
                  <a:pt x="0" y="0"/>
                </a:lnTo>
                <a:close/>
              </a:path>
            </a:pathLst>
          </a:custGeom>
          <a:blipFill>
            <a:blip r:embed="rId11"/>
            <a:stretch>
              <a:fillRect l="0" t="0" r="0" b="0"/>
            </a:stretch>
          </a:blipFill>
        </p:spPr>
      </p:sp>
      <p:sp>
        <p:nvSpPr>
          <p:cNvPr name="TextBox 37" id="37"/>
          <p:cNvSpPr txBox="true"/>
          <p:nvPr/>
        </p:nvSpPr>
        <p:spPr>
          <a:xfrm rot="0">
            <a:off x="1036491" y="7454280"/>
            <a:ext cx="3229161" cy="415161"/>
          </a:xfrm>
          <a:prstGeom prst="rect">
            <a:avLst/>
          </a:prstGeom>
        </p:spPr>
        <p:txBody>
          <a:bodyPr anchor="t" rtlCol="false" tIns="0" lIns="0" bIns="0" rIns="0">
            <a:spAutoFit/>
          </a:bodyPr>
          <a:lstStyle/>
          <a:p>
            <a:pPr algn="l">
              <a:lnSpc>
                <a:spcPts val="3310"/>
              </a:lnSpc>
            </a:pPr>
            <a:r>
              <a:rPr lang="en-US" sz="2700" spc="-29">
                <a:solidFill>
                  <a:srgbClr val="070A10"/>
                </a:solidFill>
                <a:latin typeface="IBM Plex Sans"/>
                <a:ea typeface="IBM Plex Sans"/>
                <a:cs typeface="IBM Plex Sans"/>
                <a:sym typeface="IBM Plex Sans"/>
              </a:rPr>
              <a:t>316/274, Saidullajab,</a:t>
            </a:r>
          </a:p>
        </p:txBody>
      </p:sp>
      <p:sp>
        <p:nvSpPr>
          <p:cNvPr name="TextBox 38" id="38"/>
          <p:cNvSpPr txBox="true"/>
          <p:nvPr/>
        </p:nvSpPr>
        <p:spPr>
          <a:xfrm rot="0">
            <a:off x="1036491" y="7865760"/>
            <a:ext cx="3889815" cy="1256224"/>
          </a:xfrm>
          <a:prstGeom prst="rect">
            <a:avLst/>
          </a:prstGeom>
        </p:spPr>
        <p:txBody>
          <a:bodyPr anchor="t" rtlCol="false" tIns="0" lIns="0" bIns="0" rIns="0">
            <a:spAutoFit/>
          </a:bodyPr>
          <a:lstStyle/>
          <a:p>
            <a:pPr algn="l">
              <a:lnSpc>
                <a:spcPts val="3310"/>
              </a:lnSpc>
            </a:pPr>
            <a:r>
              <a:rPr lang="en-US" sz="2700" spc="-29">
                <a:solidFill>
                  <a:srgbClr val="070A10"/>
                </a:solidFill>
                <a:latin typeface="IBM Plex Sans"/>
                <a:ea typeface="IBM Plex Sans"/>
                <a:cs typeface="IBM Plex Sans"/>
                <a:sym typeface="IBM Plex Sans"/>
              </a:rPr>
              <a:t>Western Marg, Gardenof Five Sense Road, New Delhi - 110030 </a:t>
            </a:r>
          </a:p>
        </p:txBody>
      </p:sp>
      <p:sp>
        <p:nvSpPr>
          <p:cNvPr name="Freeform 39" id="39"/>
          <p:cNvSpPr/>
          <p:nvPr/>
        </p:nvSpPr>
        <p:spPr>
          <a:xfrm flipH="false" flipV="false" rot="0">
            <a:off x="245396" y="199186"/>
            <a:ext cx="2929978" cy="2307469"/>
          </a:xfrm>
          <a:custGeom>
            <a:avLst/>
            <a:gdLst/>
            <a:ahLst/>
            <a:cxnLst/>
            <a:rect r="r" b="b" t="t" l="l"/>
            <a:pathLst>
              <a:path h="2307469" w="2929978">
                <a:moveTo>
                  <a:pt x="0" y="0"/>
                </a:moveTo>
                <a:lnTo>
                  <a:pt x="2929979" y="0"/>
                </a:lnTo>
                <a:lnTo>
                  <a:pt x="2929979" y="2307469"/>
                </a:lnTo>
                <a:lnTo>
                  <a:pt x="0" y="2307469"/>
                </a:lnTo>
                <a:lnTo>
                  <a:pt x="0" y="0"/>
                </a:lnTo>
                <a:close/>
              </a:path>
            </a:pathLst>
          </a:custGeom>
          <a:blipFill>
            <a:blip r:embed="rId12"/>
            <a:stretch>
              <a:fillRect l="-365933" t="-228812" r="0" b="-5607"/>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DAGtCWJOP7A</dc:identifier>
  <dcterms:modified xsi:type="dcterms:W3CDTF">2011-08-01T06:04:30Z</dcterms:modified>
  <cp:revision>1</cp:revision>
  <dc:title>Blue and White Modern Company Profile Business Presentation</dc:title>
</cp:coreProperties>
</file>